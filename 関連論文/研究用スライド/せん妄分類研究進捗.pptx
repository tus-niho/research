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1" r:id="rId2"/>
  </p:sldMasterIdLst>
  <p:notesMasterIdLst>
    <p:notesMasterId r:id="rId17"/>
  </p:notesMasterIdLst>
  <p:sldIdLst>
    <p:sldId id="270" r:id="rId3"/>
    <p:sldId id="276" r:id="rId4"/>
    <p:sldId id="278" r:id="rId5"/>
    <p:sldId id="279" r:id="rId6"/>
    <p:sldId id="280" r:id="rId7"/>
    <p:sldId id="281" r:id="rId8"/>
    <p:sldId id="271" r:id="rId9"/>
    <p:sldId id="272" r:id="rId10"/>
    <p:sldId id="273" r:id="rId11"/>
    <p:sldId id="274" r:id="rId12"/>
    <p:sldId id="275" r:id="rId13"/>
    <p:sldId id="284" r:id="rId14"/>
    <p:sldId id="285" r:id="rId15"/>
    <p:sldId id="286"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3" d="100"/>
          <a:sy n="73" d="100"/>
        </p:scale>
        <p:origin x="9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DF04A8-6A07-4E56-A05D-F312842092A2}" type="datetimeFigureOut">
              <a:rPr kumimoji="1" lang="ja-JP" altLang="en-US" smtClean="0"/>
              <a:t>2026/1/22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E8DC1D-15BF-4F49-BDAB-B97984E719AB}" type="slidenum">
              <a:rPr kumimoji="1" lang="ja-JP" altLang="en-US" smtClean="0"/>
              <a:t>‹#›</a:t>
            </a:fld>
            <a:endParaRPr kumimoji="1" lang="ja-JP" altLang="en-US"/>
          </a:p>
        </p:txBody>
      </p:sp>
    </p:spTree>
    <p:extLst>
      <p:ext uri="{BB962C8B-B14F-4D97-AF65-F5344CB8AC3E}">
        <p14:creationId xmlns:p14="http://schemas.microsoft.com/office/powerpoint/2010/main" val="71097370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6E8DC1D-15BF-4F49-BDAB-B97984E719AB}" type="slidenum">
              <a:rPr kumimoji="1" lang="ja-JP" altLang="en-US" smtClean="0"/>
              <a:t>1</a:t>
            </a:fld>
            <a:endParaRPr kumimoji="1" lang="ja-JP" altLang="en-US"/>
          </a:p>
        </p:txBody>
      </p:sp>
    </p:spTree>
    <p:extLst>
      <p:ext uri="{BB962C8B-B14F-4D97-AF65-F5344CB8AC3E}">
        <p14:creationId xmlns:p14="http://schemas.microsoft.com/office/powerpoint/2010/main" val="3438571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dirty="0"/>
              <a:t>（</a:t>
            </a:r>
            <a:r>
              <a:rPr lang="en-US" altLang="ja-JP" sz="1200" dirty="0"/>
              <a:t>200ms</a:t>
            </a:r>
            <a:r>
              <a:rPr lang="ja-JP" altLang="en-US" sz="1200" dirty="0"/>
              <a:t>の一個飛ばしは実装せず）</a:t>
            </a:r>
            <a:endParaRPr lang="en-US" altLang="ja-JP" sz="1200" dirty="0"/>
          </a:p>
          <a:p>
            <a:r>
              <a:rPr kumimoji="1" lang="ja-JP" altLang="en-US" sz="1200" dirty="0"/>
              <a:t>スクリーニング：違う人は違うって言いたい→特異度が高いほうがいい</a:t>
            </a:r>
            <a:endParaRPr kumimoji="1" lang="ja-JP" altLang="en-US" dirty="0"/>
          </a:p>
        </p:txBody>
      </p:sp>
      <p:sp>
        <p:nvSpPr>
          <p:cNvPr id="4" name="スライド番号プレースホルダー 3"/>
          <p:cNvSpPr>
            <a:spLocks noGrp="1"/>
          </p:cNvSpPr>
          <p:nvPr>
            <p:ph type="sldNum" sz="quarter" idx="5"/>
          </p:nvPr>
        </p:nvSpPr>
        <p:spPr/>
        <p:txBody>
          <a:bodyPr/>
          <a:lstStyle/>
          <a:p>
            <a:fld id="{A6E8DC1D-15BF-4F49-BDAB-B97984E719AB}" type="slidenum">
              <a:rPr kumimoji="1" lang="ja-JP" altLang="en-US" smtClean="0"/>
              <a:t>10</a:t>
            </a:fld>
            <a:endParaRPr kumimoji="1" lang="ja-JP" altLang="en-US"/>
          </a:p>
        </p:txBody>
      </p:sp>
    </p:spTree>
    <p:extLst>
      <p:ext uri="{BB962C8B-B14F-4D97-AF65-F5344CB8AC3E}">
        <p14:creationId xmlns:p14="http://schemas.microsoft.com/office/powerpoint/2010/main" val="4017250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今後：学習器を変える</a:t>
            </a:r>
          </a:p>
        </p:txBody>
      </p:sp>
      <p:sp>
        <p:nvSpPr>
          <p:cNvPr id="4" name="スライド番号プレースホルダー 3"/>
          <p:cNvSpPr>
            <a:spLocks noGrp="1"/>
          </p:cNvSpPr>
          <p:nvPr>
            <p:ph type="sldNum" sz="quarter" idx="5"/>
          </p:nvPr>
        </p:nvSpPr>
        <p:spPr/>
        <p:txBody>
          <a:bodyPr/>
          <a:lstStyle/>
          <a:p>
            <a:fld id="{A6E8DC1D-15BF-4F49-BDAB-B97984E719AB}" type="slidenum">
              <a:rPr kumimoji="1" lang="ja-JP" altLang="en-US" smtClean="0"/>
              <a:t>11</a:t>
            </a:fld>
            <a:endParaRPr kumimoji="1" lang="ja-JP" altLang="en-US"/>
          </a:p>
        </p:txBody>
      </p:sp>
    </p:spTree>
    <p:extLst>
      <p:ext uri="{BB962C8B-B14F-4D97-AF65-F5344CB8AC3E}">
        <p14:creationId xmlns:p14="http://schemas.microsoft.com/office/powerpoint/2010/main" val="3319695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6E8DC1D-15BF-4F49-BDAB-B97984E719AB}" type="slidenum">
              <a:rPr kumimoji="1" lang="ja-JP" altLang="en-US" smtClean="0"/>
              <a:t>14</a:t>
            </a:fld>
            <a:endParaRPr kumimoji="1" lang="ja-JP" altLang="en-US"/>
          </a:p>
        </p:txBody>
      </p:sp>
    </p:spTree>
    <p:extLst>
      <p:ext uri="{BB962C8B-B14F-4D97-AF65-F5344CB8AC3E}">
        <p14:creationId xmlns:p14="http://schemas.microsoft.com/office/powerpoint/2010/main" val="39571277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日本語_表紙">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F18CCC-B42F-7A0B-79D3-BC3F95FCA086}"/>
              </a:ext>
            </a:extLst>
          </p:cNvPr>
          <p:cNvSpPr>
            <a:spLocks noGrp="1"/>
          </p:cNvSpPr>
          <p:nvPr>
            <p:ph type="title" hasCustomPrompt="1"/>
          </p:nvPr>
        </p:nvSpPr>
        <p:spPr>
          <a:xfrm>
            <a:off x="1446096" y="1517936"/>
            <a:ext cx="10504721" cy="627929"/>
          </a:xfrm>
        </p:spPr>
        <p:txBody>
          <a:bodyPr/>
          <a:lstStyle>
            <a:lvl1pPr>
              <a:defRPr sz="4000"/>
            </a:lvl1pPr>
          </a:lstStyle>
          <a:p>
            <a:r>
              <a:rPr kumimoji="1" lang="ja-JP" altLang="en-US" dirty="0"/>
              <a:t>タイトル</a:t>
            </a:r>
          </a:p>
        </p:txBody>
      </p:sp>
      <p:grpSp>
        <p:nvGrpSpPr>
          <p:cNvPr id="3" name="グループ化 2">
            <a:extLst>
              <a:ext uri="{FF2B5EF4-FFF2-40B4-BE49-F238E27FC236}">
                <a16:creationId xmlns:a16="http://schemas.microsoft.com/office/drawing/2014/main" id="{6CF30B72-0C4F-1EB1-613D-C9AAF2C4AC54}"/>
              </a:ext>
            </a:extLst>
          </p:cNvPr>
          <p:cNvGrpSpPr/>
          <p:nvPr userDrawn="1"/>
        </p:nvGrpSpPr>
        <p:grpSpPr>
          <a:xfrm>
            <a:off x="1429162" y="974353"/>
            <a:ext cx="10563251" cy="45719"/>
            <a:chOff x="3317787" y="1004565"/>
            <a:chExt cx="7776000" cy="36000"/>
          </a:xfrm>
        </p:grpSpPr>
        <p:sp>
          <p:nvSpPr>
            <p:cNvPr id="4" name="四角形: 上の 2 つの角を丸める 3">
              <a:extLst>
                <a:ext uri="{FF2B5EF4-FFF2-40B4-BE49-F238E27FC236}">
                  <a16:creationId xmlns:a16="http://schemas.microsoft.com/office/drawing/2014/main" id="{66470A04-151E-23EC-F4BA-DBA1325BC088}"/>
                </a:ext>
              </a:extLst>
            </p:cNvPr>
            <p:cNvSpPr/>
            <p:nvPr/>
          </p:nvSpPr>
          <p:spPr>
            <a:xfrm rot="16200000">
              <a:off x="3767787" y="554565"/>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5" name="四角形: 上の 2 つの角を丸める 4">
              <a:extLst>
                <a:ext uri="{FF2B5EF4-FFF2-40B4-BE49-F238E27FC236}">
                  <a16:creationId xmlns:a16="http://schemas.microsoft.com/office/drawing/2014/main" id="{30DB5FDC-B2D5-2E76-E25A-C043800AAD3D}"/>
                </a:ext>
              </a:extLst>
            </p:cNvPr>
            <p:cNvSpPr/>
            <p:nvPr/>
          </p:nvSpPr>
          <p:spPr>
            <a:xfrm rot="5400000">
              <a:off x="7655787" y="-2397435"/>
              <a:ext cx="36000" cy="6840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6" name="四角形: 上の 2 つの角を丸める 5">
            <a:extLst>
              <a:ext uri="{FF2B5EF4-FFF2-40B4-BE49-F238E27FC236}">
                <a16:creationId xmlns:a16="http://schemas.microsoft.com/office/drawing/2014/main" id="{022E1D5E-9616-C980-928B-13ED6D6C667D}"/>
              </a:ext>
            </a:extLst>
          </p:cNvPr>
          <p:cNvSpPr/>
          <p:nvPr userDrawn="1"/>
        </p:nvSpPr>
        <p:spPr>
          <a:xfrm>
            <a:off x="1804783" y="5026099"/>
            <a:ext cx="36000" cy="5994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7" name="四角形: 上の 2 つの角を丸める 6">
            <a:extLst>
              <a:ext uri="{FF2B5EF4-FFF2-40B4-BE49-F238E27FC236}">
                <a16:creationId xmlns:a16="http://schemas.microsoft.com/office/drawing/2014/main" id="{AAE27160-4BCC-A072-8863-48BF6C47EC8D}"/>
              </a:ext>
            </a:extLst>
          </p:cNvPr>
          <p:cNvSpPr/>
          <p:nvPr userDrawn="1"/>
        </p:nvSpPr>
        <p:spPr>
          <a:xfrm rot="10800000">
            <a:off x="1804783" y="5625499"/>
            <a:ext cx="36000" cy="5994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9" name="テキスト プレースホルダー 8">
            <a:extLst>
              <a:ext uri="{FF2B5EF4-FFF2-40B4-BE49-F238E27FC236}">
                <a16:creationId xmlns:a16="http://schemas.microsoft.com/office/drawing/2014/main" id="{E4315BB0-3C4E-68C2-6CCE-114B614C979A}"/>
              </a:ext>
            </a:extLst>
          </p:cNvPr>
          <p:cNvSpPr>
            <a:spLocks noGrp="1"/>
          </p:cNvSpPr>
          <p:nvPr>
            <p:ph type="body" sz="quarter" idx="10" hasCustomPrompt="1"/>
          </p:nvPr>
        </p:nvSpPr>
        <p:spPr>
          <a:xfrm>
            <a:off x="2028410" y="5070102"/>
            <a:ext cx="7159985" cy="1093632"/>
          </a:xfrm>
        </p:spPr>
        <p:txBody>
          <a:bodyPr/>
          <a:lstStyle>
            <a:lvl1pPr>
              <a:defRPr sz="3200"/>
            </a:lvl1pPr>
          </a:lstStyle>
          <a:p>
            <a:pPr lvl="0"/>
            <a:r>
              <a:rPr kumimoji="1" lang="ja-JP" altLang="en-US" dirty="0"/>
              <a:t>東京理科大学　松本研究室</a:t>
            </a:r>
          </a:p>
        </p:txBody>
      </p:sp>
      <p:pic>
        <p:nvPicPr>
          <p:cNvPr id="11" name="グラフィックス 10">
            <a:extLst>
              <a:ext uri="{FF2B5EF4-FFF2-40B4-BE49-F238E27FC236}">
                <a16:creationId xmlns:a16="http://schemas.microsoft.com/office/drawing/2014/main" id="{E7F1B880-3CAE-A649-343E-5D7EF82C63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99587" y="171869"/>
            <a:ext cx="924324" cy="924324"/>
          </a:xfrm>
          <a:prstGeom prst="rect">
            <a:avLst/>
          </a:prstGeom>
        </p:spPr>
      </p:pic>
      <p:sp>
        <p:nvSpPr>
          <p:cNvPr id="12" name="テキスト プレースホルダー 4">
            <a:extLst>
              <a:ext uri="{FF2B5EF4-FFF2-40B4-BE49-F238E27FC236}">
                <a16:creationId xmlns:a16="http://schemas.microsoft.com/office/drawing/2014/main" id="{B38EF507-DAEA-C544-6DE5-7E5CE06E07BB}"/>
              </a:ext>
            </a:extLst>
          </p:cNvPr>
          <p:cNvSpPr>
            <a:spLocks noGrp="1"/>
          </p:cNvSpPr>
          <p:nvPr>
            <p:ph type="body" sz="quarter" idx="12" hasCustomPrompt="1"/>
          </p:nvPr>
        </p:nvSpPr>
        <p:spPr>
          <a:xfrm>
            <a:off x="1446202" y="666969"/>
            <a:ext cx="10504615" cy="265735"/>
          </a:xfrm>
        </p:spPr>
        <p:txBody>
          <a:bodyPr/>
          <a:lstStyle>
            <a:lvl1pPr>
              <a:defRPr sz="1600"/>
            </a:lvl1pPr>
          </a:lstStyle>
          <a:p>
            <a:pPr lvl="0"/>
            <a:r>
              <a:rPr kumimoji="1" lang="ja-JP" altLang="en-US" dirty="0"/>
              <a:t>会議名等</a:t>
            </a:r>
          </a:p>
        </p:txBody>
      </p:sp>
    </p:spTree>
    <p:extLst>
      <p:ext uri="{BB962C8B-B14F-4D97-AF65-F5344CB8AC3E}">
        <p14:creationId xmlns:p14="http://schemas.microsoft.com/office/powerpoint/2010/main" val="2093278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日本語_ベースA">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D8A7C1-AD92-78A9-C040-E0F063809582}"/>
              </a:ext>
            </a:extLst>
          </p:cNvPr>
          <p:cNvSpPr>
            <a:spLocks noGrp="1"/>
          </p:cNvSpPr>
          <p:nvPr>
            <p:ph type="title" hasCustomPrompt="1"/>
          </p:nvPr>
        </p:nvSpPr>
        <p:spPr>
          <a:xfrm>
            <a:off x="1097495" y="456693"/>
            <a:ext cx="10654765" cy="502382"/>
          </a:xfrm>
        </p:spPr>
        <p:txBody>
          <a:bodyPr/>
          <a:lstStyle>
            <a:lvl1pPr>
              <a:defRPr sz="3200">
                <a:solidFill>
                  <a:schemeClr val="accent3">
                    <a:lumMod val="75000"/>
                  </a:schemeClr>
                </a:solidFill>
              </a:defRPr>
            </a:lvl1pPr>
          </a:lstStyle>
          <a:p>
            <a:r>
              <a:rPr kumimoji="1" lang="ja-JP" altLang="en-US" dirty="0"/>
              <a:t>スライドタイトル</a:t>
            </a:r>
          </a:p>
        </p:txBody>
      </p:sp>
      <p:grpSp>
        <p:nvGrpSpPr>
          <p:cNvPr id="4" name="グループ化 3">
            <a:extLst>
              <a:ext uri="{FF2B5EF4-FFF2-40B4-BE49-F238E27FC236}">
                <a16:creationId xmlns:a16="http://schemas.microsoft.com/office/drawing/2014/main" id="{B42A1A4C-5D49-1AFC-605E-667215DC73B5}"/>
              </a:ext>
            </a:extLst>
          </p:cNvPr>
          <p:cNvGrpSpPr/>
          <p:nvPr userDrawn="1"/>
        </p:nvGrpSpPr>
        <p:grpSpPr>
          <a:xfrm flipV="1">
            <a:off x="1072091" y="987861"/>
            <a:ext cx="10738909" cy="45719"/>
            <a:chOff x="3317787" y="1004564"/>
            <a:chExt cx="7776000" cy="36004"/>
          </a:xfrm>
        </p:grpSpPr>
        <p:sp>
          <p:nvSpPr>
            <p:cNvPr id="5" name="四角形: 上の 2 つの角を丸める 4">
              <a:extLst>
                <a:ext uri="{FF2B5EF4-FFF2-40B4-BE49-F238E27FC236}">
                  <a16:creationId xmlns:a16="http://schemas.microsoft.com/office/drawing/2014/main" id="{09BF324A-EEBA-615B-B3ED-13F58EFEAA26}"/>
                </a:ext>
              </a:extLst>
            </p:cNvPr>
            <p:cNvSpPr/>
            <p:nvPr/>
          </p:nvSpPr>
          <p:spPr>
            <a:xfrm rot="16200000">
              <a:off x="3727648" y="594703"/>
              <a:ext cx="36002" cy="855723"/>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6" name="四角形: 上の 2 つの角を丸める 5">
              <a:extLst>
                <a:ext uri="{FF2B5EF4-FFF2-40B4-BE49-F238E27FC236}">
                  <a16:creationId xmlns:a16="http://schemas.microsoft.com/office/drawing/2014/main" id="{0281779E-C801-FBE9-726B-69956C4A941E}"/>
                </a:ext>
              </a:extLst>
            </p:cNvPr>
            <p:cNvSpPr/>
            <p:nvPr/>
          </p:nvSpPr>
          <p:spPr>
            <a:xfrm rot="5400000">
              <a:off x="7615647" y="-2437572"/>
              <a:ext cx="36004" cy="6920276"/>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7" name="四角形: 角を丸くする 6">
            <a:extLst>
              <a:ext uri="{FF2B5EF4-FFF2-40B4-BE49-F238E27FC236}">
                <a16:creationId xmlns:a16="http://schemas.microsoft.com/office/drawing/2014/main" id="{D817862B-10BD-5791-EA09-5A76753D4A40}"/>
              </a:ext>
            </a:extLst>
          </p:cNvPr>
          <p:cNvSpPr/>
          <p:nvPr userDrawn="1"/>
        </p:nvSpPr>
        <p:spPr>
          <a:xfrm rot="5400000">
            <a:off x="11839461" y="6297136"/>
            <a:ext cx="387350" cy="31772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8" name="Google Shape;10;p1">
            <a:extLst>
              <a:ext uri="{FF2B5EF4-FFF2-40B4-BE49-F238E27FC236}">
                <a16:creationId xmlns:a16="http://schemas.microsoft.com/office/drawing/2014/main" id="{32829379-4209-45AA-8BE5-9707BB268908}"/>
              </a:ext>
            </a:extLst>
          </p:cNvPr>
          <p:cNvSpPr txBox="1"/>
          <p:nvPr userDrawn="1"/>
        </p:nvSpPr>
        <p:spPr>
          <a:xfrm>
            <a:off x="11874272" y="6470650"/>
            <a:ext cx="317727" cy="387350"/>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9" name="Google Shape;10;p1">
            <a:extLst>
              <a:ext uri="{FF2B5EF4-FFF2-40B4-BE49-F238E27FC236}">
                <a16:creationId xmlns:a16="http://schemas.microsoft.com/office/drawing/2014/main" id="{210825F5-F3EC-B4A3-1948-B3D369D4F3F7}"/>
              </a:ext>
            </a:extLst>
          </p:cNvPr>
          <p:cNvSpPr txBox="1"/>
          <p:nvPr userDrawn="1"/>
        </p:nvSpPr>
        <p:spPr>
          <a:xfrm>
            <a:off x="11881265" y="6424979"/>
            <a:ext cx="310734" cy="282745"/>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4DA87220-62A0-41B4-A6FF-5F65D3FFD606}" type="slidenum">
              <a:rPr kumimoji="1" lang="en-US" sz="1800" b="1"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9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
        <p:nvSpPr>
          <p:cNvPr id="11" name="テキスト プレースホルダー 10">
            <a:extLst>
              <a:ext uri="{FF2B5EF4-FFF2-40B4-BE49-F238E27FC236}">
                <a16:creationId xmlns:a16="http://schemas.microsoft.com/office/drawing/2014/main" id="{DBE91FA7-1213-3172-77C8-031921B055ED}"/>
              </a:ext>
            </a:extLst>
          </p:cNvPr>
          <p:cNvSpPr>
            <a:spLocks noGrp="1"/>
          </p:cNvSpPr>
          <p:nvPr>
            <p:ph type="body" sz="quarter" idx="10"/>
          </p:nvPr>
        </p:nvSpPr>
        <p:spPr>
          <a:xfrm>
            <a:off x="1097493" y="1738282"/>
            <a:ext cx="10654238" cy="46866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テキスト プレースホルダー 12">
            <a:extLst>
              <a:ext uri="{FF2B5EF4-FFF2-40B4-BE49-F238E27FC236}">
                <a16:creationId xmlns:a16="http://schemas.microsoft.com/office/drawing/2014/main" id="{3709B2E7-7466-633C-5D57-BC2837F04672}"/>
              </a:ext>
            </a:extLst>
          </p:cNvPr>
          <p:cNvSpPr>
            <a:spLocks noGrp="1"/>
          </p:cNvSpPr>
          <p:nvPr>
            <p:ph type="body" sz="quarter" idx="11" hasCustomPrompt="1"/>
          </p:nvPr>
        </p:nvSpPr>
        <p:spPr>
          <a:xfrm>
            <a:off x="1097493" y="1121966"/>
            <a:ext cx="10654238" cy="502381"/>
          </a:xfrm>
        </p:spPr>
        <p:txBody>
          <a:bodyPr/>
          <a:lstStyle>
            <a:lvl1pPr>
              <a:defRPr sz="2800" b="1"/>
            </a:lvl1pPr>
          </a:lstStyle>
          <a:p>
            <a:pPr lvl="0"/>
            <a:r>
              <a:rPr kumimoji="1" lang="ja-JP" altLang="en-US" dirty="0"/>
              <a:t>リード文</a:t>
            </a:r>
          </a:p>
        </p:txBody>
      </p:sp>
      <p:sp>
        <p:nvSpPr>
          <p:cNvPr id="15" name="コンテンツ プレースホルダー 14">
            <a:extLst>
              <a:ext uri="{FF2B5EF4-FFF2-40B4-BE49-F238E27FC236}">
                <a16:creationId xmlns:a16="http://schemas.microsoft.com/office/drawing/2014/main" id="{CB7A1928-9BA9-23E1-C8E4-2001B9797AE7}"/>
              </a:ext>
            </a:extLst>
          </p:cNvPr>
          <p:cNvSpPr>
            <a:spLocks noGrp="1"/>
          </p:cNvSpPr>
          <p:nvPr>
            <p:ph sz="quarter" idx="12" hasCustomPrompt="1"/>
          </p:nvPr>
        </p:nvSpPr>
        <p:spPr>
          <a:xfrm>
            <a:off x="1098021" y="6485994"/>
            <a:ext cx="10654238" cy="228600"/>
          </a:xfrm>
        </p:spPr>
        <p:txBody>
          <a:bodyPr/>
          <a:lstStyle>
            <a:lvl1pPr>
              <a:defRPr sz="1200">
                <a:latin typeface="Calibri" panose="020F0502020204030204" pitchFamily="34" charset="0"/>
                <a:cs typeface="Calibri" panose="020F0502020204030204" pitchFamily="34" charset="0"/>
              </a:defRPr>
            </a:lvl1pPr>
          </a:lstStyle>
          <a:p>
            <a:pPr lvl="0"/>
            <a:r>
              <a:rPr kumimoji="1" lang="en-US" altLang="ja-JP" dirty="0"/>
              <a:t>*footnote</a:t>
            </a:r>
            <a:endParaRPr kumimoji="1" lang="ja-JP" altLang="en-US" dirty="0"/>
          </a:p>
        </p:txBody>
      </p:sp>
      <p:pic>
        <p:nvPicPr>
          <p:cNvPr id="12" name="グラフィックス 11">
            <a:extLst>
              <a:ext uri="{FF2B5EF4-FFF2-40B4-BE49-F238E27FC236}">
                <a16:creationId xmlns:a16="http://schemas.microsoft.com/office/drawing/2014/main" id="{696B6A97-BDEB-C7F2-D350-69816B15995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712" y="127109"/>
            <a:ext cx="815032" cy="815032"/>
          </a:xfrm>
          <a:prstGeom prst="rect">
            <a:avLst/>
          </a:prstGeom>
        </p:spPr>
      </p:pic>
    </p:spTree>
    <p:extLst>
      <p:ext uri="{BB962C8B-B14F-4D97-AF65-F5344CB8AC3E}">
        <p14:creationId xmlns:p14="http://schemas.microsoft.com/office/powerpoint/2010/main" val="1377483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日本語_ベースB">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D8A7C1-AD92-78A9-C040-E0F063809582}"/>
              </a:ext>
            </a:extLst>
          </p:cNvPr>
          <p:cNvSpPr>
            <a:spLocks noGrp="1"/>
          </p:cNvSpPr>
          <p:nvPr>
            <p:ph type="title" hasCustomPrompt="1"/>
          </p:nvPr>
        </p:nvSpPr>
        <p:spPr>
          <a:xfrm>
            <a:off x="1097495" y="456693"/>
            <a:ext cx="10654765" cy="502382"/>
          </a:xfrm>
        </p:spPr>
        <p:txBody>
          <a:bodyPr/>
          <a:lstStyle>
            <a:lvl1pPr>
              <a:defRPr sz="3200">
                <a:solidFill>
                  <a:schemeClr val="accent3">
                    <a:lumMod val="75000"/>
                  </a:schemeClr>
                </a:solidFill>
              </a:defRPr>
            </a:lvl1pPr>
          </a:lstStyle>
          <a:p>
            <a:r>
              <a:rPr kumimoji="1" lang="ja-JP" altLang="en-US" dirty="0"/>
              <a:t>スライドタイトル</a:t>
            </a:r>
          </a:p>
        </p:txBody>
      </p:sp>
      <p:grpSp>
        <p:nvGrpSpPr>
          <p:cNvPr id="4" name="グループ化 3">
            <a:extLst>
              <a:ext uri="{FF2B5EF4-FFF2-40B4-BE49-F238E27FC236}">
                <a16:creationId xmlns:a16="http://schemas.microsoft.com/office/drawing/2014/main" id="{B42A1A4C-5D49-1AFC-605E-667215DC73B5}"/>
              </a:ext>
            </a:extLst>
          </p:cNvPr>
          <p:cNvGrpSpPr/>
          <p:nvPr userDrawn="1"/>
        </p:nvGrpSpPr>
        <p:grpSpPr>
          <a:xfrm flipV="1">
            <a:off x="1072091" y="987861"/>
            <a:ext cx="10738909" cy="45719"/>
            <a:chOff x="3317787" y="1004564"/>
            <a:chExt cx="7776000" cy="36004"/>
          </a:xfrm>
        </p:grpSpPr>
        <p:sp>
          <p:nvSpPr>
            <p:cNvPr id="5" name="四角形: 上の 2 つの角を丸める 4">
              <a:extLst>
                <a:ext uri="{FF2B5EF4-FFF2-40B4-BE49-F238E27FC236}">
                  <a16:creationId xmlns:a16="http://schemas.microsoft.com/office/drawing/2014/main" id="{09BF324A-EEBA-615B-B3ED-13F58EFEAA26}"/>
                </a:ext>
              </a:extLst>
            </p:cNvPr>
            <p:cNvSpPr/>
            <p:nvPr/>
          </p:nvSpPr>
          <p:spPr>
            <a:xfrm rot="16200000">
              <a:off x="3727648" y="594703"/>
              <a:ext cx="36002" cy="855723"/>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6" name="四角形: 上の 2 つの角を丸める 5">
              <a:extLst>
                <a:ext uri="{FF2B5EF4-FFF2-40B4-BE49-F238E27FC236}">
                  <a16:creationId xmlns:a16="http://schemas.microsoft.com/office/drawing/2014/main" id="{0281779E-C801-FBE9-726B-69956C4A941E}"/>
                </a:ext>
              </a:extLst>
            </p:cNvPr>
            <p:cNvSpPr/>
            <p:nvPr/>
          </p:nvSpPr>
          <p:spPr>
            <a:xfrm rot="5400000">
              <a:off x="7615647" y="-2437572"/>
              <a:ext cx="36004" cy="6920276"/>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7" name="四角形: 角を丸くする 6">
            <a:extLst>
              <a:ext uri="{FF2B5EF4-FFF2-40B4-BE49-F238E27FC236}">
                <a16:creationId xmlns:a16="http://schemas.microsoft.com/office/drawing/2014/main" id="{D817862B-10BD-5791-EA09-5A76753D4A40}"/>
              </a:ext>
            </a:extLst>
          </p:cNvPr>
          <p:cNvSpPr/>
          <p:nvPr userDrawn="1"/>
        </p:nvSpPr>
        <p:spPr>
          <a:xfrm rot="5400000">
            <a:off x="11839461" y="6297136"/>
            <a:ext cx="387350" cy="31772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8" name="Google Shape;10;p1">
            <a:extLst>
              <a:ext uri="{FF2B5EF4-FFF2-40B4-BE49-F238E27FC236}">
                <a16:creationId xmlns:a16="http://schemas.microsoft.com/office/drawing/2014/main" id="{32829379-4209-45AA-8BE5-9707BB268908}"/>
              </a:ext>
            </a:extLst>
          </p:cNvPr>
          <p:cNvSpPr txBox="1"/>
          <p:nvPr userDrawn="1"/>
        </p:nvSpPr>
        <p:spPr>
          <a:xfrm>
            <a:off x="11874272" y="6470650"/>
            <a:ext cx="317727" cy="387350"/>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9" name="Google Shape;10;p1">
            <a:extLst>
              <a:ext uri="{FF2B5EF4-FFF2-40B4-BE49-F238E27FC236}">
                <a16:creationId xmlns:a16="http://schemas.microsoft.com/office/drawing/2014/main" id="{210825F5-F3EC-B4A3-1948-B3D369D4F3F7}"/>
              </a:ext>
            </a:extLst>
          </p:cNvPr>
          <p:cNvSpPr txBox="1"/>
          <p:nvPr userDrawn="1"/>
        </p:nvSpPr>
        <p:spPr>
          <a:xfrm>
            <a:off x="11881265" y="6424979"/>
            <a:ext cx="310734" cy="282745"/>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4DA87220-62A0-41B4-A6FF-5F65D3FFD606}" type="slidenum">
              <a:rPr kumimoji="1" lang="en-US" sz="1800" b="1"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9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
        <p:nvSpPr>
          <p:cNvPr id="15" name="コンテンツ プレースホルダー 14">
            <a:extLst>
              <a:ext uri="{FF2B5EF4-FFF2-40B4-BE49-F238E27FC236}">
                <a16:creationId xmlns:a16="http://schemas.microsoft.com/office/drawing/2014/main" id="{CB7A1928-9BA9-23E1-C8E4-2001B9797AE7}"/>
              </a:ext>
            </a:extLst>
          </p:cNvPr>
          <p:cNvSpPr>
            <a:spLocks noGrp="1"/>
          </p:cNvSpPr>
          <p:nvPr>
            <p:ph sz="quarter" idx="12" hasCustomPrompt="1"/>
          </p:nvPr>
        </p:nvSpPr>
        <p:spPr>
          <a:xfrm>
            <a:off x="1098021" y="6485994"/>
            <a:ext cx="10654238" cy="228600"/>
          </a:xfrm>
        </p:spPr>
        <p:txBody>
          <a:bodyPr/>
          <a:lstStyle>
            <a:lvl1pPr>
              <a:defRPr sz="1200">
                <a:latin typeface="Calibri" panose="020F0502020204030204" pitchFamily="34" charset="0"/>
                <a:cs typeface="Calibri" panose="020F0502020204030204" pitchFamily="34" charset="0"/>
              </a:defRPr>
            </a:lvl1pPr>
          </a:lstStyle>
          <a:p>
            <a:pPr lvl="0"/>
            <a:r>
              <a:rPr kumimoji="1" lang="en-US" altLang="ja-JP" dirty="0"/>
              <a:t>*footnote</a:t>
            </a:r>
            <a:endParaRPr kumimoji="1" lang="ja-JP" altLang="en-US" dirty="0"/>
          </a:p>
        </p:txBody>
      </p:sp>
      <p:sp>
        <p:nvSpPr>
          <p:cNvPr id="12" name="コンテンツ プレースホルダー 11">
            <a:extLst>
              <a:ext uri="{FF2B5EF4-FFF2-40B4-BE49-F238E27FC236}">
                <a16:creationId xmlns:a16="http://schemas.microsoft.com/office/drawing/2014/main" id="{FE5495AF-7C29-F766-0947-0408CDD3C491}"/>
              </a:ext>
            </a:extLst>
          </p:cNvPr>
          <p:cNvSpPr>
            <a:spLocks noGrp="1"/>
          </p:cNvSpPr>
          <p:nvPr>
            <p:ph sz="quarter" idx="13"/>
          </p:nvPr>
        </p:nvSpPr>
        <p:spPr>
          <a:xfrm>
            <a:off x="1096963" y="1160463"/>
            <a:ext cx="10654238" cy="524033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1" name="グラフィックス 10">
            <a:extLst>
              <a:ext uri="{FF2B5EF4-FFF2-40B4-BE49-F238E27FC236}">
                <a16:creationId xmlns:a16="http://schemas.microsoft.com/office/drawing/2014/main" id="{C3FEEDF2-FC2E-87FA-C4CB-8147DCA2D89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712" y="127109"/>
            <a:ext cx="815032" cy="815032"/>
          </a:xfrm>
          <a:prstGeom prst="rect">
            <a:avLst/>
          </a:prstGeom>
        </p:spPr>
      </p:pic>
    </p:spTree>
    <p:extLst>
      <p:ext uri="{BB962C8B-B14F-4D97-AF65-F5344CB8AC3E}">
        <p14:creationId xmlns:p14="http://schemas.microsoft.com/office/powerpoint/2010/main" val="2297672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日本語_目次">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4CA868-FC25-B9E8-591C-D1FF52E3981D}"/>
              </a:ext>
            </a:extLst>
          </p:cNvPr>
          <p:cNvSpPr>
            <a:spLocks noGrp="1"/>
          </p:cNvSpPr>
          <p:nvPr>
            <p:ph type="title" hasCustomPrompt="1"/>
          </p:nvPr>
        </p:nvSpPr>
        <p:spPr>
          <a:xfrm>
            <a:off x="1282061" y="509224"/>
            <a:ext cx="2146943" cy="502382"/>
          </a:xfrm>
        </p:spPr>
        <p:txBody>
          <a:bodyPr/>
          <a:lstStyle>
            <a:lvl1pPr>
              <a:defRPr sz="3200">
                <a:solidFill>
                  <a:schemeClr val="accent3">
                    <a:lumMod val="75000"/>
                  </a:schemeClr>
                </a:solidFill>
              </a:defRPr>
            </a:lvl1pPr>
          </a:lstStyle>
          <a:p>
            <a:r>
              <a:rPr kumimoji="1" lang="en-US" altLang="ja-JP" dirty="0"/>
              <a:t>Contents</a:t>
            </a:r>
            <a:endParaRPr kumimoji="1" lang="ja-JP" altLang="en-US" dirty="0"/>
          </a:p>
        </p:txBody>
      </p:sp>
      <p:grpSp>
        <p:nvGrpSpPr>
          <p:cNvPr id="3" name="グループ化 2">
            <a:extLst>
              <a:ext uri="{FF2B5EF4-FFF2-40B4-BE49-F238E27FC236}">
                <a16:creationId xmlns:a16="http://schemas.microsoft.com/office/drawing/2014/main" id="{3FDB0F65-D00D-93A1-1F45-6A78DBD5283C}"/>
              </a:ext>
            </a:extLst>
          </p:cNvPr>
          <p:cNvGrpSpPr/>
          <p:nvPr userDrawn="1"/>
        </p:nvGrpSpPr>
        <p:grpSpPr>
          <a:xfrm flipV="1">
            <a:off x="1264865" y="1034210"/>
            <a:ext cx="2240339" cy="57990"/>
            <a:chOff x="3317791" y="1004563"/>
            <a:chExt cx="7775993" cy="36004"/>
          </a:xfrm>
        </p:grpSpPr>
        <p:sp>
          <p:nvSpPr>
            <p:cNvPr id="4" name="四角形: 上の 2 つの角を丸める 3">
              <a:extLst>
                <a:ext uri="{FF2B5EF4-FFF2-40B4-BE49-F238E27FC236}">
                  <a16:creationId xmlns:a16="http://schemas.microsoft.com/office/drawing/2014/main" id="{BAAE413B-6D67-3A47-4C0D-2771959841F8}"/>
                </a:ext>
              </a:extLst>
            </p:cNvPr>
            <p:cNvSpPr/>
            <p:nvPr/>
          </p:nvSpPr>
          <p:spPr>
            <a:xfrm rot="16200000">
              <a:off x="4420967" y="-98613"/>
              <a:ext cx="36004" cy="2242356"/>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5" name="四角形: 上の 2 つの角を丸める 4">
              <a:extLst>
                <a:ext uri="{FF2B5EF4-FFF2-40B4-BE49-F238E27FC236}">
                  <a16:creationId xmlns:a16="http://schemas.microsoft.com/office/drawing/2014/main" id="{090E40F8-07A1-5386-23BA-FA7AEDA60246}"/>
                </a:ext>
              </a:extLst>
            </p:cNvPr>
            <p:cNvSpPr/>
            <p:nvPr/>
          </p:nvSpPr>
          <p:spPr>
            <a:xfrm rot="5400000">
              <a:off x="8308962" y="-1744254"/>
              <a:ext cx="36003" cy="553364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8" name="テキスト プレースホルダー 7">
            <a:extLst>
              <a:ext uri="{FF2B5EF4-FFF2-40B4-BE49-F238E27FC236}">
                <a16:creationId xmlns:a16="http://schemas.microsoft.com/office/drawing/2014/main" id="{2B9F43D2-2300-F75A-6E6A-4AC48DE1EBBD}"/>
              </a:ext>
            </a:extLst>
          </p:cNvPr>
          <p:cNvSpPr>
            <a:spLocks noGrp="1"/>
          </p:cNvSpPr>
          <p:nvPr>
            <p:ph type="body" sz="quarter" idx="10"/>
          </p:nvPr>
        </p:nvSpPr>
        <p:spPr>
          <a:xfrm>
            <a:off x="1281641" y="1236663"/>
            <a:ext cx="10334625" cy="5164137"/>
          </a:xfrm>
        </p:spPr>
        <p:txBody>
          <a:bodyPr/>
          <a:lstStyle>
            <a:lvl1pPr marL="457200" indent="-457200">
              <a:buFont typeface="+mj-lt"/>
              <a:buAutoNum type="arabicPeriod"/>
              <a:defRPr/>
            </a:lvl1pPr>
            <a:lvl2pPr marL="635000" indent="-457200">
              <a:buFont typeface="+mj-lt"/>
              <a:buAutoNum type="arabicPeriod"/>
              <a:defRPr/>
            </a:lvl2pPr>
            <a:lvl3pPr marL="992188" indent="-457200">
              <a:buFont typeface="+mj-lt"/>
              <a:buAutoNum type="arabicPeriod"/>
              <a:defRPr/>
            </a:lvl3pPr>
            <a:lvl4pPr marL="1260475" indent="-457200">
              <a:buFont typeface="+mj-lt"/>
              <a:buAutoNum type="arabicPeriod"/>
              <a:defRPr/>
            </a:lvl4pPr>
            <a:lvl5pPr marL="1538288" indent="-457200">
              <a:buFont typeface="+mj-lt"/>
              <a:buAutoNum type="arabicPeriod"/>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pic>
        <p:nvPicPr>
          <p:cNvPr id="7" name="グラフィックス 6">
            <a:extLst>
              <a:ext uri="{FF2B5EF4-FFF2-40B4-BE49-F238E27FC236}">
                <a16:creationId xmlns:a16="http://schemas.microsoft.com/office/drawing/2014/main" id="{8ACA4DDD-5109-82A9-3CBD-014C46D7903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712" y="127109"/>
            <a:ext cx="815032" cy="815032"/>
          </a:xfrm>
          <a:prstGeom prst="rect">
            <a:avLst/>
          </a:prstGeom>
        </p:spPr>
      </p:pic>
    </p:spTree>
    <p:extLst>
      <p:ext uri="{BB962C8B-B14F-4D97-AF65-F5344CB8AC3E}">
        <p14:creationId xmlns:p14="http://schemas.microsoft.com/office/powerpoint/2010/main" val="57913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日本語_章">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E599E-D326-FCE9-66AD-8F6E2F5AEC6E}"/>
              </a:ext>
            </a:extLst>
          </p:cNvPr>
          <p:cNvSpPr>
            <a:spLocks noGrp="1"/>
          </p:cNvSpPr>
          <p:nvPr>
            <p:ph type="title" hasCustomPrompt="1"/>
          </p:nvPr>
        </p:nvSpPr>
        <p:spPr>
          <a:xfrm>
            <a:off x="1098023" y="1937845"/>
            <a:ext cx="10653710" cy="502382"/>
          </a:xfrm>
        </p:spPr>
        <p:txBody>
          <a:bodyPr/>
          <a:lstStyle>
            <a:lvl1pPr>
              <a:defRPr sz="3200">
                <a:solidFill>
                  <a:srgbClr val="002060"/>
                </a:solidFill>
              </a:defRPr>
            </a:lvl1pPr>
          </a:lstStyle>
          <a:p>
            <a:r>
              <a:rPr kumimoji="1" lang="ja-JP" altLang="en-US" dirty="0"/>
              <a:t>章タイトル</a:t>
            </a:r>
          </a:p>
        </p:txBody>
      </p:sp>
      <p:grpSp>
        <p:nvGrpSpPr>
          <p:cNvPr id="6" name="グループ化 5">
            <a:extLst>
              <a:ext uri="{FF2B5EF4-FFF2-40B4-BE49-F238E27FC236}">
                <a16:creationId xmlns:a16="http://schemas.microsoft.com/office/drawing/2014/main" id="{5B59CC47-E14E-5AEC-038A-091741FE7D8C}"/>
              </a:ext>
            </a:extLst>
          </p:cNvPr>
          <p:cNvGrpSpPr/>
          <p:nvPr userDrawn="1"/>
        </p:nvGrpSpPr>
        <p:grpSpPr>
          <a:xfrm flipV="1">
            <a:off x="1072091" y="2469535"/>
            <a:ext cx="10738909" cy="45719"/>
            <a:chOff x="3317787" y="1004564"/>
            <a:chExt cx="7776000" cy="36004"/>
          </a:xfrm>
        </p:grpSpPr>
        <p:sp>
          <p:nvSpPr>
            <p:cNvPr id="7" name="四角形: 上の 2 つの角を丸める 6">
              <a:extLst>
                <a:ext uri="{FF2B5EF4-FFF2-40B4-BE49-F238E27FC236}">
                  <a16:creationId xmlns:a16="http://schemas.microsoft.com/office/drawing/2014/main" id="{44A559E3-9CB6-7025-037E-BB34D9CD5F8C}"/>
                </a:ext>
              </a:extLst>
            </p:cNvPr>
            <p:cNvSpPr/>
            <p:nvPr/>
          </p:nvSpPr>
          <p:spPr>
            <a:xfrm rot="16200000">
              <a:off x="3727648" y="594703"/>
              <a:ext cx="36002" cy="855723"/>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8" name="四角形: 上の 2 つの角を丸める 7">
              <a:extLst>
                <a:ext uri="{FF2B5EF4-FFF2-40B4-BE49-F238E27FC236}">
                  <a16:creationId xmlns:a16="http://schemas.microsoft.com/office/drawing/2014/main" id="{9B3A6D58-D1C7-DB12-7138-68C36962AEAA}"/>
                </a:ext>
              </a:extLst>
            </p:cNvPr>
            <p:cNvSpPr/>
            <p:nvPr/>
          </p:nvSpPr>
          <p:spPr>
            <a:xfrm rot="5400000">
              <a:off x="7615647" y="-2437572"/>
              <a:ext cx="36004" cy="6920276"/>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11" name="テキスト プレースホルダー 10">
            <a:extLst>
              <a:ext uri="{FF2B5EF4-FFF2-40B4-BE49-F238E27FC236}">
                <a16:creationId xmlns:a16="http://schemas.microsoft.com/office/drawing/2014/main" id="{7F53DB8A-5E26-3097-C090-545D0604DBB6}"/>
              </a:ext>
            </a:extLst>
          </p:cNvPr>
          <p:cNvSpPr>
            <a:spLocks noGrp="1"/>
          </p:cNvSpPr>
          <p:nvPr>
            <p:ph type="body" sz="quarter" idx="10" hasCustomPrompt="1"/>
          </p:nvPr>
        </p:nvSpPr>
        <p:spPr>
          <a:xfrm>
            <a:off x="1098023" y="2573869"/>
            <a:ext cx="10653713" cy="423332"/>
          </a:xfrm>
        </p:spPr>
        <p:txBody>
          <a:bodyPr/>
          <a:lstStyle>
            <a:lvl1pPr>
              <a:defRPr>
                <a:solidFill>
                  <a:srgbClr val="002060"/>
                </a:solidFill>
              </a:defRPr>
            </a:lvl1pPr>
          </a:lstStyle>
          <a:p>
            <a:pPr lvl="0"/>
            <a:r>
              <a:rPr kumimoji="1" lang="ja-JP" altLang="en-US" dirty="0"/>
              <a:t>サブテキスト</a:t>
            </a:r>
          </a:p>
        </p:txBody>
      </p:sp>
      <p:sp>
        <p:nvSpPr>
          <p:cNvPr id="12" name="テキスト プレースホルダー 5">
            <a:extLst>
              <a:ext uri="{FF2B5EF4-FFF2-40B4-BE49-F238E27FC236}">
                <a16:creationId xmlns:a16="http://schemas.microsoft.com/office/drawing/2014/main" id="{649CAC20-4EA9-15D6-D420-BC8AD67CC67E}"/>
              </a:ext>
            </a:extLst>
          </p:cNvPr>
          <p:cNvSpPr>
            <a:spLocks noGrp="1"/>
          </p:cNvSpPr>
          <p:nvPr>
            <p:ph type="body" sz="quarter" idx="11" hasCustomPrompt="1"/>
          </p:nvPr>
        </p:nvSpPr>
        <p:spPr>
          <a:xfrm>
            <a:off x="6508653" y="2492394"/>
            <a:ext cx="3185842" cy="4308872"/>
          </a:xfrm>
        </p:spPr>
        <p:txBody>
          <a:bodyPr wrap="square" lIns="0" tIns="0" rIns="0" bIns="0">
            <a:spAutoFit/>
          </a:bodyPr>
          <a:lstStyle>
            <a:lvl1pPr marL="0" indent="0" algn="r">
              <a:lnSpc>
                <a:spcPct val="100000"/>
              </a:lnSpc>
              <a:spcBef>
                <a:spcPts val="0"/>
              </a:spcBef>
              <a:buFontTx/>
              <a:buNone/>
              <a:defRPr sz="28000">
                <a:ln w="19050">
                  <a:noFill/>
                </a:ln>
                <a:solidFill>
                  <a:schemeClr val="tx2"/>
                </a:solidFill>
                <a:latin typeface="Bahnschrift" panose="020B0502040204020203" pitchFamily="34" charset="0"/>
                <a:cs typeface="Arial" panose="020B0604020202020204" pitchFamily="34" charset="0"/>
              </a:defRPr>
            </a:lvl1pPr>
            <a:lvl2pPr marL="457200" indent="0">
              <a:buFontTx/>
              <a:buNone/>
              <a:defRPr>
                <a:solidFill>
                  <a:schemeClr val="bg1"/>
                </a:solidFill>
                <a:latin typeface="Arial Black" panose="020B0A04020102020204" pitchFamily="34" charset="0"/>
              </a:defRPr>
            </a:lvl2pPr>
            <a:lvl3pPr marL="914400" indent="0">
              <a:buFontTx/>
              <a:buNone/>
              <a:defRPr>
                <a:solidFill>
                  <a:schemeClr val="bg1"/>
                </a:solidFill>
                <a:latin typeface="Arial Black" panose="020B0A04020102020204" pitchFamily="34" charset="0"/>
              </a:defRPr>
            </a:lvl3pPr>
            <a:lvl4pPr marL="1371600" indent="0">
              <a:buFontTx/>
              <a:buNone/>
              <a:defRPr>
                <a:solidFill>
                  <a:schemeClr val="bg1"/>
                </a:solidFill>
                <a:latin typeface="Arial Black" panose="020B0A04020102020204" pitchFamily="34" charset="0"/>
              </a:defRPr>
            </a:lvl4pPr>
            <a:lvl5pPr marL="1828800" indent="0">
              <a:buFontTx/>
              <a:buNone/>
              <a:defRPr>
                <a:solidFill>
                  <a:schemeClr val="bg1"/>
                </a:solidFill>
                <a:latin typeface="Arial Black" panose="020B0A04020102020204" pitchFamily="34" charset="0"/>
              </a:defRPr>
            </a:lvl5pPr>
          </a:lstStyle>
          <a:p>
            <a:pPr lvl="0"/>
            <a:r>
              <a:rPr kumimoji="1" lang="en-US" altLang="ja-JP" dirty="0"/>
              <a:t>1</a:t>
            </a:r>
            <a:endParaRPr kumimoji="1" lang="ja-JP" altLang="en-US" dirty="0"/>
          </a:p>
        </p:txBody>
      </p:sp>
      <p:pic>
        <p:nvPicPr>
          <p:cNvPr id="3" name="グラフィックス 2">
            <a:extLst>
              <a:ext uri="{FF2B5EF4-FFF2-40B4-BE49-F238E27FC236}">
                <a16:creationId xmlns:a16="http://schemas.microsoft.com/office/drawing/2014/main" id="{9255F7C5-C36F-435C-A4DC-98BEBBED88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712" y="127109"/>
            <a:ext cx="815032" cy="815032"/>
          </a:xfrm>
          <a:prstGeom prst="rect">
            <a:avLst/>
          </a:prstGeom>
        </p:spPr>
      </p:pic>
    </p:spTree>
    <p:extLst>
      <p:ext uri="{BB962C8B-B14F-4D97-AF65-F5344CB8AC3E}">
        <p14:creationId xmlns:p14="http://schemas.microsoft.com/office/powerpoint/2010/main" val="810224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日本語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4237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日本語_終了スライド">
    <p:spTree>
      <p:nvGrpSpPr>
        <p:cNvPr id="1" name=""/>
        <p:cNvGrpSpPr/>
        <p:nvPr/>
      </p:nvGrpSpPr>
      <p:grpSpPr>
        <a:xfrm>
          <a:off x="0" y="0"/>
          <a:ext cx="0" cy="0"/>
          <a:chOff x="0" y="0"/>
          <a:chExt cx="0" cy="0"/>
        </a:xfrm>
      </p:grpSpPr>
      <p:pic>
        <p:nvPicPr>
          <p:cNvPr id="6" name="グラフィックス 5">
            <a:extLst>
              <a:ext uri="{FF2B5EF4-FFF2-40B4-BE49-F238E27FC236}">
                <a16:creationId xmlns:a16="http://schemas.microsoft.com/office/drawing/2014/main" id="{32874162-40D3-CC01-6A35-68E43C763C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55807" y="3000084"/>
            <a:ext cx="666000" cy="666000"/>
          </a:xfrm>
          <a:prstGeom prst="rect">
            <a:avLst/>
          </a:prstGeom>
        </p:spPr>
      </p:pic>
      <p:pic>
        <p:nvPicPr>
          <p:cNvPr id="2" name="グラフィックス 1">
            <a:extLst>
              <a:ext uri="{FF2B5EF4-FFF2-40B4-BE49-F238E27FC236}">
                <a16:creationId xmlns:a16="http://schemas.microsoft.com/office/drawing/2014/main" id="{89042B31-5573-27FE-A5E3-30491AB1AF9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576800" y="3028904"/>
            <a:ext cx="3038400" cy="574186"/>
          </a:xfrm>
          <a:prstGeom prst="rect">
            <a:avLst/>
          </a:prstGeom>
        </p:spPr>
      </p:pic>
    </p:spTree>
    <p:extLst>
      <p:ext uri="{BB962C8B-B14F-4D97-AF65-F5344CB8AC3E}">
        <p14:creationId xmlns:p14="http://schemas.microsoft.com/office/powerpoint/2010/main" val="15234812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English_cover">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F18CCC-B42F-7A0B-79D3-BC3F95FCA086}"/>
              </a:ext>
            </a:extLst>
          </p:cNvPr>
          <p:cNvSpPr>
            <a:spLocks noGrp="1"/>
          </p:cNvSpPr>
          <p:nvPr>
            <p:ph type="title" hasCustomPrompt="1"/>
          </p:nvPr>
        </p:nvSpPr>
        <p:spPr>
          <a:xfrm>
            <a:off x="1446096" y="1517936"/>
            <a:ext cx="10504721" cy="758349"/>
          </a:xfrm>
        </p:spPr>
        <p:txBody>
          <a:bodyPr/>
          <a:lstStyle>
            <a:lvl1pPr>
              <a:defRPr sz="4400"/>
            </a:lvl1pPr>
          </a:lstStyle>
          <a:p>
            <a:r>
              <a:rPr kumimoji="1" lang="en-US" altLang="ja-JP" dirty="0"/>
              <a:t>Title</a:t>
            </a:r>
            <a:endParaRPr kumimoji="1" lang="ja-JP" altLang="en-US" dirty="0"/>
          </a:p>
        </p:txBody>
      </p:sp>
      <p:grpSp>
        <p:nvGrpSpPr>
          <p:cNvPr id="3" name="グループ化 2">
            <a:extLst>
              <a:ext uri="{FF2B5EF4-FFF2-40B4-BE49-F238E27FC236}">
                <a16:creationId xmlns:a16="http://schemas.microsoft.com/office/drawing/2014/main" id="{6CF30B72-0C4F-1EB1-613D-C9AAF2C4AC54}"/>
              </a:ext>
            </a:extLst>
          </p:cNvPr>
          <p:cNvGrpSpPr/>
          <p:nvPr userDrawn="1"/>
        </p:nvGrpSpPr>
        <p:grpSpPr>
          <a:xfrm>
            <a:off x="1429162" y="974353"/>
            <a:ext cx="10563251" cy="45719"/>
            <a:chOff x="3317787" y="1004565"/>
            <a:chExt cx="7776000" cy="36000"/>
          </a:xfrm>
        </p:grpSpPr>
        <p:sp>
          <p:nvSpPr>
            <p:cNvPr id="4" name="四角形: 上の 2 つの角を丸める 3">
              <a:extLst>
                <a:ext uri="{FF2B5EF4-FFF2-40B4-BE49-F238E27FC236}">
                  <a16:creationId xmlns:a16="http://schemas.microsoft.com/office/drawing/2014/main" id="{66470A04-151E-23EC-F4BA-DBA1325BC088}"/>
                </a:ext>
              </a:extLst>
            </p:cNvPr>
            <p:cNvSpPr/>
            <p:nvPr/>
          </p:nvSpPr>
          <p:spPr>
            <a:xfrm rot="16200000">
              <a:off x="3767787" y="554565"/>
              <a:ext cx="36000" cy="9360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5" name="四角形: 上の 2 つの角を丸める 4">
              <a:extLst>
                <a:ext uri="{FF2B5EF4-FFF2-40B4-BE49-F238E27FC236}">
                  <a16:creationId xmlns:a16="http://schemas.microsoft.com/office/drawing/2014/main" id="{30DB5FDC-B2D5-2E76-E25A-C043800AAD3D}"/>
                </a:ext>
              </a:extLst>
            </p:cNvPr>
            <p:cNvSpPr/>
            <p:nvPr/>
          </p:nvSpPr>
          <p:spPr>
            <a:xfrm rot="5400000">
              <a:off x="7655787" y="-2397435"/>
              <a:ext cx="36000" cy="68400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6" name="四角形: 上の 2 つの角を丸める 5">
            <a:extLst>
              <a:ext uri="{FF2B5EF4-FFF2-40B4-BE49-F238E27FC236}">
                <a16:creationId xmlns:a16="http://schemas.microsoft.com/office/drawing/2014/main" id="{022E1D5E-9616-C980-928B-13ED6D6C667D}"/>
              </a:ext>
            </a:extLst>
          </p:cNvPr>
          <p:cNvSpPr/>
          <p:nvPr userDrawn="1"/>
        </p:nvSpPr>
        <p:spPr>
          <a:xfrm>
            <a:off x="1804783" y="5026099"/>
            <a:ext cx="36000" cy="599400"/>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7" name="四角形: 上の 2 つの角を丸める 6">
            <a:extLst>
              <a:ext uri="{FF2B5EF4-FFF2-40B4-BE49-F238E27FC236}">
                <a16:creationId xmlns:a16="http://schemas.microsoft.com/office/drawing/2014/main" id="{AAE27160-4BCC-A072-8863-48BF6C47EC8D}"/>
              </a:ext>
            </a:extLst>
          </p:cNvPr>
          <p:cNvSpPr/>
          <p:nvPr userDrawn="1"/>
        </p:nvSpPr>
        <p:spPr>
          <a:xfrm rot="10800000">
            <a:off x="1804783" y="5625499"/>
            <a:ext cx="36000" cy="59940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9" name="テキスト プレースホルダー 8">
            <a:extLst>
              <a:ext uri="{FF2B5EF4-FFF2-40B4-BE49-F238E27FC236}">
                <a16:creationId xmlns:a16="http://schemas.microsoft.com/office/drawing/2014/main" id="{E4315BB0-3C4E-68C2-6CCE-114B614C979A}"/>
              </a:ext>
            </a:extLst>
          </p:cNvPr>
          <p:cNvSpPr>
            <a:spLocks noGrp="1"/>
          </p:cNvSpPr>
          <p:nvPr>
            <p:ph type="body" sz="quarter" idx="10" hasCustomPrompt="1"/>
          </p:nvPr>
        </p:nvSpPr>
        <p:spPr>
          <a:xfrm>
            <a:off x="2028411" y="5070102"/>
            <a:ext cx="6108056" cy="1093632"/>
          </a:xfrm>
        </p:spPr>
        <p:txBody>
          <a:bodyPr/>
          <a:lstStyle>
            <a:lvl1pPr>
              <a:defRPr sz="3200" b="0" u="none"/>
            </a:lvl1pPr>
          </a:lstStyle>
          <a:p>
            <a:pPr lvl="0"/>
            <a:r>
              <a:rPr kumimoji="1" lang="en-US" altLang="ja-JP" dirty="0"/>
              <a:t>Author 1, Author2, Author 3, … Tokyo University of Science, …</a:t>
            </a:r>
            <a:endParaRPr kumimoji="1" lang="ja-JP" altLang="en-US" dirty="0"/>
          </a:p>
        </p:txBody>
      </p:sp>
      <p:pic>
        <p:nvPicPr>
          <p:cNvPr id="11" name="グラフィックス 10">
            <a:extLst>
              <a:ext uri="{FF2B5EF4-FFF2-40B4-BE49-F238E27FC236}">
                <a16:creationId xmlns:a16="http://schemas.microsoft.com/office/drawing/2014/main" id="{E7F1B880-3CAE-A649-343E-5D7EF82C63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99587" y="171869"/>
            <a:ext cx="924324" cy="924324"/>
          </a:xfrm>
          <a:prstGeom prst="rect">
            <a:avLst/>
          </a:prstGeom>
        </p:spPr>
      </p:pic>
      <p:sp>
        <p:nvSpPr>
          <p:cNvPr id="12" name="テキスト プレースホルダー 4">
            <a:extLst>
              <a:ext uri="{FF2B5EF4-FFF2-40B4-BE49-F238E27FC236}">
                <a16:creationId xmlns:a16="http://schemas.microsoft.com/office/drawing/2014/main" id="{B38EF507-DAEA-C544-6DE5-7E5CE06E07BB}"/>
              </a:ext>
            </a:extLst>
          </p:cNvPr>
          <p:cNvSpPr>
            <a:spLocks noGrp="1"/>
          </p:cNvSpPr>
          <p:nvPr>
            <p:ph type="body" sz="quarter" idx="12" hasCustomPrompt="1"/>
          </p:nvPr>
        </p:nvSpPr>
        <p:spPr>
          <a:xfrm>
            <a:off x="1446202" y="666969"/>
            <a:ext cx="10504615" cy="265735"/>
          </a:xfrm>
        </p:spPr>
        <p:txBody>
          <a:bodyPr/>
          <a:lstStyle>
            <a:lvl1pPr>
              <a:defRPr sz="1800">
                <a:latin typeface="Calibri" panose="020F0502020204030204" pitchFamily="34" charset="0"/>
                <a:cs typeface="Calibri" panose="020F0502020204030204" pitchFamily="34" charset="0"/>
              </a:defRPr>
            </a:lvl1pPr>
          </a:lstStyle>
          <a:p>
            <a:pPr lvl="0"/>
            <a:r>
              <a:rPr kumimoji="1" lang="en-US" altLang="ja-JP" dirty="0"/>
              <a:t>conf etc.</a:t>
            </a:r>
            <a:endParaRPr kumimoji="1" lang="ja-JP" altLang="en-US" dirty="0"/>
          </a:p>
        </p:txBody>
      </p:sp>
    </p:spTree>
    <p:extLst>
      <p:ext uri="{BB962C8B-B14F-4D97-AF65-F5344CB8AC3E}">
        <p14:creationId xmlns:p14="http://schemas.microsoft.com/office/powerpoint/2010/main" val="3257677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English_baseA">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D8A7C1-AD92-78A9-C040-E0F063809582}"/>
              </a:ext>
            </a:extLst>
          </p:cNvPr>
          <p:cNvSpPr>
            <a:spLocks noGrp="1"/>
          </p:cNvSpPr>
          <p:nvPr>
            <p:ph type="title" hasCustomPrompt="1"/>
          </p:nvPr>
        </p:nvSpPr>
        <p:spPr>
          <a:xfrm>
            <a:off x="1097495" y="456693"/>
            <a:ext cx="10654765" cy="551561"/>
          </a:xfrm>
        </p:spPr>
        <p:txBody>
          <a:bodyPr/>
          <a:lstStyle>
            <a:lvl1pPr>
              <a:defRPr sz="3200">
                <a:solidFill>
                  <a:schemeClr val="accent3">
                    <a:lumMod val="75000"/>
                  </a:schemeClr>
                </a:solidFill>
              </a:defRPr>
            </a:lvl1pPr>
          </a:lstStyle>
          <a:p>
            <a:r>
              <a:rPr kumimoji="1" lang="en-US" altLang="ja-JP" dirty="0"/>
              <a:t>Title</a:t>
            </a:r>
            <a:endParaRPr kumimoji="1" lang="ja-JP" altLang="en-US" dirty="0"/>
          </a:p>
        </p:txBody>
      </p:sp>
      <p:grpSp>
        <p:nvGrpSpPr>
          <p:cNvPr id="4" name="グループ化 3">
            <a:extLst>
              <a:ext uri="{FF2B5EF4-FFF2-40B4-BE49-F238E27FC236}">
                <a16:creationId xmlns:a16="http://schemas.microsoft.com/office/drawing/2014/main" id="{B42A1A4C-5D49-1AFC-605E-667215DC73B5}"/>
              </a:ext>
            </a:extLst>
          </p:cNvPr>
          <p:cNvGrpSpPr/>
          <p:nvPr userDrawn="1"/>
        </p:nvGrpSpPr>
        <p:grpSpPr>
          <a:xfrm flipV="1">
            <a:off x="1072091" y="987861"/>
            <a:ext cx="10738909" cy="45719"/>
            <a:chOff x="3317787" y="1004564"/>
            <a:chExt cx="7776000" cy="36004"/>
          </a:xfrm>
        </p:grpSpPr>
        <p:sp>
          <p:nvSpPr>
            <p:cNvPr id="5" name="四角形: 上の 2 つの角を丸める 4">
              <a:extLst>
                <a:ext uri="{FF2B5EF4-FFF2-40B4-BE49-F238E27FC236}">
                  <a16:creationId xmlns:a16="http://schemas.microsoft.com/office/drawing/2014/main" id="{09BF324A-EEBA-615B-B3ED-13F58EFEAA26}"/>
                </a:ext>
              </a:extLst>
            </p:cNvPr>
            <p:cNvSpPr/>
            <p:nvPr/>
          </p:nvSpPr>
          <p:spPr>
            <a:xfrm rot="16200000">
              <a:off x="3727648" y="594703"/>
              <a:ext cx="36002" cy="855723"/>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6" name="四角形: 上の 2 つの角を丸める 5">
              <a:extLst>
                <a:ext uri="{FF2B5EF4-FFF2-40B4-BE49-F238E27FC236}">
                  <a16:creationId xmlns:a16="http://schemas.microsoft.com/office/drawing/2014/main" id="{0281779E-C801-FBE9-726B-69956C4A941E}"/>
                </a:ext>
              </a:extLst>
            </p:cNvPr>
            <p:cNvSpPr/>
            <p:nvPr/>
          </p:nvSpPr>
          <p:spPr>
            <a:xfrm rot="5400000">
              <a:off x="7615647" y="-2437572"/>
              <a:ext cx="36004" cy="6920276"/>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7" name="四角形: 角を丸くする 6">
            <a:extLst>
              <a:ext uri="{FF2B5EF4-FFF2-40B4-BE49-F238E27FC236}">
                <a16:creationId xmlns:a16="http://schemas.microsoft.com/office/drawing/2014/main" id="{D817862B-10BD-5791-EA09-5A76753D4A40}"/>
              </a:ext>
            </a:extLst>
          </p:cNvPr>
          <p:cNvSpPr/>
          <p:nvPr userDrawn="1"/>
        </p:nvSpPr>
        <p:spPr>
          <a:xfrm rot="5400000">
            <a:off x="11839461" y="6297136"/>
            <a:ext cx="387350" cy="31772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8" name="Google Shape;10;p1">
            <a:extLst>
              <a:ext uri="{FF2B5EF4-FFF2-40B4-BE49-F238E27FC236}">
                <a16:creationId xmlns:a16="http://schemas.microsoft.com/office/drawing/2014/main" id="{32829379-4209-45AA-8BE5-9707BB268908}"/>
              </a:ext>
            </a:extLst>
          </p:cNvPr>
          <p:cNvSpPr txBox="1"/>
          <p:nvPr userDrawn="1"/>
        </p:nvSpPr>
        <p:spPr>
          <a:xfrm>
            <a:off x="11874272" y="6470650"/>
            <a:ext cx="317727" cy="387350"/>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9" name="Google Shape;10;p1">
            <a:extLst>
              <a:ext uri="{FF2B5EF4-FFF2-40B4-BE49-F238E27FC236}">
                <a16:creationId xmlns:a16="http://schemas.microsoft.com/office/drawing/2014/main" id="{210825F5-F3EC-B4A3-1948-B3D369D4F3F7}"/>
              </a:ext>
            </a:extLst>
          </p:cNvPr>
          <p:cNvSpPr txBox="1"/>
          <p:nvPr userDrawn="1"/>
        </p:nvSpPr>
        <p:spPr>
          <a:xfrm>
            <a:off x="11881265" y="6424979"/>
            <a:ext cx="310734" cy="282745"/>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4DA87220-62A0-41B4-A6FF-5F65D3FFD606}" type="slidenum">
              <a:rPr kumimoji="1" lang="en-US" sz="1800" b="1"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9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
        <p:nvSpPr>
          <p:cNvPr id="13" name="テキスト プレースホルダー 12">
            <a:extLst>
              <a:ext uri="{FF2B5EF4-FFF2-40B4-BE49-F238E27FC236}">
                <a16:creationId xmlns:a16="http://schemas.microsoft.com/office/drawing/2014/main" id="{3709B2E7-7466-633C-5D57-BC2837F04672}"/>
              </a:ext>
            </a:extLst>
          </p:cNvPr>
          <p:cNvSpPr>
            <a:spLocks noGrp="1"/>
          </p:cNvSpPr>
          <p:nvPr>
            <p:ph type="body" sz="quarter" idx="11" hasCustomPrompt="1"/>
          </p:nvPr>
        </p:nvSpPr>
        <p:spPr>
          <a:xfrm>
            <a:off x="1097493" y="1121966"/>
            <a:ext cx="10654238" cy="502381"/>
          </a:xfrm>
        </p:spPr>
        <p:txBody>
          <a:bodyPr/>
          <a:lstStyle>
            <a:lvl1pPr>
              <a:defRPr sz="2800" b="1"/>
            </a:lvl1pPr>
          </a:lstStyle>
          <a:p>
            <a:pPr lvl="0"/>
            <a:r>
              <a:rPr kumimoji="1" lang="en-US" altLang="ja-JP" dirty="0"/>
              <a:t>Leading text</a:t>
            </a:r>
            <a:endParaRPr kumimoji="1" lang="ja-JP" altLang="en-US" dirty="0"/>
          </a:p>
        </p:txBody>
      </p:sp>
      <p:sp>
        <p:nvSpPr>
          <p:cNvPr id="15" name="コンテンツ プレースホルダー 14">
            <a:extLst>
              <a:ext uri="{FF2B5EF4-FFF2-40B4-BE49-F238E27FC236}">
                <a16:creationId xmlns:a16="http://schemas.microsoft.com/office/drawing/2014/main" id="{CB7A1928-9BA9-23E1-C8E4-2001B9797AE7}"/>
              </a:ext>
            </a:extLst>
          </p:cNvPr>
          <p:cNvSpPr>
            <a:spLocks noGrp="1"/>
          </p:cNvSpPr>
          <p:nvPr>
            <p:ph sz="quarter" idx="12" hasCustomPrompt="1"/>
          </p:nvPr>
        </p:nvSpPr>
        <p:spPr>
          <a:xfrm>
            <a:off x="1098021" y="6485994"/>
            <a:ext cx="10654238" cy="228600"/>
          </a:xfrm>
        </p:spPr>
        <p:txBody>
          <a:bodyPr/>
          <a:lstStyle>
            <a:lvl1pPr>
              <a:defRPr sz="1200">
                <a:latin typeface="Calibri" panose="020F0502020204030204" pitchFamily="34" charset="0"/>
                <a:cs typeface="Calibri" panose="020F0502020204030204" pitchFamily="34" charset="0"/>
              </a:defRPr>
            </a:lvl1pPr>
          </a:lstStyle>
          <a:p>
            <a:pPr lvl="0"/>
            <a:r>
              <a:rPr kumimoji="1" lang="en-US" altLang="ja-JP" dirty="0"/>
              <a:t>*footnote</a:t>
            </a:r>
            <a:endParaRPr kumimoji="1" lang="ja-JP" altLang="en-US" dirty="0"/>
          </a:p>
        </p:txBody>
      </p:sp>
      <p:pic>
        <p:nvPicPr>
          <p:cNvPr id="10" name="グラフィックス 9">
            <a:extLst>
              <a:ext uri="{FF2B5EF4-FFF2-40B4-BE49-F238E27FC236}">
                <a16:creationId xmlns:a16="http://schemas.microsoft.com/office/drawing/2014/main" id="{24D2ED89-8238-DCB6-D2A6-B1DCA7DC2A8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712" y="127109"/>
            <a:ext cx="815032" cy="815032"/>
          </a:xfrm>
          <a:prstGeom prst="rect">
            <a:avLst/>
          </a:prstGeom>
        </p:spPr>
      </p:pic>
    </p:spTree>
    <p:extLst>
      <p:ext uri="{BB962C8B-B14F-4D97-AF65-F5344CB8AC3E}">
        <p14:creationId xmlns:p14="http://schemas.microsoft.com/office/powerpoint/2010/main" val="909907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English_baseB">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D8A7C1-AD92-78A9-C040-E0F063809582}"/>
              </a:ext>
            </a:extLst>
          </p:cNvPr>
          <p:cNvSpPr>
            <a:spLocks noGrp="1"/>
          </p:cNvSpPr>
          <p:nvPr>
            <p:ph type="title" hasCustomPrompt="1"/>
          </p:nvPr>
        </p:nvSpPr>
        <p:spPr>
          <a:xfrm>
            <a:off x="1097495" y="456693"/>
            <a:ext cx="10654765" cy="551561"/>
          </a:xfrm>
        </p:spPr>
        <p:txBody>
          <a:bodyPr/>
          <a:lstStyle>
            <a:lvl1pPr>
              <a:defRPr sz="3200">
                <a:solidFill>
                  <a:schemeClr val="accent3">
                    <a:lumMod val="75000"/>
                  </a:schemeClr>
                </a:solidFill>
              </a:defRPr>
            </a:lvl1pPr>
          </a:lstStyle>
          <a:p>
            <a:r>
              <a:rPr kumimoji="1" lang="en-US" altLang="ja-JP" dirty="0"/>
              <a:t>Title</a:t>
            </a:r>
            <a:endParaRPr kumimoji="1" lang="ja-JP" altLang="en-US" dirty="0"/>
          </a:p>
        </p:txBody>
      </p:sp>
      <p:grpSp>
        <p:nvGrpSpPr>
          <p:cNvPr id="4" name="グループ化 3">
            <a:extLst>
              <a:ext uri="{FF2B5EF4-FFF2-40B4-BE49-F238E27FC236}">
                <a16:creationId xmlns:a16="http://schemas.microsoft.com/office/drawing/2014/main" id="{B42A1A4C-5D49-1AFC-605E-667215DC73B5}"/>
              </a:ext>
            </a:extLst>
          </p:cNvPr>
          <p:cNvGrpSpPr/>
          <p:nvPr userDrawn="1"/>
        </p:nvGrpSpPr>
        <p:grpSpPr>
          <a:xfrm flipV="1">
            <a:off x="1072091" y="987861"/>
            <a:ext cx="10738909" cy="45719"/>
            <a:chOff x="3317787" y="1004564"/>
            <a:chExt cx="7776000" cy="36004"/>
          </a:xfrm>
        </p:grpSpPr>
        <p:sp>
          <p:nvSpPr>
            <p:cNvPr id="5" name="四角形: 上の 2 つの角を丸める 4">
              <a:extLst>
                <a:ext uri="{FF2B5EF4-FFF2-40B4-BE49-F238E27FC236}">
                  <a16:creationId xmlns:a16="http://schemas.microsoft.com/office/drawing/2014/main" id="{09BF324A-EEBA-615B-B3ED-13F58EFEAA26}"/>
                </a:ext>
              </a:extLst>
            </p:cNvPr>
            <p:cNvSpPr/>
            <p:nvPr/>
          </p:nvSpPr>
          <p:spPr>
            <a:xfrm rot="16200000">
              <a:off x="3727648" y="594703"/>
              <a:ext cx="36002" cy="855723"/>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6" name="四角形: 上の 2 つの角を丸める 5">
              <a:extLst>
                <a:ext uri="{FF2B5EF4-FFF2-40B4-BE49-F238E27FC236}">
                  <a16:creationId xmlns:a16="http://schemas.microsoft.com/office/drawing/2014/main" id="{0281779E-C801-FBE9-726B-69956C4A941E}"/>
                </a:ext>
              </a:extLst>
            </p:cNvPr>
            <p:cNvSpPr/>
            <p:nvPr/>
          </p:nvSpPr>
          <p:spPr>
            <a:xfrm rot="5400000">
              <a:off x="7615647" y="-2437572"/>
              <a:ext cx="36004" cy="6920276"/>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7" name="四角形: 角を丸くする 6">
            <a:extLst>
              <a:ext uri="{FF2B5EF4-FFF2-40B4-BE49-F238E27FC236}">
                <a16:creationId xmlns:a16="http://schemas.microsoft.com/office/drawing/2014/main" id="{D817862B-10BD-5791-EA09-5A76753D4A40}"/>
              </a:ext>
            </a:extLst>
          </p:cNvPr>
          <p:cNvSpPr/>
          <p:nvPr userDrawn="1"/>
        </p:nvSpPr>
        <p:spPr>
          <a:xfrm rot="5400000">
            <a:off x="11839461" y="6297136"/>
            <a:ext cx="387350" cy="31772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8" name="Google Shape;10;p1">
            <a:extLst>
              <a:ext uri="{FF2B5EF4-FFF2-40B4-BE49-F238E27FC236}">
                <a16:creationId xmlns:a16="http://schemas.microsoft.com/office/drawing/2014/main" id="{32829379-4209-45AA-8BE5-9707BB268908}"/>
              </a:ext>
            </a:extLst>
          </p:cNvPr>
          <p:cNvSpPr txBox="1"/>
          <p:nvPr userDrawn="1"/>
        </p:nvSpPr>
        <p:spPr>
          <a:xfrm>
            <a:off x="11874272" y="6470650"/>
            <a:ext cx="317727" cy="387350"/>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endParaRPr kumimoji="1" sz="800" b="0" i="0" u="none" strike="noStrike" kern="1200" cap="none" spc="0" normalizeH="0" baseline="0" noProof="0">
              <a:ln>
                <a:noFill/>
              </a:ln>
              <a:solidFill>
                <a:prstClr val="white"/>
              </a:solidFill>
              <a:effectLst/>
              <a:uLnTx/>
              <a:uFillTx/>
              <a:latin typeface="BIZ UDPゴシック"/>
              <a:ea typeface="Lato Light"/>
              <a:cs typeface="Lato Light"/>
              <a:sym typeface="Lato Light"/>
            </a:endParaRPr>
          </a:p>
        </p:txBody>
      </p:sp>
      <p:sp>
        <p:nvSpPr>
          <p:cNvPr id="9" name="Google Shape;10;p1">
            <a:extLst>
              <a:ext uri="{FF2B5EF4-FFF2-40B4-BE49-F238E27FC236}">
                <a16:creationId xmlns:a16="http://schemas.microsoft.com/office/drawing/2014/main" id="{210825F5-F3EC-B4A3-1948-B3D369D4F3F7}"/>
              </a:ext>
            </a:extLst>
          </p:cNvPr>
          <p:cNvSpPr txBox="1"/>
          <p:nvPr userDrawn="1"/>
        </p:nvSpPr>
        <p:spPr>
          <a:xfrm>
            <a:off x="11881265" y="6424979"/>
            <a:ext cx="310734" cy="282745"/>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fld id="{4DA87220-62A0-41B4-A6FF-5F65D3FFD606}" type="slidenum">
              <a:rPr kumimoji="1" lang="en-US" sz="1800" b="1" i="0" u="none" strike="noStrike" kern="1200" cap="none" spc="0" normalizeH="0" baseline="0" noProof="0" smtClean="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pPr marL="0" marR="0" lvl="0" indent="0" algn="ctr" defTabSz="914400" rtl="0" eaLnBrk="1" fontAlgn="auto" latinLnBrk="0" hangingPunct="1">
                <a:lnSpc>
                  <a:spcPct val="100000"/>
                </a:lnSpc>
                <a:spcBef>
                  <a:spcPts val="0"/>
                </a:spcBef>
                <a:spcAft>
                  <a:spcPts val="0"/>
                </a:spcAft>
                <a:buClr>
                  <a:srgbClr val="3A3838"/>
                </a:buClr>
                <a:buSzPts val="700"/>
                <a:buFont typeface="Lato Light"/>
                <a:buNone/>
                <a:tabLst/>
                <a:defRPr/>
              </a:pPr>
              <a:t>‹#›</a:t>
            </a:fld>
            <a:endParaRPr kumimoji="1" sz="9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Lato Light"/>
            </a:endParaRPr>
          </a:p>
        </p:txBody>
      </p:sp>
      <p:sp>
        <p:nvSpPr>
          <p:cNvPr id="15" name="コンテンツ プレースホルダー 14">
            <a:extLst>
              <a:ext uri="{FF2B5EF4-FFF2-40B4-BE49-F238E27FC236}">
                <a16:creationId xmlns:a16="http://schemas.microsoft.com/office/drawing/2014/main" id="{CB7A1928-9BA9-23E1-C8E4-2001B9797AE7}"/>
              </a:ext>
            </a:extLst>
          </p:cNvPr>
          <p:cNvSpPr>
            <a:spLocks noGrp="1"/>
          </p:cNvSpPr>
          <p:nvPr>
            <p:ph sz="quarter" idx="12" hasCustomPrompt="1"/>
          </p:nvPr>
        </p:nvSpPr>
        <p:spPr>
          <a:xfrm>
            <a:off x="1098021" y="6485994"/>
            <a:ext cx="10654238" cy="228600"/>
          </a:xfrm>
        </p:spPr>
        <p:txBody>
          <a:bodyPr/>
          <a:lstStyle>
            <a:lvl1pPr>
              <a:defRPr sz="1200">
                <a:latin typeface="Calibri" panose="020F0502020204030204" pitchFamily="34" charset="0"/>
                <a:cs typeface="Calibri" panose="020F0502020204030204" pitchFamily="34" charset="0"/>
              </a:defRPr>
            </a:lvl1pPr>
          </a:lstStyle>
          <a:p>
            <a:pPr lvl="0"/>
            <a:r>
              <a:rPr kumimoji="1" lang="en-US" altLang="ja-JP" dirty="0"/>
              <a:t>*footnote</a:t>
            </a:r>
            <a:endParaRPr kumimoji="1" lang="ja-JP" altLang="en-US" dirty="0"/>
          </a:p>
        </p:txBody>
      </p:sp>
      <p:pic>
        <p:nvPicPr>
          <p:cNvPr id="10" name="グラフィックス 9">
            <a:extLst>
              <a:ext uri="{FF2B5EF4-FFF2-40B4-BE49-F238E27FC236}">
                <a16:creationId xmlns:a16="http://schemas.microsoft.com/office/drawing/2014/main" id="{F57B3EEF-7486-0B8B-467E-186EF385EDC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712" y="127109"/>
            <a:ext cx="815032" cy="815032"/>
          </a:xfrm>
          <a:prstGeom prst="rect">
            <a:avLst/>
          </a:prstGeom>
        </p:spPr>
      </p:pic>
    </p:spTree>
    <p:extLst>
      <p:ext uri="{BB962C8B-B14F-4D97-AF65-F5344CB8AC3E}">
        <p14:creationId xmlns:p14="http://schemas.microsoft.com/office/powerpoint/2010/main" val="1488586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English_contents">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4CA868-FC25-B9E8-591C-D1FF52E3981D}"/>
              </a:ext>
            </a:extLst>
          </p:cNvPr>
          <p:cNvSpPr>
            <a:spLocks noGrp="1"/>
          </p:cNvSpPr>
          <p:nvPr>
            <p:ph type="title" hasCustomPrompt="1"/>
          </p:nvPr>
        </p:nvSpPr>
        <p:spPr>
          <a:xfrm>
            <a:off x="1282061" y="509224"/>
            <a:ext cx="2146943" cy="502382"/>
          </a:xfrm>
        </p:spPr>
        <p:txBody>
          <a:bodyPr/>
          <a:lstStyle>
            <a:lvl1pPr>
              <a:defRPr sz="3200">
                <a:solidFill>
                  <a:schemeClr val="accent3">
                    <a:lumMod val="75000"/>
                  </a:schemeClr>
                </a:solidFill>
              </a:defRPr>
            </a:lvl1pPr>
          </a:lstStyle>
          <a:p>
            <a:r>
              <a:rPr kumimoji="1" lang="en-US" altLang="ja-JP" dirty="0"/>
              <a:t>Contents</a:t>
            </a:r>
            <a:endParaRPr kumimoji="1" lang="ja-JP" altLang="en-US" dirty="0"/>
          </a:p>
        </p:txBody>
      </p:sp>
      <p:grpSp>
        <p:nvGrpSpPr>
          <p:cNvPr id="3" name="グループ化 2">
            <a:extLst>
              <a:ext uri="{FF2B5EF4-FFF2-40B4-BE49-F238E27FC236}">
                <a16:creationId xmlns:a16="http://schemas.microsoft.com/office/drawing/2014/main" id="{3FDB0F65-D00D-93A1-1F45-6A78DBD5283C}"/>
              </a:ext>
            </a:extLst>
          </p:cNvPr>
          <p:cNvGrpSpPr/>
          <p:nvPr userDrawn="1"/>
        </p:nvGrpSpPr>
        <p:grpSpPr>
          <a:xfrm flipV="1">
            <a:off x="1264865" y="1034210"/>
            <a:ext cx="2240339" cy="57990"/>
            <a:chOff x="3317791" y="1004563"/>
            <a:chExt cx="7775993" cy="36004"/>
          </a:xfrm>
        </p:grpSpPr>
        <p:sp>
          <p:nvSpPr>
            <p:cNvPr id="4" name="四角形: 上の 2 つの角を丸める 3">
              <a:extLst>
                <a:ext uri="{FF2B5EF4-FFF2-40B4-BE49-F238E27FC236}">
                  <a16:creationId xmlns:a16="http://schemas.microsoft.com/office/drawing/2014/main" id="{BAAE413B-6D67-3A47-4C0D-2771959841F8}"/>
                </a:ext>
              </a:extLst>
            </p:cNvPr>
            <p:cNvSpPr/>
            <p:nvPr/>
          </p:nvSpPr>
          <p:spPr>
            <a:xfrm rot="16200000">
              <a:off x="4420967" y="-98613"/>
              <a:ext cx="36004" cy="2242356"/>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5" name="四角形: 上の 2 つの角を丸める 4">
              <a:extLst>
                <a:ext uri="{FF2B5EF4-FFF2-40B4-BE49-F238E27FC236}">
                  <a16:creationId xmlns:a16="http://schemas.microsoft.com/office/drawing/2014/main" id="{090E40F8-07A1-5386-23BA-FA7AEDA60246}"/>
                </a:ext>
              </a:extLst>
            </p:cNvPr>
            <p:cNvSpPr/>
            <p:nvPr/>
          </p:nvSpPr>
          <p:spPr>
            <a:xfrm rot="5400000">
              <a:off x="8308962" y="-1744254"/>
              <a:ext cx="36003" cy="553364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pic>
        <p:nvPicPr>
          <p:cNvPr id="7" name="グラフィックス 6">
            <a:extLst>
              <a:ext uri="{FF2B5EF4-FFF2-40B4-BE49-F238E27FC236}">
                <a16:creationId xmlns:a16="http://schemas.microsoft.com/office/drawing/2014/main" id="{D712B036-1A76-1A3E-EBED-31508E36DCC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712" y="127109"/>
            <a:ext cx="815032" cy="815032"/>
          </a:xfrm>
          <a:prstGeom prst="rect">
            <a:avLst/>
          </a:prstGeom>
        </p:spPr>
      </p:pic>
    </p:spTree>
    <p:extLst>
      <p:ext uri="{BB962C8B-B14F-4D97-AF65-F5344CB8AC3E}">
        <p14:creationId xmlns:p14="http://schemas.microsoft.com/office/powerpoint/2010/main" val="22435451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English_chapter">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E599E-D326-FCE9-66AD-8F6E2F5AEC6E}"/>
              </a:ext>
            </a:extLst>
          </p:cNvPr>
          <p:cNvSpPr>
            <a:spLocks noGrp="1"/>
          </p:cNvSpPr>
          <p:nvPr>
            <p:ph type="title" hasCustomPrompt="1"/>
          </p:nvPr>
        </p:nvSpPr>
        <p:spPr>
          <a:xfrm>
            <a:off x="1098023" y="1937845"/>
            <a:ext cx="10653710" cy="551561"/>
          </a:xfrm>
        </p:spPr>
        <p:txBody>
          <a:bodyPr/>
          <a:lstStyle>
            <a:lvl1pPr>
              <a:defRPr sz="3200">
                <a:solidFill>
                  <a:srgbClr val="002060"/>
                </a:solidFill>
              </a:defRPr>
            </a:lvl1pPr>
          </a:lstStyle>
          <a:p>
            <a:r>
              <a:rPr kumimoji="1" lang="en-US" altLang="ja-JP" dirty="0"/>
              <a:t>Title</a:t>
            </a:r>
            <a:endParaRPr kumimoji="1" lang="ja-JP" altLang="en-US" dirty="0"/>
          </a:p>
        </p:txBody>
      </p:sp>
      <p:grpSp>
        <p:nvGrpSpPr>
          <p:cNvPr id="6" name="グループ化 5">
            <a:extLst>
              <a:ext uri="{FF2B5EF4-FFF2-40B4-BE49-F238E27FC236}">
                <a16:creationId xmlns:a16="http://schemas.microsoft.com/office/drawing/2014/main" id="{5B59CC47-E14E-5AEC-038A-091741FE7D8C}"/>
              </a:ext>
            </a:extLst>
          </p:cNvPr>
          <p:cNvGrpSpPr/>
          <p:nvPr userDrawn="1"/>
        </p:nvGrpSpPr>
        <p:grpSpPr>
          <a:xfrm flipV="1">
            <a:off x="1072091" y="2469535"/>
            <a:ext cx="10738909" cy="45719"/>
            <a:chOff x="3317787" y="1004564"/>
            <a:chExt cx="7776000" cy="36004"/>
          </a:xfrm>
        </p:grpSpPr>
        <p:sp>
          <p:nvSpPr>
            <p:cNvPr id="7" name="四角形: 上の 2 つの角を丸める 6">
              <a:extLst>
                <a:ext uri="{FF2B5EF4-FFF2-40B4-BE49-F238E27FC236}">
                  <a16:creationId xmlns:a16="http://schemas.microsoft.com/office/drawing/2014/main" id="{44A559E3-9CB6-7025-037E-BB34D9CD5F8C}"/>
                </a:ext>
              </a:extLst>
            </p:cNvPr>
            <p:cNvSpPr/>
            <p:nvPr/>
          </p:nvSpPr>
          <p:spPr>
            <a:xfrm rot="16200000">
              <a:off x="3727648" y="594703"/>
              <a:ext cx="36002" cy="855723"/>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sp>
          <p:nvSpPr>
            <p:cNvPr id="8" name="四角形: 上の 2 つの角を丸める 7">
              <a:extLst>
                <a:ext uri="{FF2B5EF4-FFF2-40B4-BE49-F238E27FC236}">
                  <a16:creationId xmlns:a16="http://schemas.microsoft.com/office/drawing/2014/main" id="{9B3A6D58-D1C7-DB12-7138-68C36962AEAA}"/>
                </a:ext>
              </a:extLst>
            </p:cNvPr>
            <p:cNvSpPr/>
            <p:nvPr/>
          </p:nvSpPr>
          <p:spPr>
            <a:xfrm rot="5400000">
              <a:off x="7615647" y="-2437572"/>
              <a:ext cx="36004" cy="6920276"/>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BIZ UDPゴシック"/>
                <a:ea typeface="BIZ UDPゴシック"/>
                <a:cs typeface="+mn-cs"/>
              </a:endParaRPr>
            </a:p>
          </p:txBody>
        </p:sp>
      </p:grpSp>
      <p:sp>
        <p:nvSpPr>
          <p:cNvPr id="11" name="テキスト プレースホルダー 10">
            <a:extLst>
              <a:ext uri="{FF2B5EF4-FFF2-40B4-BE49-F238E27FC236}">
                <a16:creationId xmlns:a16="http://schemas.microsoft.com/office/drawing/2014/main" id="{7F53DB8A-5E26-3097-C090-545D0604DBB6}"/>
              </a:ext>
            </a:extLst>
          </p:cNvPr>
          <p:cNvSpPr>
            <a:spLocks noGrp="1"/>
          </p:cNvSpPr>
          <p:nvPr>
            <p:ph type="body" sz="quarter" idx="10" hasCustomPrompt="1"/>
          </p:nvPr>
        </p:nvSpPr>
        <p:spPr>
          <a:xfrm>
            <a:off x="1098023" y="2573869"/>
            <a:ext cx="10653713" cy="423332"/>
          </a:xfrm>
        </p:spPr>
        <p:txBody>
          <a:bodyPr/>
          <a:lstStyle>
            <a:lvl1pPr>
              <a:defRPr>
                <a:solidFill>
                  <a:srgbClr val="002060"/>
                </a:solidFill>
              </a:defRPr>
            </a:lvl1pPr>
          </a:lstStyle>
          <a:p>
            <a:pPr lvl="0"/>
            <a:r>
              <a:rPr kumimoji="1" lang="en-US" altLang="ja-JP" dirty="0"/>
              <a:t>subtitle</a:t>
            </a:r>
            <a:endParaRPr kumimoji="1" lang="ja-JP" altLang="en-US" dirty="0"/>
          </a:p>
        </p:txBody>
      </p:sp>
      <p:sp>
        <p:nvSpPr>
          <p:cNvPr id="12" name="テキスト プレースホルダー 5">
            <a:extLst>
              <a:ext uri="{FF2B5EF4-FFF2-40B4-BE49-F238E27FC236}">
                <a16:creationId xmlns:a16="http://schemas.microsoft.com/office/drawing/2014/main" id="{649CAC20-4EA9-15D6-D420-BC8AD67CC67E}"/>
              </a:ext>
            </a:extLst>
          </p:cNvPr>
          <p:cNvSpPr>
            <a:spLocks noGrp="1"/>
          </p:cNvSpPr>
          <p:nvPr>
            <p:ph type="body" sz="quarter" idx="11" hasCustomPrompt="1"/>
          </p:nvPr>
        </p:nvSpPr>
        <p:spPr>
          <a:xfrm>
            <a:off x="6508653" y="2492394"/>
            <a:ext cx="3185842" cy="4308872"/>
          </a:xfrm>
        </p:spPr>
        <p:txBody>
          <a:bodyPr wrap="square" lIns="0" tIns="0" rIns="0" bIns="0">
            <a:spAutoFit/>
          </a:bodyPr>
          <a:lstStyle>
            <a:lvl1pPr marL="0" indent="0" algn="r">
              <a:lnSpc>
                <a:spcPct val="100000"/>
              </a:lnSpc>
              <a:spcBef>
                <a:spcPts val="0"/>
              </a:spcBef>
              <a:buFontTx/>
              <a:buNone/>
              <a:defRPr sz="28000">
                <a:ln w="19050">
                  <a:noFill/>
                </a:ln>
                <a:solidFill>
                  <a:schemeClr val="tx2"/>
                </a:solidFill>
                <a:latin typeface="Bahnschrift" panose="020B0502040204020203" pitchFamily="34" charset="0"/>
                <a:cs typeface="Arial" panose="020B0604020202020204" pitchFamily="34" charset="0"/>
              </a:defRPr>
            </a:lvl1pPr>
            <a:lvl2pPr marL="457200" indent="0">
              <a:buFontTx/>
              <a:buNone/>
              <a:defRPr>
                <a:solidFill>
                  <a:schemeClr val="bg1"/>
                </a:solidFill>
                <a:latin typeface="Arial Black" panose="020B0A04020102020204" pitchFamily="34" charset="0"/>
              </a:defRPr>
            </a:lvl2pPr>
            <a:lvl3pPr marL="914400" indent="0">
              <a:buFontTx/>
              <a:buNone/>
              <a:defRPr>
                <a:solidFill>
                  <a:schemeClr val="bg1"/>
                </a:solidFill>
                <a:latin typeface="Arial Black" panose="020B0A04020102020204" pitchFamily="34" charset="0"/>
              </a:defRPr>
            </a:lvl3pPr>
            <a:lvl4pPr marL="1371600" indent="0">
              <a:buFontTx/>
              <a:buNone/>
              <a:defRPr>
                <a:solidFill>
                  <a:schemeClr val="bg1"/>
                </a:solidFill>
                <a:latin typeface="Arial Black" panose="020B0A04020102020204" pitchFamily="34" charset="0"/>
              </a:defRPr>
            </a:lvl4pPr>
            <a:lvl5pPr marL="1828800" indent="0">
              <a:buFontTx/>
              <a:buNone/>
              <a:defRPr>
                <a:solidFill>
                  <a:schemeClr val="bg1"/>
                </a:solidFill>
                <a:latin typeface="Arial Black" panose="020B0A04020102020204" pitchFamily="34" charset="0"/>
              </a:defRPr>
            </a:lvl5pPr>
          </a:lstStyle>
          <a:p>
            <a:pPr lvl="0"/>
            <a:r>
              <a:rPr kumimoji="1" lang="en-US" altLang="ja-JP" dirty="0"/>
              <a:t>1</a:t>
            </a:r>
            <a:endParaRPr kumimoji="1" lang="ja-JP" altLang="en-US" dirty="0"/>
          </a:p>
        </p:txBody>
      </p:sp>
      <p:pic>
        <p:nvPicPr>
          <p:cNvPr id="3" name="グラフィックス 2">
            <a:extLst>
              <a:ext uri="{FF2B5EF4-FFF2-40B4-BE49-F238E27FC236}">
                <a16:creationId xmlns:a16="http://schemas.microsoft.com/office/drawing/2014/main" id="{7A11F26E-9818-4E03-586F-4C5C5D087D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712" y="127109"/>
            <a:ext cx="815032" cy="815032"/>
          </a:xfrm>
          <a:prstGeom prst="rect">
            <a:avLst/>
          </a:prstGeom>
        </p:spPr>
      </p:pic>
    </p:spTree>
    <p:extLst>
      <p:ext uri="{BB962C8B-B14F-4D97-AF65-F5344CB8AC3E}">
        <p14:creationId xmlns:p14="http://schemas.microsoft.com/office/powerpoint/2010/main" val="417752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English_plan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3919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English_end">
    <p:spTree>
      <p:nvGrpSpPr>
        <p:cNvPr id="1" name=""/>
        <p:cNvGrpSpPr/>
        <p:nvPr/>
      </p:nvGrpSpPr>
      <p:grpSpPr>
        <a:xfrm>
          <a:off x="0" y="0"/>
          <a:ext cx="0" cy="0"/>
          <a:chOff x="0" y="0"/>
          <a:chExt cx="0" cy="0"/>
        </a:xfrm>
      </p:grpSpPr>
      <p:pic>
        <p:nvPicPr>
          <p:cNvPr id="6" name="グラフィックス 5">
            <a:extLst>
              <a:ext uri="{FF2B5EF4-FFF2-40B4-BE49-F238E27FC236}">
                <a16:creationId xmlns:a16="http://schemas.microsoft.com/office/drawing/2014/main" id="{32874162-40D3-CC01-6A35-68E43C763C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824473" y="2624746"/>
            <a:ext cx="666000" cy="666000"/>
          </a:xfrm>
          <a:prstGeom prst="rect">
            <a:avLst/>
          </a:prstGeom>
        </p:spPr>
      </p:pic>
      <p:sp>
        <p:nvSpPr>
          <p:cNvPr id="4" name="Google Shape;11;p1">
            <a:extLst>
              <a:ext uri="{FF2B5EF4-FFF2-40B4-BE49-F238E27FC236}">
                <a16:creationId xmlns:a16="http://schemas.microsoft.com/office/drawing/2014/main" id="{4BE1B037-3215-5DE3-2A7A-E888F5EF8EDD}"/>
              </a:ext>
            </a:extLst>
          </p:cNvPr>
          <p:cNvSpPr txBox="1"/>
          <p:nvPr userDrawn="1"/>
        </p:nvSpPr>
        <p:spPr>
          <a:xfrm>
            <a:off x="3643600" y="2652576"/>
            <a:ext cx="561600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A3838"/>
              </a:buClr>
              <a:buSzPts val="600"/>
              <a:buFont typeface="Lato Light"/>
              <a:buNone/>
            </a:pPr>
            <a:r>
              <a:rPr lang="en-US" sz="4000" b="0" i="0" u="none" strike="noStrike" cap="none" dirty="0">
                <a:solidFill>
                  <a:schemeClr val="tx1"/>
                </a:solidFill>
                <a:latin typeface="Calibri" panose="020F0502020204030204" pitchFamily="34" charset="0"/>
                <a:ea typeface="Lato Light"/>
                <a:cs typeface="Calibri" panose="020F0502020204030204" pitchFamily="34" charset="0"/>
                <a:sym typeface="Lato Light"/>
              </a:rPr>
              <a:t>Tokyo University of Science</a:t>
            </a:r>
            <a:endParaRPr sz="4000" b="0" i="0" u="none" strike="noStrike" cap="none" dirty="0">
              <a:solidFill>
                <a:schemeClr val="tx1"/>
              </a:solidFill>
              <a:latin typeface="Calibri" panose="020F0502020204030204" pitchFamily="34" charset="0"/>
              <a:ea typeface="Lato Light"/>
              <a:cs typeface="Calibri" panose="020F0502020204030204" pitchFamily="34" charset="0"/>
              <a:sym typeface="Lato Light"/>
            </a:endParaRPr>
          </a:p>
        </p:txBody>
      </p:sp>
    </p:spTree>
    <p:extLst>
      <p:ext uri="{BB962C8B-B14F-4D97-AF65-F5344CB8AC3E}">
        <p14:creationId xmlns:p14="http://schemas.microsoft.com/office/powerpoint/2010/main" val="19481410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9" name="タイトル プレースホルダー 98">
            <a:extLst>
              <a:ext uri="{FF2B5EF4-FFF2-40B4-BE49-F238E27FC236}">
                <a16:creationId xmlns:a16="http://schemas.microsoft.com/office/drawing/2014/main" id="{509C3BC1-5883-20B0-3CA4-D36A56AEB5A6}"/>
              </a:ext>
            </a:extLst>
          </p:cNvPr>
          <p:cNvSpPr>
            <a:spLocks noGrp="1"/>
          </p:cNvSpPr>
          <p:nvPr userDrawn="1">
            <p:ph type="title"/>
          </p:nvPr>
        </p:nvSpPr>
        <p:spPr>
          <a:xfrm>
            <a:off x="1055688" y="518400"/>
            <a:ext cx="10693400" cy="439608"/>
          </a:xfrm>
          <a:prstGeom prst="rect">
            <a:avLst/>
          </a:prstGeom>
        </p:spPr>
        <p:txBody>
          <a:bodyPr vert="horz" wrap="square" lIns="0" tIns="0" rIns="0" bIns="0" rtlCol="0" anchor="t" anchorCtr="0">
            <a:spAutoFit/>
          </a:bodyPr>
          <a:lstStyle/>
          <a:p>
            <a:r>
              <a:rPr kumimoji="1" lang="ja-JP" altLang="en-US" dirty="0"/>
              <a:t>マスター タイトルの書式設定</a:t>
            </a:r>
          </a:p>
        </p:txBody>
      </p:sp>
      <p:sp>
        <p:nvSpPr>
          <p:cNvPr id="100" name="テキスト プレースホルダー 99">
            <a:extLst>
              <a:ext uri="{FF2B5EF4-FFF2-40B4-BE49-F238E27FC236}">
                <a16:creationId xmlns:a16="http://schemas.microsoft.com/office/drawing/2014/main" id="{A8403A88-8D11-F853-BC8F-6A33B27B251E}"/>
              </a:ext>
            </a:extLst>
          </p:cNvPr>
          <p:cNvSpPr>
            <a:spLocks noGrp="1"/>
          </p:cNvSpPr>
          <p:nvPr userDrawn="1">
            <p:ph type="body" idx="1"/>
          </p:nvPr>
        </p:nvSpPr>
        <p:spPr>
          <a:xfrm>
            <a:off x="1055688" y="1224000"/>
            <a:ext cx="10693399" cy="2535200"/>
          </a:xfrm>
          <a:prstGeom prst="rect">
            <a:avLst/>
          </a:prstGeom>
        </p:spPr>
        <p:txBody>
          <a:bodyPr vert="horz" wrap="square" lIns="0" tIns="0" rIns="0" bIns="0" rtlCol="0">
            <a:noAutofit/>
          </a:bodyPr>
          <a:lstStyle/>
          <a:p>
            <a:pPr lvl="0"/>
            <a:r>
              <a:rPr kumimoji="1" lang="ja-JP" altLang="en-US" dirty="0"/>
              <a:t>マスター テキストの書式設定</a:t>
            </a:r>
            <a:endParaRPr kumimoji="1" lang="en-US" altLang="ja-JP" dirty="0"/>
          </a:p>
          <a:p>
            <a:pPr lvl="0"/>
            <a:r>
              <a:rPr kumimoji="1" lang="en-US" altLang="ja-JP" dirty="0"/>
              <a:t>    </a:t>
            </a:r>
            <a:r>
              <a:rPr kumimoji="1" lang="ja-JP" altLang="en-US" dirty="0"/>
              <a:t>第 </a:t>
            </a:r>
            <a:r>
              <a:rPr kumimoji="1" lang="en-US" altLang="ja-JP" dirty="0"/>
              <a:t>2 </a:t>
            </a:r>
            <a:r>
              <a:rPr kumimoji="1" lang="ja-JP" altLang="en-US" dirty="0"/>
              <a:t>レベル</a:t>
            </a:r>
            <a:endParaRPr kumimoji="1" lang="en-US" altLang="ja-JP" dirty="0"/>
          </a:p>
          <a:p>
            <a:pPr lvl="0"/>
            <a:r>
              <a:rPr kumimoji="1" lang="en-US" altLang="ja-JP" dirty="0"/>
              <a:t>        </a:t>
            </a:r>
            <a:r>
              <a:rPr kumimoji="1" lang="ja-JP" altLang="en-US" dirty="0"/>
              <a:t>第 </a:t>
            </a:r>
            <a:r>
              <a:rPr kumimoji="1" lang="en-US" altLang="ja-JP" dirty="0"/>
              <a:t>3 </a:t>
            </a:r>
            <a:r>
              <a:rPr kumimoji="1" lang="ja-JP" altLang="en-US" dirty="0"/>
              <a:t>レベル</a:t>
            </a:r>
            <a:endParaRPr kumimoji="1" lang="en-US" altLang="ja-JP" dirty="0"/>
          </a:p>
          <a:p>
            <a:pPr lvl="0"/>
            <a:r>
              <a:rPr kumimoji="1" lang="en-US" altLang="ja-JP" dirty="0"/>
              <a:t>            </a:t>
            </a:r>
            <a:r>
              <a:rPr kumimoji="1" lang="ja-JP" altLang="en-US" dirty="0"/>
              <a:t>第 </a:t>
            </a:r>
            <a:r>
              <a:rPr kumimoji="1" lang="en-US" altLang="ja-JP" dirty="0"/>
              <a:t>4 </a:t>
            </a:r>
            <a:r>
              <a:rPr kumimoji="1" lang="ja-JP" altLang="en-US" dirty="0"/>
              <a:t>レベル</a:t>
            </a:r>
            <a:endParaRPr kumimoji="1" lang="en-US" altLang="ja-JP" dirty="0"/>
          </a:p>
          <a:p>
            <a:pPr lvl="0"/>
            <a:r>
              <a:rPr kumimoji="1" lang="en-US" altLang="ja-JP" dirty="0"/>
              <a:t>                </a:t>
            </a:r>
            <a:r>
              <a:rPr kumimoji="1" lang="ja-JP" altLang="en-US" dirty="0"/>
              <a:t>第 </a:t>
            </a:r>
            <a:r>
              <a:rPr kumimoji="1" lang="en-US" altLang="ja-JP" dirty="0"/>
              <a:t>5 </a:t>
            </a:r>
            <a:r>
              <a:rPr kumimoji="1" lang="ja-JP" altLang="en-US" dirty="0"/>
              <a:t>レベル</a:t>
            </a:r>
          </a:p>
        </p:txBody>
      </p:sp>
      <p:sp>
        <p:nvSpPr>
          <p:cNvPr id="2" name="テキスト プレースホルダー 5">
            <a:extLst>
              <a:ext uri="{FF2B5EF4-FFF2-40B4-BE49-F238E27FC236}">
                <a16:creationId xmlns:a16="http://schemas.microsoft.com/office/drawing/2014/main" id="{E3608D3A-D713-9C65-0CEC-BF9323C4298D}"/>
              </a:ext>
            </a:extLst>
          </p:cNvPr>
          <p:cNvSpPr txBox="1">
            <a:spLocks/>
          </p:cNvSpPr>
          <p:nvPr userDrawn="1"/>
        </p:nvSpPr>
        <p:spPr>
          <a:xfrm>
            <a:off x="9498151" y="6726013"/>
            <a:ext cx="2345646"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25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rPr>
              <a:t>Copyright © Tokyo University of Science All Rights Reserved.</a:t>
            </a:r>
            <a:endParaRPr kumimoji="1" lang="ja-JP" altLang="en-US"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endParaRPr>
          </a:p>
        </p:txBody>
      </p:sp>
    </p:spTree>
    <p:extLst>
      <p:ext uri="{BB962C8B-B14F-4D97-AF65-F5344CB8AC3E}">
        <p14:creationId xmlns:p14="http://schemas.microsoft.com/office/powerpoint/2010/main" val="3889103960"/>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9" r:id="rId6"/>
    <p:sldLayoutId id="2147483661" r:id="rId7"/>
  </p:sldLayoutIdLst>
  <p:txStyles>
    <p:titleStyle>
      <a:lvl1pPr algn="l" defTabSz="914400" rtl="0" eaLnBrk="1" latinLnBrk="0" hangingPunct="1">
        <a:lnSpc>
          <a:spcPct val="120000"/>
        </a:lnSpc>
        <a:spcBef>
          <a:spcPct val="0"/>
        </a:spcBef>
        <a:buNone/>
        <a:defRPr kumimoji="1" sz="2800" b="1" kern="1200">
          <a:solidFill>
            <a:schemeClr val="tx1"/>
          </a:solidFill>
          <a:latin typeface="+mj-lt"/>
          <a:ea typeface="+mj-ea"/>
          <a:cs typeface="+mj-cs"/>
        </a:defRPr>
      </a:lvl1pPr>
    </p:titleStyle>
    <p:bodyStyle>
      <a:lvl1pPr marL="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1pPr>
      <a:lvl2pPr marL="17780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2pPr>
      <a:lvl3pPr marL="5349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3pPr>
      <a:lvl4pPr marL="803275"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4pPr>
      <a:lvl5pPr marL="10810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9" name="タイトル プレースホルダー 98">
            <a:extLst>
              <a:ext uri="{FF2B5EF4-FFF2-40B4-BE49-F238E27FC236}">
                <a16:creationId xmlns:a16="http://schemas.microsoft.com/office/drawing/2014/main" id="{509C3BC1-5883-20B0-3CA4-D36A56AEB5A6}"/>
              </a:ext>
            </a:extLst>
          </p:cNvPr>
          <p:cNvSpPr>
            <a:spLocks noGrp="1"/>
          </p:cNvSpPr>
          <p:nvPr userDrawn="1">
            <p:ph type="title"/>
          </p:nvPr>
        </p:nvSpPr>
        <p:spPr>
          <a:xfrm>
            <a:off x="1055688" y="518400"/>
            <a:ext cx="10693400" cy="551561"/>
          </a:xfrm>
          <a:prstGeom prst="rect">
            <a:avLst/>
          </a:prstGeom>
        </p:spPr>
        <p:txBody>
          <a:bodyPr vert="horz" wrap="square" lIns="0" tIns="0" rIns="0" bIns="0" rtlCol="0" anchor="t" anchorCtr="0">
            <a:spAutoFit/>
          </a:bodyPr>
          <a:lstStyle/>
          <a:p>
            <a:r>
              <a:rPr kumimoji="1" lang="en-US" altLang="ja-JP" dirty="0"/>
              <a:t>Title Style</a:t>
            </a:r>
            <a:endParaRPr kumimoji="1" lang="ja-JP" altLang="en-US" dirty="0"/>
          </a:p>
        </p:txBody>
      </p:sp>
      <p:sp>
        <p:nvSpPr>
          <p:cNvPr id="100" name="テキスト プレースホルダー 99">
            <a:extLst>
              <a:ext uri="{FF2B5EF4-FFF2-40B4-BE49-F238E27FC236}">
                <a16:creationId xmlns:a16="http://schemas.microsoft.com/office/drawing/2014/main" id="{A8403A88-8D11-F853-BC8F-6A33B27B251E}"/>
              </a:ext>
            </a:extLst>
          </p:cNvPr>
          <p:cNvSpPr>
            <a:spLocks noGrp="1"/>
          </p:cNvSpPr>
          <p:nvPr userDrawn="1">
            <p:ph type="body" idx="1"/>
          </p:nvPr>
        </p:nvSpPr>
        <p:spPr>
          <a:xfrm>
            <a:off x="1055688" y="1224000"/>
            <a:ext cx="10693399" cy="2687600"/>
          </a:xfrm>
          <a:prstGeom prst="rect">
            <a:avLst/>
          </a:prstGeom>
        </p:spPr>
        <p:txBody>
          <a:bodyPr vert="horz" wrap="square" lIns="0" tIns="0" rIns="0" bIns="0" rtlCol="0">
            <a:noAutofit/>
          </a:bodyPr>
          <a:lstStyle/>
          <a:p>
            <a:pPr lvl="0"/>
            <a:r>
              <a:rPr kumimoji="1" lang="en-US" altLang="ja-JP" dirty="0"/>
              <a:t>Text</a:t>
            </a:r>
            <a:r>
              <a:rPr kumimoji="1" lang="ja-JP" altLang="en-US" dirty="0"/>
              <a:t> </a:t>
            </a:r>
            <a:r>
              <a:rPr kumimoji="1" lang="en-US" altLang="ja-JP" dirty="0"/>
              <a:t>Style</a:t>
            </a:r>
          </a:p>
          <a:p>
            <a:pPr lvl="0"/>
            <a:r>
              <a:rPr kumimoji="1" lang="en-US" altLang="ja-JP" dirty="0"/>
              <a:t>    level 2</a:t>
            </a:r>
          </a:p>
          <a:p>
            <a:pPr lvl="0"/>
            <a:r>
              <a:rPr kumimoji="1" lang="en-US" altLang="ja-JP" dirty="0"/>
              <a:t>        level 3</a:t>
            </a:r>
          </a:p>
          <a:p>
            <a:pPr lvl="0"/>
            <a:r>
              <a:rPr kumimoji="1" lang="en-US" altLang="ja-JP" dirty="0"/>
              <a:t>            level 4</a:t>
            </a:r>
          </a:p>
          <a:p>
            <a:pPr lvl="0"/>
            <a:r>
              <a:rPr kumimoji="1" lang="en-US" altLang="ja-JP" dirty="0"/>
              <a:t>                level 5</a:t>
            </a:r>
            <a:endParaRPr kumimoji="1" lang="ja-JP" altLang="en-US" dirty="0"/>
          </a:p>
        </p:txBody>
      </p:sp>
      <p:sp>
        <p:nvSpPr>
          <p:cNvPr id="2" name="テキスト プレースホルダー 5">
            <a:extLst>
              <a:ext uri="{FF2B5EF4-FFF2-40B4-BE49-F238E27FC236}">
                <a16:creationId xmlns:a16="http://schemas.microsoft.com/office/drawing/2014/main" id="{E3608D3A-D713-9C65-0CEC-BF9323C4298D}"/>
              </a:ext>
            </a:extLst>
          </p:cNvPr>
          <p:cNvSpPr txBox="1">
            <a:spLocks/>
          </p:cNvSpPr>
          <p:nvPr userDrawn="1"/>
        </p:nvSpPr>
        <p:spPr>
          <a:xfrm>
            <a:off x="9498151" y="6726013"/>
            <a:ext cx="2345646" cy="111668"/>
          </a:xfrm>
          <a:prstGeom prst="rect">
            <a:avLst/>
          </a:prstGeom>
        </p:spPr>
        <p:txBody>
          <a:bodyPr vert="horz" wrap="square" lIns="0" tIns="0" rIns="0" bIns="0" rtlCol="0">
            <a:normAutofit fontScale="40000" lnSpcReduction="20000"/>
          </a:bodyPr>
          <a:lstStyle>
            <a:lvl1pPr marL="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1pPr>
            <a:lvl2pPr marL="177800"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2pPr>
            <a:lvl3pPr marL="5349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3pPr>
            <a:lvl4pPr marL="803275"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4pPr>
            <a:lvl5pPr marL="1081088" indent="0" algn="l" defTabSz="914400" rtl="0" eaLnBrk="1" latinLnBrk="0" hangingPunct="1">
              <a:lnSpc>
                <a:spcPct val="125000"/>
              </a:lnSpc>
              <a:spcBef>
                <a:spcPts val="0"/>
              </a:spcBef>
              <a:buFontTx/>
              <a:buNone/>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400" rtl="0" eaLnBrk="1" fontAlgn="auto" latinLnBrk="0" hangingPunct="1">
              <a:lnSpc>
                <a:spcPct val="125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rPr>
              <a:t>Copyright © Tokyo University of Science All Rights Reserved.</a:t>
            </a:r>
            <a:endParaRPr kumimoji="1" lang="ja-JP" altLang="en-US" sz="1600" b="0" i="0" u="none" strike="noStrike" kern="1200" cap="none" spc="0" normalizeH="0" baseline="0" noProof="0" dirty="0">
              <a:ln>
                <a:noFill/>
              </a:ln>
              <a:solidFill>
                <a:srgbClr val="3C3C3C"/>
              </a:solidFill>
              <a:effectLst/>
              <a:uLnTx/>
              <a:uFillTx/>
              <a:latin typeface="Bahnschrift" panose="020B0502040204020203" pitchFamily="34" charset="0"/>
              <a:ea typeface="BIZ UDPゴシック"/>
              <a:cs typeface="Arial" panose="020B0604020202020204" pitchFamily="34" charset="0"/>
            </a:endParaRPr>
          </a:p>
        </p:txBody>
      </p:sp>
    </p:spTree>
    <p:extLst>
      <p:ext uri="{BB962C8B-B14F-4D97-AF65-F5344CB8AC3E}">
        <p14:creationId xmlns:p14="http://schemas.microsoft.com/office/powerpoint/2010/main" val="274881533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8" r:id="rId3"/>
    <p:sldLayoutId id="2147483685" r:id="rId4"/>
    <p:sldLayoutId id="2147483686" r:id="rId5"/>
    <p:sldLayoutId id="2147483690" r:id="rId6"/>
    <p:sldLayoutId id="2147483687" r:id="rId7"/>
  </p:sldLayoutIdLst>
  <p:txStyles>
    <p:titleStyle>
      <a:lvl1pPr algn="l" defTabSz="914400" rtl="0" eaLnBrk="1" latinLnBrk="0" hangingPunct="1">
        <a:lnSpc>
          <a:spcPct val="120000"/>
        </a:lnSpc>
        <a:spcBef>
          <a:spcPct val="0"/>
        </a:spcBef>
        <a:buNone/>
        <a:defRPr kumimoji="1" sz="3200" b="1"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120000"/>
        </a:lnSpc>
        <a:spcBef>
          <a:spcPts val="0"/>
        </a:spcBef>
        <a:spcAft>
          <a:spcPts val="300"/>
        </a:spcAft>
        <a:buFontTx/>
        <a:buNone/>
        <a:defRPr kumimoji="1" sz="2800" kern="1200">
          <a:solidFill>
            <a:schemeClr val="tx1"/>
          </a:solidFill>
          <a:latin typeface="Calibri" panose="020F0502020204030204" pitchFamily="34" charset="0"/>
          <a:ea typeface="+mn-ea"/>
          <a:cs typeface="Calibri" panose="020F0502020204030204" pitchFamily="34" charset="0"/>
        </a:defRPr>
      </a:lvl1pPr>
      <a:lvl2pPr marL="177800" indent="0" algn="l" defTabSz="914400" rtl="0" eaLnBrk="1" latinLnBrk="0" hangingPunct="1">
        <a:lnSpc>
          <a:spcPct val="120000"/>
        </a:lnSpc>
        <a:spcBef>
          <a:spcPts val="0"/>
        </a:spcBef>
        <a:spcAft>
          <a:spcPts val="300"/>
        </a:spcAft>
        <a:buFontTx/>
        <a:buNone/>
        <a:defRPr kumimoji="1" sz="2800" kern="1200">
          <a:solidFill>
            <a:schemeClr val="tx1"/>
          </a:solidFill>
          <a:latin typeface="Calibri" panose="020F0502020204030204" pitchFamily="34" charset="0"/>
          <a:ea typeface="+mn-ea"/>
          <a:cs typeface="Calibri" panose="020F0502020204030204" pitchFamily="34" charset="0"/>
        </a:defRPr>
      </a:lvl2pPr>
      <a:lvl3pPr marL="534988" indent="0" algn="l" defTabSz="914400" rtl="0" eaLnBrk="1" latinLnBrk="0" hangingPunct="1">
        <a:lnSpc>
          <a:spcPct val="120000"/>
        </a:lnSpc>
        <a:spcBef>
          <a:spcPts val="0"/>
        </a:spcBef>
        <a:spcAft>
          <a:spcPts val="300"/>
        </a:spcAft>
        <a:buFontTx/>
        <a:buNone/>
        <a:defRPr kumimoji="1" sz="2800" kern="1200">
          <a:solidFill>
            <a:schemeClr val="tx1"/>
          </a:solidFill>
          <a:latin typeface="Calibri" panose="020F0502020204030204" pitchFamily="34" charset="0"/>
          <a:ea typeface="+mn-ea"/>
          <a:cs typeface="Calibri" panose="020F0502020204030204" pitchFamily="34" charset="0"/>
        </a:defRPr>
      </a:lvl3pPr>
      <a:lvl4pPr marL="803275" indent="0" algn="l" defTabSz="914400" rtl="0" eaLnBrk="1" latinLnBrk="0" hangingPunct="1">
        <a:lnSpc>
          <a:spcPct val="120000"/>
        </a:lnSpc>
        <a:spcBef>
          <a:spcPts val="0"/>
        </a:spcBef>
        <a:spcAft>
          <a:spcPts val="300"/>
        </a:spcAft>
        <a:buFontTx/>
        <a:buNone/>
        <a:defRPr kumimoji="1" sz="2800" kern="1200">
          <a:solidFill>
            <a:schemeClr val="tx1"/>
          </a:solidFill>
          <a:latin typeface="Calibri" panose="020F0502020204030204" pitchFamily="34" charset="0"/>
          <a:ea typeface="+mn-ea"/>
          <a:cs typeface="Calibri" panose="020F0502020204030204" pitchFamily="34" charset="0"/>
        </a:defRPr>
      </a:lvl4pPr>
      <a:lvl5pPr marL="1081088" indent="0" algn="l" defTabSz="914400" rtl="0" eaLnBrk="1" latinLnBrk="0" hangingPunct="1">
        <a:lnSpc>
          <a:spcPct val="120000"/>
        </a:lnSpc>
        <a:spcBef>
          <a:spcPts val="0"/>
        </a:spcBef>
        <a:spcAft>
          <a:spcPts val="300"/>
        </a:spcAft>
        <a:buFontTx/>
        <a:buNone/>
        <a:defRPr kumimoji="1" sz="2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56B79A9-9C15-1E8E-0E7A-689B09384A28}"/>
              </a:ext>
            </a:extLst>
          </p:cNvPr>
          <p:cNvSpPr>
            <a:spLocks noGrp="1"/>
          </p:cNvSpPr>
          <p:nvPr>
            <p:ph type="title"/>
          </p:nvPr>
        </p:nvSpPr>
        <p:spPr/>
        <p:txBody>
          <a:bodyPr/>
          <a:lstStyle/>
          <a:p>
            <a:r>
              <a:rPr lang="ja-JP" altLang="en-US" dirty="0"/>
              <a:t>せん妄研究進捗</a:t>
            </a:r>
          </a:p>
        </p:txBody>
      </p:sp>
      <p:sp>
        <p:nvSpPr>
          <p:cNvPr id="5" name="テキスト プレースホルダー 4">
            <a:extLst>
              <a:ext uri="{FF2B5EF4-FFF2-40B4-BE49-F238E27FC236}">
                <a16:creationId xmlns:a16="http://schemas.microsoft.com/office/drawing/2014/main" id="{59DF4ED6-88AA-A645-8AB3-621332D910B1}"/>
              </a:ext>
            </a:extLst>
          </p:cNvPr>
          <p:cNvSpPr>
            <a:spLocks noGrp="1"/>
          </p:cNvSpPr>
          <p:nvPr>
            <p:ph type="body" sz="quarter" idx="10"/>
          </p:nvPr>
        </p:nvSpPr>
        <p:spPr/>
        <p:txBody>
          <a:bodyPr/>
          <a:lstStyle/>
          <a:p>
            <a:r>
              <a:rPr lang="ja-JP" altLang="en-US" dirty="0"/>
              <a:t>東京理科大学大学院　松本研究室</a:t>
            </a:r>
            <a:br>
              <a:rPr lang="en-US" altLang="ja-JP" dirty="0"/>
            </a:br>
            <a:r>
              <a:rPr lang="ja-JP" altLang="en-US" sz="2800" dirty="0"/>
              <a:t>仁保貴耀</a:t>
            </a:r>
          </a:p>
        </p:txBody>
      </p:sp>
      <p:sp>
        <p:nvSpPr>
          <p:cNvPr id="6" name="テキスト プレースホルダー 5">
            <a:extLst>
              <a:ext uri="{FF2B5EF4-FFF2-40B4-BE49-F238E27FC236}">
                <a16:creationId xmlns:a16="http://schemas.microsoft.com/office/drawing/2014/main" id="{0A61B19A-86E3-069E-B08A-2FA76AB52D4E}"/>
              </a:ext>
            </a:extLst>
          </p:cNvPr>
          <p:cNvSpPr>
            <a:spLocks noGrp="1"/>
          </p:cNvSpPr>
          <p:nvPr>
            <p:ph type="body" sz="quarter" idx="12"/>
          </p:nvPr>
        </p:nvSpPr>
        <p:spPr/>
        <p:txBody>
          <a:bodyPr/>
          <a:lstStyle/>
          <a:p>
            <a:endParaRPr lang="ja-JP" altLang="en-US" dirty="0"/>
          </a:p>
        </p:txBody>
      </p:sp>
    </p:spTree>
    <p:extLst>
      <p:ext uri="{BB962C8B-B14F-4D97-AF65-F5344CB8AC3E}">
        <p14:creationId xmlns:p14="http://schemas.microsoft.com/office/powerpoint/2010/main" val="754158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BF937C-F577-6B3C-8C1C-F236DEA9C79A}"/>
              </a:ext>
            </a:extLst>
          </p:cNvPr>
          <p:cNvSpPr>
            <a:spLocks noGrp="1"/>
          </p:cNvSpPr>
          <p:nvPr>
            <p:ph type="title"/>
          </p:nvPr>
        </p:nvSpPr>
        <p:spPr/>
        <p:txBody>
          <a:bodyPr/>
          <a:lstStyle/>
          <a:p>
            <a:r>
              <a:rPr kumimoji="1" lang="ja-JP" altLang="en-US" dirty="0"/>
              <a:t>特徴抽出、特徴量設計（表情版）</a:t>
            </a:r>
          </a:p>
        </p:txBody>
      </p:sp>
      <p:sp>
        <p:nvSpPr>
          <p:cNvPr id="3" name="テキスト プレースホルダー 2">
            <a:extLst>
              <a:ext uri="{FF2B5EF4-FFF2-40B4-BE49-F238E27FC236}">
                <a16:creationId xmlns:a16="http://schemas.microsoft.com/office/drawing/2014/main" id="{D84BBC91-58B9-4FBE-AD50-379D5993CB75}"/>
              </a:ext>
            </a:extLst>
          </p:cNvPr>
          <p:cNvSpPr>
            <a:spLocks noGrp="1"/>
          </p:cNvSpPr>
          <p:nvPr>
            <p:ph type="body" sz="quarter" idx="10"/>
          </p:nvPr>
        </p:nvSpPr>
        <p:spPr>
          <a:xfrm>
            <a:off x="1097493" y="1036320"/>
            <a:ext cx="10654238" cy="5388660"/>
          </a:xfrm>
        </p:spPr>
        <p:txBody>
          <a:bodyPr/>
          <a:lstStyle/>
          <a:p>
            <a:pPr marL="342900" indent="-342900">
              <a:buFont typeface="Wingdings" panose="05000000000000000000" pitchFamily="2" charset="2"/>
              <a:buChar char="Ø"/>
            </a:pPr>
            <a:r>
              <a:rPr kumimoji="1" lang="ja-JP" altLang="en-US" dirty="0"/>
              <a:t>患者さんと医療関係者の会話場面を撮影し、医療関係者の質問部分と</a:t>
            </a:r>
            <a:br>
              <a:rPr lang="en-US" altLang="ja-JP" dirty="0"/>
            </a:br>
            <a:r>
              <a:rPr kumimoji="1" lang="ja-JP" altLang="en-US" dirty="0"/>
              <a:t>患者さんの応答部分、会話全体の</a:t>
            </a:r>
            <a:r>
              <a:rPr kumimoji="1" lang="en-US" altLang="ja-JP" dirty="0"/>
              <a:t>3</a:t>
            </a:r>
            <a:r>
              <a:rPr kumimoji="1" lang="ja-JP" altLang="en-US" dirty="0"/>
              <a:t>つにアノテーションを実施</a:t>
            </a:r>
            <a:endParaRPr lang="en-US" altLang="ja-JP" dirty="0"/>
          </a:p>
          <a:p>
            <a:pPr marL="342900" indent="-342900">
              <a:buFont typeface="Wingdings" panose="05000000000000000000" pitchFamily="2" charset="2"/>
              <a:buChar char="Ø"/>
            </a:pPr>
            <a:r>
              <a:rPr kumimoji="1" lang="en-US" altLang="ja-JP" dirty="0" err="1"/>
              <a:t>Pyfeat</a:t>
            </a:r>
            <a:r>
              <a:rPr kumimoji="1" lang="ja-JP" altLang="en-US" dirty="0"/>
              <a:t>によって</a:t>
            </a:r>
            <a:r>
              <a:rPr kumimoji="1" lang="en-US" altLang="ja-JP" dirty="0"/>
              <a:t>17</a:t>
            </a:r>
            <a:r>
              <a:rPr kumimoji="1" lang="ja-JP" altLang="en-US" dirty="0"/>
              <a:t>種類の</a:t>
            </a:r>
            <a:r>
              <a:rPr kumimoji="1" lang="en-US" altLang="ja-JP" dirty="0"/>
              <a:t>Facial Action Unit(AU)</a:t>
            </a:r>
            <a:r>
              <a:rPr lang="ja-JP" altLang="en-US" dirty="0"/>
              <a:t>を抽出し、今回は</a:t>
            </a:r>
            <a:br>
              <a:rPr lang="en-US" altLang="ja-JP" dirty="0"/>
            </a:br>
            <a:r>
              <a:rPr lang="ja-JP" altLang="en-US" dirty="0"/>
              <a:t>患者さんの応答部分の先頭</a:t>
            </a:r>
            <a:r>
              <a:rPr lang="en-US" altLang="ja-JP" dirty="0"/>
              <a:t>30</a:t>
            </a:r>
            <a:r>
              <a:rPr lang="ja-JP" altLang="en-US" dirty="0"/>
              <a:t>あるいは</a:t>
            </a:r>
            <a:r>
              <a:rPr lang="en-US" altLang="ja-JP" dirty="0"/>
              <a:t>10</a:t>
            </a:r>
            <a:r>
              <a:rPr lang="ja-JP" altLang="en-US" dirty="0"/>
              <a:t>フレームを使用する</a:t>
            </a:r>
            <a:endParaRPr lang="en-US" altLang="ja-JP" dirty="0"/>
          </a:p>
          <a:p>
            <a:pPr marL="342900" indent="-342900">
              <a:buFont typeface="Wingdings" panose="05000000000000000000" pitchFamily="2" charset="2"/>
              <a:buChar char="Ø"/>
            </a:pPr>
            <a:endParaRPr lang="en-US" altLang="ja-JP" dirty="0"/>
          </a:p>
          <a:p>
            <a:pPr marL="342900" indent="-342900">
              <a:buFont typeface="Wingdings" panose="05000000000000000000" pitchFamily="2" charset="2"/>
              <a:buChar char="Ø"/>
            </a:pPr>
            <a:r>
              <a:rPr lang="en-US" altLang="ja-JP" dirty="0"/>
              <a:t>9</a:t>
            </a:r>
            <a:r>
              <a:rPr lang="ja-JP" altLang="en-US" dirty="0"/>
              <a:t>通りの特徴量設計</a:t>
            </a:r>
            <a:endParaRPr lang="en-US" altLang="ja-JP" dirty="0"/>
          </a:p>
          <a:p>
            <a:pPr marL="520700" lvl="1" indent="-342900">
              <a:buFont typeface="Arial" panose="020B0604020202020204" pitchFamily="34" charset="0"/>
              <a:buChar char="•"/>
            </a:pPr>
            <a:r>
              <a:rPr lang="ja-JP" altLang="en-US" sz="2000" dirty="0"/>
              <a:t>平均（</a:t>
            </a:r>
            <a:r>
              <a:rPr lang="en-US" altLang="ja-JP" sz="2000" dirty="0"/>
              <a:t>30</a:t>
            </a:r>
            <a:r>
              <a:rPr lang="ja-JP" altLang="en-US" sz="2000" dirty="0"/>
              <a:t>、</a:t>
            </a:r>
            <a:r>
              <a:rPr lang="en-US" altLang="ja-JP" sz="2000" dirty="0"/>
              <a:t>10</a:t>
            </a:r>
            <a:r>
              <a:rPr lang="ja-JP" altLang="en-US" sz="2000" dirty="0"/>
              <a:t>フレーム）</a:t>
            </a:r>
            <a:endParaRPr lang="en-US" altLang="ja-JP" sz="2000" dirty="0"/>
          </a:p>
          <a:p>
            <a:pPr marL="520700" lvl="1" indent="-342900">
              <a:buFont typeface="Arial" panose="020B0604020202020204" pitchFamily="34" charset="0"/>
              <a:buChar char="•"/>
            </a:pPr>
            <a:r>
              <a:rPr lang="ja-JP" altLang="en-US" sz="2000" dirty="0"/>
              <a:t>標準偏差（</a:t>
            </a:r>
            <a:r>
              <a:rPr lang="en-US" altLang="ja-JP" sz="2000" dirty="0"/>
              <a:t>30</a:t>
            </a:r>
            <a:r>
              <a:rPr lang="ja-JP" altLang="en-US" sz="2000" dirty="0"/>
              <a:t>、</a:t>
            </a:r>
            <a:r>
              <a:rPr lang="en-US" altLang="ja-JP" sz="2000" dirty="0"/>
              <a:t>10</a:t>
            </a:r>
            <a:r>
              <a:rPr lang="ja-JP" altLang="en-US" sz="2000" dirty="0"/>
              <a:t>フレーム）</a:t>
            </a:r>
            <a:endParaRPr lang="en-US" altLang="ja-JP" sz="2000" dirty="0"/>
          </a:p>
          <a:p>
            <a:pPr marL="520700" lvl="1" indent="-342900">
              <a:buFont typeface="Arial" panose="020B0604020202020204" pitchFamily="34" charset="0"/>
              <a:buChar char="•"/>
            </a:pPr>
            <a:r>
              <a:rPr lang="ja-JP" altLang="en-US" sz="2000" dirty="0"/>
              <a:t>最大値（</a:t>
            </a:r>
            <a:r>
              <a:rPr lang="en-US" altLang="ja-JP" sz="2000" dirty="0"/>
              <a:t>30</a:t>
            </a:r>
            <a:r>
              <a:rPr lang="ja-JP" altLang="en-US" sz="2000" dirty="0"/>
              <a:t>、</a:t>
            </a:r>
            <a:r>
              <a:rPr lang="en-US" altLang="ja-JP" sz="2000" dirty="0"/>
              <a:t>10</a:t>
            </a:r>
            <a:r>
              <a:rPr lang="ja-JP" altLang="en-US" sz="2000" dirty="0"/>
              <a:t>フレーム）</a:t>
            </a:r>
            <a:endParaRPr lang="en-US" altLang="ja-JP" sz="2000" dirty="0"/>
          </a:p>
          <a:p>
            <a:pPr marL="520700" lvl="1" indent="-342900">
              <a:buFont typeface="Arial" panose="020B0604020202020204" pitchFamily="34" charset="0"/>
              <a:buChar char="•"/>
            </a:pPr>
            <a:r>
              <a:rPr lang="ja-JP" altLang="en-US" sz="2000" dirty="0"/>
              <a:t>最大値と最小値の差分（</a:t>
            </a:r>
            <a:r>
              <a:rPr lang="en-US" altLang="ja-JP" sz="2000" dirty="0"/>
              <a:t>30</a:t>
            </a:r>
            <a:r>
              <a:rPr lang="ja-JP" altLang="en-US" sz="2000" dirty="0"/>
              <a:t>、</a:t>
            </a:r>
            <a:r>
              <a:rPr lang="en-US" altLang="ja-JP" sz="2000" dirty="0"/>
              <a:t>10</a:t>
            </a:r>
            <a:r>
              <a:rPr lang="ja-JP" altLang="en-US" sz="2000" dirty="0"/>
              <a:t>フレーム）</a:t>
            </a:r>
            <a:endParaRPr lang="en-US" altLang="ja-JP" sz="2000" dirty="0"/>
          </a:p>
          <a:p>
            <a:pPr marL="520700" lvl="1" indent="-342900">
              <a:buFont typeface="Arial" panose="020B0604020202020204" pitchFamily="34" charset="0"/>
              <a:buChar char="•"/>
            </a:pPr>
            <a:r>
              <a:rPr lang="ja-JP" altLang="en-US" sz="2000" dirty="0"/>
              <a:t>前後</a:t>
            </a:r>
            <a:r>
              <a:rPr lang="en-US" altLang="ja-JP" sz="2000" dirty="0"/>
              <a:t>1</a:t>
            </a:r>
            <a:r>
              <a:rPr lang="ja-JP" altLang="en-US" sz="2000" dirty="0"/>
              <a:t>フレームの差分の標準偏差（</a:t>
            </a:r>
            <a:r>
              <a:rPr lang="en-US" altLang="ja-JP" sz="2000" dirty="0"/>
              <a:t>30</a:t>
            </a:r>
            <a:r>
              <a:rPr lang="ja-JP" altLang="en-US" sz="2000" dirty="0"/>
              <a:t>フレーム）</a:t>
            </a:r>
            <a:endParaRPr lang="en-US" altLang="ja-JP" sz="2000" dirty="0"/>
          </a:p>
          <a:p>
            <a:pPr lvl="1"/>
            <a:r>
              <a:rPr lang="ja-JP" altLang="en-US" sz="2000" dirty="0"/>
              <a:t>を質問ごとにこれらの統計量を計算</a:t>
            </a:r>
            <a:endParaRPr lang="en-US" altLang="ja-JP" sz="2000" dirty="0"/>
          </a:p>
          <a:p>
            <a:pPr lvl="1"/>
            <a:endParaRPr lang="en-US" altLang="ja-JP" sz="2000" dirty="0"/>
          </a:p>
        </p:txBody>
      </p:sp>
    </p:spTree>
    <p:extLst>
      <p:ext uri="{BB962C8B-B14F-4D97-AF65-F5344CB8AC3E}">
        <p14:creationId xmlns:p14="http://schemas.microsoft.com/office/powerpoint/2010/main" val="1052658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EC7BA-1D61-FF2C-3ACF-7D49B4947A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C1C7B7-22CC-B91D-8D2E-3454E63C3728}"/>
              </a:ext>
            </a:extLst>
          </p:cNvPr>
          <p:cNvSpPr>
            <a:spLocks noGrp="1"/>
          </p:cNvSpPr>
          <p:nvPr>
            <p:ph type="title"/>
          </p:nvPr>
        </p:nvSpPr>
        <p:spPr/>
        <p:txBody>
          <a:bodyPr/>
          <a:lstStyle/>
          <a:p>
            <a:r>
              <a:rPr lang="ja-JP" altLang="en-US" dirty="0"/>
              <a:t>機械学習の学習方法（表情版）</a:t>
            </a:r>
            <a:endParaRPr kumimoji="1" lang="ja-JP" altLang="en-US" dirty="0"/>
          </a:p>
        </p:txBody>
      </p:sp>
      <p:sp>
        <p:nvSpPr>
          <p:cNvPr id="3" name="テキスト プレースホルダー 2">
            <a:extLst>
              <a:ext uri="{FF2B5EF4-FFF2-40B4-BE49-F238E27FC236}">
                <a16:creationId xmlns:a16="http://schemas.microsoft.com/office/drawing/2014/main" id="{11F7794B-935B-AE73-8766-0376B82F4CE1}"/>
              </a:ext>
            </a:extLst>
          </p:cNvPr>
          <p:cNvSpPr>
            <a:spLocks noGrp="1"/>
          </p:cNvSpPr>
          <p:nvPr>
            <p:ph type="body" sz="quarter" idx="10"/>
          </p:nvPr>
        </p:nvSpPr>
        <p:spPr>
          <a:xfrm>
            <a:off x="1098020" y="1067708"/>
            <a:ext cx="10736627" cy="5333599"/>
          </a:xfrm>
        </p:spPr>
        <p:txBody>
          <a:bodyPr/>
          <a:lstStyle/>
          <a:p>
            <a:pPr marL="342900" indent="-342900">
              <a:buFont typeface="Wingdings" panose="05000000000000000000" pitchFamily="2" charset="2"/>
              <a:buChar char="Ø"/>
            </a:pPr>
            <a:r>
              <a:rPr lang="ja-JP" altLang="en-US" dirty="0"/>
              <a:t>使用データ</a:t>
            </a:r>
            <a:endParaRPr lang="en-US" altLang="ja-JP" dirty="0"/>
          </a:p>
          <a:p>
            <a:pPr marL="520700" lvl="1" indent="-342900">
              <a:buFont typeface="Arial" panose="020B0604020202020204" pitchFamily="34" charset="0"/>
              <a:buChar char="•"/>
            </a:pPr>
            <a:r>
              <a:rPr lang="ja-JP" altLang="en-US" dirty="0"/>
              <a:t>患者数：</a:t>
            </a:r>
            <a:r>
              <a:rPr lang="en-US" altLang="ja-JP" dirty="0"/>
              <a:t>31</a:t>
            </a:r>
            <a:r>
              <a:rPr lang="ja-JP" altLang="en-US" dirty="0"/>
              <a:t>名</a:t>
            </a:r>
            <a:r>
              <a:rPr lang="en-US" altLang="ja-JP" dirty="0"/>
              <a:t>(</a:t>
            </a:r>
            <a:r>
              <a:rPr lang="ja-JP" altLang="en-US" dirty="0"/>
              <a:t>患者さん</a:t>
            </a:r>
            <a:r>
              <a:rPr lang="en-US" altLang="ja-JP" dirty="0"/>
              <a:t>1</a:t>
            </a:r>
            <a:r>
              <a:rPr lang="ja-JP" altLang="en-US" dirty="0"/>
              <a:t>人につき約１０</a:t>
            </a:r>
            <a:r>
              <a:rPr lang="en-US" altLang="ja-JP" dirty="0"/>
              <a:t>×17</a:t>
            </a:r>
            <a:r>
              <a:rPr lang="ja-JP" altLang="en-US" dirty="0"/>
              <a:t>＝</a:t>
            </a:r>
            <a:r>
              <a:rPr lang="en-US" altLang="ja-JP" dirty="0"/>
              <a:t>170</a:t>
            </a:r>
            <a:r>
              <a:rPr lang="ja-JP" altLang="en-US" dirty="0"/>
              <a:t>次元</a:t>
            </a:r>
            <a:r>
              <a:rPr lang="en-US" altLang="ja-JP" dirty="0"/>
              <a:t>)</a:t>
            </a:r>
          </a:p>
          <a:p>
            <a:pPr marL="342900" indent="-342900">
              <a:buFont typeface="Wingdings" panose="05000000000000000000" pitchFamily="2" charset="2"/>
              <a:buChar char="Ø"/>
            </a:pPr>
            <a:r>
              <a:rPr lang="ja-JP" altLang="en-US" dirty="0"/>
              <a:t>機械学習手法</a:t>
            </a:r>
            <a:endParaRPr lang="en-US" altLang="ja-JP" dirty="0"/>
          </a:p>
          <a:p>
            <a:pPr marL="520700" lvl="1" indent="-342900">
              <a:buFont typeface="Arial" panose="020B0604020202020204" pitchFamily="34" charset="0"/>
              <a:buChar char="•"/>
            </a:pPr>
            <a:r>
              <a:rPr lang="ja-JP" altLang="en-US" sz="2000" dirty="0"/>
              <a:t>学習器：線形回帰、ロジスティック回帰、</a:t>
            </a:r>
            <a:r>
              <a:rPr lang="en-US" altLang="ja-JP" sz="2000" dirty="0"/>
              <a:t>SVM</a:t>
            </a:r>
            <a:r>
              <a:rPr lang="ja-JP" altLang="en-US" sz="2000" dirty="0"/>
              <a:t>、決定木、ランダムフォレスト、</a:t>
            </a:r>
            <a:r>
              <a:rPr lang="en-US" altLang="ja-JP" sz="2000" dirty="0"/>
              <a:t>XGBoost</a:t>
            </a:r>
            <a:r>
              <a:rPr lang="ja-JP" altLang="en-US" sz="2000" dirty="0"/>
              <a:t>、</a:t>
            </a:r>
            <a:r>
              <a:rPr lang="en-US" altLang="ja-JP" sz="2000" dirty="0" err="1"/>
              <a:t>kNN</a:t>
            </a:r>
            <a:br>
              <a:rPr lang="en-US" altLang="ja-JP" sz="2000" dirty="0"/>
            </a:br>
            <a:r>
              <a:rPr lang="ja-JP" altLang="en-US" sz="2000" dirty="0"/>
              <a:t>探索的研究ということで、様々な手法を試してみようという目的から</a:t>
            </a:r>
            <a:endParaRPr lang="en-US" altLang="ja-JP" sz="2000" dirty="0"/>
          </a:p>
          <a:p>
            <a:pPr marL="520700" lvl="1" indent="-342900">
              <a:buFont typeface="Arial" panose="020B0604020202020204" pitchFamily="34" charset="0"/>
              <a:buChar char="•"/>
            </a:pPr>
            <a:endParaRPr kumimoji="1" lang="en-US" altLang="ja-JP" sz="2000" dirty="0"/>
          </a:p>
          <a:p>
            <a:pPr marL="520700" lvl="1" indent="-342900">
              <a:buFont typeface="Arial" panose="020B0604020202020204" pitchFamily="34" charset="0"/>
              <a:buChar char="•"/>
            </a:pPr>
            <a:r>
              <a:rPr kumimoji="1" lang="ja-JP" altLang="en-US" sz="2000" dirty="0"/>
              <a:t>データ分割手法：</a:t>
            </a:r>
            <a:r>
              <a:rPr kumimoji="1" lang="en-US" altLang="ja-JP" sz="2000" dirty="0"/>
              <a:t>Leave-one-person-out</a:t>
            </a:r>
            <a:br>
              <a:rPr kumimoji="1" lang="en-US" altLang="ja-JP" sz="2000" dirty="0"/>
            </a:br>
            <a:r>
              <a:rPr kumimoji="1" lang="en-US" altLang="ja-JP" sz="2000" dirty="0"/>
              <a:t>1. </a:t>
            </a:r>
            <a:r>
              <a:rPr kumimoji="1" lang="ja-JP" altLang="en-US" sz="2000" dirty="0"/>
              <a:t>患者さん</a:t>
            </a:r>
            <a:r>
              <a:rPr kumimoji="1" lang="en-US" altLang="ja-JP" sz="2000" dirty="0"/>
              <a:t>1</a:t>
            </a:r>
            <a:r>
              <a:rPr lang="ja-JP" altLang="en-US" sz="2000" dirty="0"/>
              <a:t>名分を検証データ、残りを学習データに分割</a:t>
            </a:r>
            <a:br>
              <a:rPr lang="en-US" altLang="ja-JP" sz="2000" dirty="0"/>
            </a:br>
            <a:r>
              <a:rPr lang="en-US" altLang="ja-JP" sz="2000" dirty="0"/>
              <a:t>2. </a:t>
            </a:r>
            <a:r>
              <a:rPr lang="ja-JP" altLang="en-US" sz="2000" dirty="0"/>
              <a:t>学習・評価を行う</a:t>
            </a:r>
            <a:br>
              <a:rPr lang="en-US" altLang="ja-JP" sz="2000" dirty="0"/>
            </a:br>
            <a:r>
              <a:rPr lang="en-US" altLang="ja-JP" sz="2000" dirty="0"/>
              <a:t>3</a:t>
            </a:r>
            <a:r>
              <a:rPr lang="ja-JP" altLang="en-US" sz="2000" dirty="0"/>
              <a:t>．検証データを入れ替えて</a:t>
            </a:r>
            <a:r>
              <a:rPr lang="en-US" altLang="ja-JP" sz="2000" dirty="0"/>
              <a:t>1.2</a:t>
            </a:r>
            <a:r>
              <a:rPr lang="ja-JP" altLang="en-US" sz="2000" dirty="0"/>
              <a:t>を繰り返す</a:t>
            </a:r>
            <a:endParaRPr lang="en-US" altLang="ja-JP" sz="2000" dirty="0"/>
          </a:p>
          <a:p>
            <a:pPr marL="520700" lvl="1" indent="-342900">
              <a:buFont typeface="Arial" panose="020B0604020202020204" pitchFamily="34" charset="0"/>
              <a:buChar char="•"/>
            </a:pPr>
            <a:endParaRPr kumimoji="1" lang="en-US" altLang="ja-JP" sz="2000" dirty="0"/>
          </a:p>
          <a:p>
            <a:pPr marL="520700" lvl="1" indent="-342900">
              <a:buFont typeface="Arial" panose="020B0604020202020204" pitchFamily="34" charset="0"/>
              <a:buChar char="•"/>
            </a:pPr>
            <a:r>
              <a:rPr lang="ja-JP" altLang="en-US" sz="2000" dirty="0"/>
              <a:t>精度の算出方法</a:t>
            </a:r>
            <a:br>
              <a:rPr lang="en-US" altLang="ja-JP" sz="2000" dirty="0"/>
            </a:br>
            <a:r>
              <a:rPr lang="ja-JP" altLang="en-US" sz="2000" dirty="0"/>
              <a:t>患者さん</a:t>
            </a:r>
            <a:r>
              <a:rPr lang="en-US" altLang="ja-JP" sz="2000" dirty="0"/>
              <a:t>1</a:t>
            </a:r>
            <a:r>
              <a:rPr lang="ja-JP" altLang="en-US" sz="2000" dirty="0"/>
              <a:t>人につき１０個の結果が得られ、多数決でその患者さんのクラスを決定</a:t>
            </a:r>
            <a:br>
              <a:rPr lang="en-US" altLang="ja-JP" sz="2000" dirty="0"/>
            </a:br>
            <a:r>
              <a:rPr lang="ja-JP" altLang="en-US" sz="2000" dirty="0"/>
              <a:t>すべての患者さんの学習・評価の結果から、感度・特異度を算出</a:t>
            </a:r>
            <a:endParaRPr kumimoji="1" lang="en-US" altLang="ja-JP" dirty="0"/>
          </a:p>
          <a:p>
            <a:pPr marL="877888" lvl="2" indent="-342900">
              <a:buFont typeface="Arial" panose="020B0604020202020204" pitchFamily="34" charset="0"/>
              <a:buChar char="•"/>
            </a:pPr>
            <a:endParaRPr kumimoji="1" lang="en-US" altLang="ja-JP" dirty="0"/>
          </a:p>
        </p:txBody>
      </p:sp>
    </p:spTree>
    <p:extLst>
      <p:ext uri="{BB962C8B-B14F-4D97-AF65-F5344CB8AC3E}">
        <p14:creationId xmlns:p14="http://schemas.microsoft.com/office/powerpoint/2010/main" val="1914698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32AF3-99D8-05C7-D004-A027410636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77B025-DD31-6F7F-0976-43F4A2AA1146}"/>
              </a:ext>
            </a:extLst>
          </p:cNvPr>
          <p:cNvSpPr>
            <a:spLocks noGrp="1"/>
          </p:cNvSpPr>
          <p:nvPr>
            <p:ph type="title"/>
          </p:nvPr>
        </p:nvSpPr>
        <p:spPr/>
        <p:txBody>
          <a:bodyPr/>
          <a:lstStyle/>
          <a:p>
            <a:r>
              <a:rPr kumimoji="1" lang="ja-JP" altLang="en-US" dirty="0"/>
              <a:t>結果①</a:t>
            </a:r>
            <a:r>
              <a:rPr lang="ja-JP" altLang="en-US" dirty="0"/>
              <a:t>（表情のみを特徴量）</a:t>
            </a:r>
            <a:endParaRPr kumimoji="1" lang="ja-JP" altLang="en-US" dirty="0"/>
          </a:p>
        </p:txBody>
      </p:sp>
      <p:sp>
        <p:nvSpPr>
          <p:cNvPr id="3" name="テキスト プレースホルダー 2">
            <a:extLst>
              <a:ext uri="{FF2B5EF4-FFF2-40B4-BE49-F238E27FC236}">
                <a16:creationId xmlns:a16="http://schemas.microsoft.com/office/drawing/2014/main" id="{9E98A793-70C7-0A11-9D0B-0718CE2A2480}"/>
              </a:ext>
            </a:extLst>
          </p:cNvPr>
          <p:cNvSpPr>
            <a:spLocks noGrp="1"/>
          </p:cNvSpPr>
          <p:nvPr>
            <p:ph type="body" sz="quarter" idx="10"/>
          </p:nvPr>
        </p:nvSpPr>
        <p:spPr>
          <a:xfrm>
            <a:off x="1097493" y="1039092"/>
            <a:ext cx="10654238" cy="5385888"/>
          </a:xfrm>
        </p:spPr>
        <p:txBody>
          <a:bodyPr/>
          <a:lstStyle/>
          <a:p>
            <a:pPr marL="342900" indent="-342900">
              <a:buFont typeface="Wingdings" panose="05000000000000000000" pitchFamily="2" charset="2"/>
              <a:buChar char="Ø"/>
            </a:pPr>
            <a:r>
              <a:rPr lang="ja-JP" altLang="en-US" dirty="0"/>
              <a:t>質問部分、応答部分の</a:t>
            </a:r>
            <a:r>
              <a:rPr lang="en-US" altLang="ja-JP" dirty="0"/>
              <a:t>2</a:t>
            </a:r>
            <a:r>
              <a:rPr lang="ja-JP" altLang="en-US" dirty="0"/>
              <a:t>区間、</a:t>
            </a:r>
            <a:r>
              <a:rPr lang="en-US" altLang="ja-JP" dirty="0"/>
              <a:t>9</a:t>
            </a:r>
            <a:r>
              <a:rPr lang="ja-JP" altLang="en-US" dirty="0"/>
              <a:t>種類の特徴量設計、</a:t>
            </a:r>
            <a:r>
              <a:rPr lang="en-US" altLang="ja-JP" dirty="0"/>
              <a:t>7</a:t>
            </a:r>
            <a:r>
              <a:rPr lang="ja-JP" altLang="en-US" dirty="0"/>
              <a:t>種類の機械学習手法を組み合わせて分類モデルを作成</a:t>
            </a:r>
            <a:endParaRPr lang="en-US" altLang="ja-JP" dirty="0"/>
          </a:p>
          <a:p>
            <a:pPr marL="342900" indent="-342900">
              <a:buFont typeface="Wingdings" panose="05000000000000000000" pitchFamily="2" charset="2"/>
              <a:buChar char="Ø"/>
            </a:pPr>
            <a:r>
              <a:rPr lang="ja-JP" altLang="en-US" dirty="0"/>
              <a:t>今回はその中で比較的精度が高かったものについて表に記載</a:t>
            </a:r>
            <a:endParaRPr lang="en-US" altLang="ja-JP" dirty="0"/>
          </a:p>
          <a:p>
            <a:pPr marL="342900" indent="-342900">
              <a:buFont typeface="Wingdings" panose="05000000000000000000" pitchFamily="2" charset="2"/>
              <a:buChar char="Ø"/>
            </a:pPr>
            <a:endParaRPr lang="en-US" altLang="ja-JP" dirty="0"/>
          </a:p>
          <a:p>
            <a:endParaRPr lang="en-US" altLang="ja-JP" dirty="0"/>
          </a:p>
          <a:p>
            <a:pPr marL="342900" indent="-342900">
              <a:buFont typeface="Wingdings" panose="05000000000000000000" pitchFamily="2" charset="2"/>
              <a:buChar char="Ø"/>
            </a:pPr>
            <a:endParaRPr lang="en-US" altLang="ja-JP" dirty="0"/>
          </a:p>
          <a:p>
            <a:pPr marL="342900" indent="-342900">
              <a:buFont typeface="Wingdings" panose="05000000000000000000" pitchFamily="2" charset="2"/>
              <a:buChar char="Ø"/>
            </a:pPr>
            <a:endParaRPr lang="en-US" altLang="ja-JP" dirty="0"/>
          </a:p>
          <a:p>
            <a:br>
              <a:rPr lang="en-US" altLang="ja-JP" dirty="0"/>
            </a:br>
            <a:br>
              <a:rPr lang="en-US" altLang="ja-JP" sz="2000" dirty="0"/>
            </a:br>
            <a:endParaRPr lang="en-US" altLang="ja-JP" sz="2000" dirty="0"/>
          </a:p>
          <a:p>
            <a:pPr marL="520700" lvl="1" indent="-342900">
              <a:buFont typeface="Arial" panose="020B0604020202020204" pitchFamily="34" charset="0"/>
              <a:buChar char="•"/>
            </a:pPr>
            <a:endParaRPr lang="en-US" altLang="ja-JP" sz="2000" dirty="0"/>
          </a:p>
        </p:txBody>
      </p:sp>
      <p:graphicFrame>
        <p:nvGraphicFramePr>
          <p:cNvPr id="17" name="コンテンツ プレースホルダー 16">
            <a:extLst>
              <a:ext uri="{FF2B5EF4-FFF2-40B4-BE49-F238E27FC236}">
                <a16:creationId xmlns:a16="http://schemas.microsoft.com/office/drawing/2014/main" id="{C41A1D07-43CA-1A08-3EB4-F40B4DCCE416}"/>
              </a:ext>
            </a:extLst>
          </p:cNvPr>
          <p:cNvGraphicFramePr>
            <a:graphicFrameLocks noGrp="1"/>
          </p:cNvGraphicFramePr>
          <p:nvPr>
            <p:ph sz="quarter" idx="12"/>
            <p:extLst>
              <p:ext uri="{D42A27DB-BD31-4B8C-83A1-F6EECF244321}">
                <p14:modId xmlns:p14="http://schemas.microsoft.com/office/powerpoint/2010/main" val="2076843587"/>
              </p:ext>
            </p:extLst>
          </p:nvPr>
        </p:nvGraphicFramePr>
        <p:xfrm>
          <a:off x="1098018" y="2952492"/>
          <a:ext cx="10653713" cy="2392680"/>
        </p:xfrm>
        <a:graphic>
          <a:graphicData uri="http://schemas.openxmlformats.org/drawingml/2006/table">
            <a:tbl>
              <a:tblPr firstRow="1" bandRow="1">
                <a:tableStyleId>{21E4AEA4-8DFA-4A89-87EB-49C32662AFE0}</a:tableStyleId>
              </a:tblPr>
              <a:tblGrid>
                <a:gridCol w="1521959">
                  <a:extLst>
                    <a:ext uri="{9D8B030D-6E8A-4147-A177-3AD203B41FA5}">
                      <a16:colId xmlns:a16="http://schemas.microsoft.com/office/drawing/2014/main" val="3686559800"/>
                    </a:ext>
                  </a:extLst>
                </a:gridCol>
                <a:gridCol w="1521959">
                  <a:extLst>
                    <a:ext uri="{9D8B030D-6E8A-4147-A177-3AD203B41FA5}">
                      <a16:colId xmlns:a16="http://schemas.microsoft.com/office/drawing/2014/main" val="1091076645"/>
                    </a:ext>
                  </a:extLst>
                </a:gridCol>
                <a:gridCol w="1521959">
                  <a:extLst>
                    <a:ext uri="{9D8B030D-6E8A-4147-A177-3AD203B41FA5}">
                      <a16:colId xmlns:a16="http://schemas.microsoft.com/office/drawing/2014/main" val="1637090161"/>
                    </a:ext>
                  </a:extLst>
                </a:gridCol>
                <a:gridCol w="1521959">
                  <a:extLst>
                    <a:ext uri="{9D8B030D-6E8A-4147-A177-3AD203B41FA5}">
                      <a16:colId xmlns:a16="http://schemas.microsoft.com/office/drawing/2014/main" val="2243731710"/>
                    </a:ext>
                  </a:extLst>
                </a:gridCol>
                <a:gridCol w="1521959">
                  <a:extLst>
                    <a:ext uri="{9D8B030D-6E8A-4147-A177-3AD203B41FA5}">
                      <a16:colId xmlns:a16="http://schemas.microsoft.com/office/drawing/2014/main" val="1962526911"/>
                    </a:ext>
                  </a:extLst>
                </a:gridCol>
                <a:gridCol w="1521959">
                  <a:extLst>
                    <a:ext uri="{9D8B030D-6E8A-4147-A177-3AD203B41FA5}">
                      <a16:colId xmlns:a16="http://schemas.microsoft.com/office/drawing/2014/main" val="1513122704"/>
                    </a:ext>
                  </a:extLst>
                </a:gridCol>
                <a:gridCol w="1521959">
                  <a:extLst>
                    <a:ext uri="{9D8B030D-6E8A-4147-A177-3AD203B41FA5}">
                      <a16:colId xmlns:a16="http://schemas.microsoft.com/office/drawing/2014/main" val="4078009371"/>
                    </a:ext>
                  </a:extLst>
                </a:gridCol>
              </a:tblGrid>
              <a:tr h="370840">
                <a:tc rowSpan="2">
                  <a:txBody>
                    <a:bodyPr/>
                    <a:lstStyle/>
                    <a:p>
                      <a:endParaRPr kumimoji="1" lang="ja-JP" altLang="en-US" dirty="0"/>
                    </a:p>
                  </a:txBody>
                  <a:tcPr/>
                </a:tc>
                <a:tc gridSpan="2">
                  <a:txBody>
                    <a:bodyPr/>
                    <a:lstStyle/>
                    <a:p>
                      <a:pPr algn="ctr"/>
                      <a:r>
                        <a:rPr kumimoji="1" lang="ja-JP" altLang="en-US" dirty="0"/>
                        <a:t>標準偏差</a:t>
                      </a:r>
                      <a:r>
                        <a:rPr kumimoji="1" lang="en-US" altLang="ja-JP" dirty="0"/>
                        <a:t>(</a:t>
                      </a:r>
                      <a:r>
                        <a:rPr kumimoji="1" lang="ja-JP" altLang="en-US" dirty="0"/>
                        <a:t>先頭</a:t>
                      </a:r>
                      <a:r>
                        <a:rPr kumimoji="1" lang="en-US" altLang="ja-JP" dirty="0"/>
                        <a:t>30</a:t>
                      </a:r>
                      <a:r>
                        <a:rPr kumimoji="1" lang="ja-JP" altLang="en-US" dirty="0"/>
                        <a:t>フレーム</a:t>
                      </a:r>
                      <a:r>
                        <a:rPr kumimoji="1" lang="en-US" altLang="ja-JP" dirty="0"/>
                        <a:t>)</a:t>
                      </a:r>
                      <a:endParaRPr kumimoji="1" lang="ja-JP" altLang="en-US" dirty="0"/>
                    </a:p>
                  </a:txBody>
                  <a:tcPr/>
                </a:tc>
                <a:tc hMerge="1">
                  <a:txBody>
                    <a:bodyPr/>
                    <a:lstStyle/>
                    <a:p>
                      <a:endParaRPr kumimoji="1" lang="ja-JP" altLang="en-US" dirty="0"/>
                    </a:p>
                  </a:txBody>
                  <a:tcPr/>
                </a:tc>
                <a:tc gridSpan="2">
                  <a:txBody>
                    <a:bodyPr/>
                    <a:lstStyle/>
                    <a:p>
                      <a:pPr algn="ctr"/>
                      <a:r>
                        <a:rPr kumimoji="1" lang="ja-JP" altLang="en-US" dirty="0"/>
                        <a:t>最大値（先頭</a:t>
                      </a:r>
                      <a:r>
                        <a:rPr kumimoji="1" lang="en-US" altLang="ja-JP" dirty="0"/>
                        <a:t>30</a:t>
                      </a:r>
                      <a:r>
                        <a:rPr kumimoji="1" lang="ja-JP" altLang="en-US" dirty="0"/>
                        <a:t>フレーム）</a:t>
                      </a:r>
                    </a:p>
                  </a:txBody>
                  <a:tcPr/>
                </a:tc>
                <a:tc hMerge="1">
                  <a:txBody>
                    <a:bodyPr/>
                    <a:lstStyle/>
                    <a:p>
                      <a:endParaRPr kumimoji="1" lang="ja-JP" altLang="en-US" dirty="0"/>
                    </a:p>
                  </a:txBody>
                  <a:tcPr/>
                </a:tc>
                <a:tc gridSpan="2">
                  <a:txBody>
                    <a:bodyPr/>
                    <a:lstStyle/>
                    <a:p>
                      <a:pPr algn="ctr"/>
                      <a:r>
                        <a:rPr kumimoji="1" lang="ja-JP" altLang="en-US" dirty="0"/>
                        <a:t>差分の標準偏差</a:t>
                      </a:r>
                      <a:br>
                        <a:rPr kumimoji="1" lang="en-US" altLang="ja-JP" dirty="0"/>
                      </a:br>
                      <a:r>
                        <a:rPr kumimoji="1" lang="ja-JP" altLang="en-US" dirty="0"/>
                        <a:t>（先頭</a:t>
                      </a:r>
                      <a:r>
                        <a:rPr kumimoji="1" lang="en-US" altLang="ja-JP" dirty="0"/>
                        <a:t>30</a:t>
                      </a:r>
                      <a:r>
                        <a:rPr kumimoji="1" lang="ja-JP" altLang="en-US" dirty="0"/>
                        <a:t>フレーム）</a:t>
                      </a:r>
                    </a:p>
                  </a:txBody>
                  <a:tcPr/>
                </a:tc>
                <a:tc hMerge="1">
                  <a:txBody>
                    <a:bodyPr/>
                    <a:lstStyle/>
                    <a:p>
                      <a:endParaRPr kumimoji="1" lang="ja-JP" altLang="en-US" dirty="0"/>
                    </a:p>
                  </a:txBody>
                  <a:tcPr/>
                </a:tc>
                <a:extLst>
                  <a:ext uri="{0D108BD9-81ED-4DB2-BD59-A6C34878D82A}">
                    <a16:rowId xmlns:a16="http://schemas.microsoft.com/office/drawing/2014/main" val="1833500485"/>
                  </a:ext>
                </a:extLst>
              </a:tr>
              <a:tr h="370840">
                <a:tc vMerge="1">
                  <a:txBody>
                    <a:bodyPr/>
                    <a:lstStyle/>
                    <a:p>
                      <a:endParaRPr kumimoji="1" lang="ja-JP" altLang="en-US" dirty="0"/>
                    </a:p>
                  </a:txBody>
                  <a:tcPr/>
                </a:tc>
                <a:tc>
                  <a:txBody>
                    <a:bodyPr/>
                    <a:lstStyle/>
                    <a:p>
                      <a:pPr algn="ctr"/>
                      <a:r>
                        <a:rPr kumimoji="1" lang="ja-JP" altLang="en-US" dirty="0"/>
                        <a:t>感度</a:t>
                      </a:r>
                    </a:p>
                  </a:txBody>
                  <a:tcPr/>
                </a:tc>
                <a:tc>
                  <a:txBody>
                    <a:bodyPr/>
                    <a:lstStyle/>
                    <a:p>
                      <a:pPr algn="ctr"/>
                      <a:r>
                        <a:rPr kumimoji="1" lang="ja-JP" altLang="en-US" dirty="0"/>
                        <a:t>特異度</a:t>
                      </a:r>
                    </a:p>
                  </a:txBody>
                  <a:tcPr/>
                </a:tc>
                <a:tc>
                  <a:txBody>
                    <a:bodyPr/>
                    <a:lstStyle/>
                    <a:p>
                      <a:pPr algn="ctr"/>
                      <a:r>
                        <a:rPr kumimoji="1" lang="ja-JP" altLang="en-US" dirty="0"/>
                        <a:t>感度</a:t>
                      </a:r>
                    </a:p>
                  </a:txBody>
                  <a:tcPr/>
                </a:tc>
                <a:tc>
                  <a:txBody>
                    <a:bodyPr/>
                    <a:lstStyle/>
                    <a:p>
                      <a:pPr algn="ctr"/>
                      <a:r>
                        <a:rPr kumimoji="1" lang="ja-JP" altLang="en-US" dirty="0"/>
                        <a:t>特異度</a:t>
                      </a:r>
                    </a:p>
                  </a:txBody>
                  <a:tcPr/>
                </a:tc>
                <a:tc>
                  <a:txBody>
                    <a:bodyPr/>
                    <a:lstStyle/>
                    <a:p>
                      <a:pPr algn="ctr"/>
                      <a:r>
                        <a:rPr kumimoji="1" lang="ja-JP" altLang="en-US" dirty="0"/>
                        <a:t>感度</a:t>
                      </a:r>
                    </a:p>
                  </a:txBody>
                  <a:tcPr/>
                </a:tc>
                <a:tc>
                  <a:txBody>
                    <a:bodyPr/>
                    <a:lstStyle/>
                    <a:p>
                      <a:pPr algn="ctr"/>
                      <a:r>
                        <a:rPr kumimoji="1" lang="ja-JP" altLang="en-US" dirty="0"/>
                        <a:t>特異度</a:t>
                      </a:r>
                    </a:p>
                  </a:txBody>
                  <a:tcPr/>
                </a:tc>
                <a:extLst>
                  <a:ext uri="{0D108BD9-81ED-4DB2-BD59-A6C34878D82A}">
                    <a16:rowId xmlns:a16="http://schemas.microsoft.com/office/drawing/2014/main" val="1059522432"/>
                  </a:ext>
                </a:extLst>
              </a:tr>
              <a:tr h="370840">
                <a:tc>
                  <a:txBody>
                    <a:bodyPr/>
                    <a:lstStyle/>
                    <a:p>
                      <a:r>
                        <a:rPr kumimoji="1" lang="ja-JP" altLang="en-US" dirty="0"/>
                        <a:t>線形回帰</a:t>
                      </a:r>
                    </a:p>
                  </a:txBody>
                  <a:tcPr/>
                </a:tc>
                <a:tc>
                  <a:txBody>
                    <a:bodyPr/>
                    <a:lstStyle/>
                    <a:p>
                      <a:pPr algn="ctr"/>
                      <a:r>
                        <a:rPr kumimoji="1" lang="en-US" altLang="ja-JP" dirty="0"/>
                        <a:t>25</a:t>
                      </a:r>
                      <a:endParaRPr kumimoji="1" lang="ja-JP" altLang="en-US" dirty="0"/>
                    </a:p>
                  </a:txBody>
                  <a:tcPr/>
                </a:tc>
                <a:tc>
                  <a:txBody>
                    <a:bodyPr/>
                    <a:lstStyle/>
                    <a:p>
                      <a:pPr algn="ctr"/>
                      <a:r>
                        <a:rPr kumimoji="1" lang="en-US" altLang="ja-JP" dirty="0"/>
                        <a:t>79</a:t>
                      </a:r>
                      <a:endParaRPr kumimoji="1" lang="ja-JP" altLang="en-US" dirty="0"/>
                    </a:p>
                  </a:txBody>
                  <a:tcPr/>
                </a:tc>
                <a:tc>
                  <a:txBody>
                    <a:bodyPr/>
                    <a:lstStyle/>
                    <a:p>
                      <a:pPr algn="ctr"/>
                      <a:r>
                        <a:rPr kumimoji="1" lang="ja-JP" altLang="en-US" dirty="0"/>
                        <a:t>２５</a:t>
                      </a:r>
                    </a:p>
                  </a:txBody>
                  <a:tcPr/>
                </a:tc>
                <a:tc>
                  <a:txBody>
                    <a:bodyPr/>
                    <a:lstStyle/>
                    <a:p>
                      <a:pPr algn="ctr"/>
                      <a:r>
                        <a:rPr kumimoji="1" lang="en-US" altLang="ja-JP" dirty="0"/>
                        <a:t>79</a:t>
                      </a:r>
                      <a:endParaRPr kumimoji="1" lang="ja-JP" altLang="en-US" dirty="0"/>
                    </a:p>
                  </a:txBody>
                  <a:tcPr/>
                </a:tc>
                <a:tc>
                  <a:txBody>
                    <a:bodyPr/>
                    <a:lstStyle/>
                    <a:p>
                      <a:pPr algn="ctr"/>
                      <a:r>
                        <a:rPr kumimoji="1" lang="ja-JP" altLang="en-US" dirty="0"/>
                        <a:t>４２</a:t>
                      </a:r>
                    </a:p>
                  </a:txBody>
                  <a:tcPr/>
                </a:tc>
                <a:tc>
                  <a:txBody>
                    <a:bodyPr/>
                    <a:lstStyle/>
                    <a:p>
                      <a:pPr algn="ctr"/>
                      <a:r>
                        <a:rPr kumimoji="1" lang="ja-JP" altLang="en-US" dirty="0"/>
                        <a:t>８４</a:t>
                      </a:r>
                    </a:p>
                  </a:txBody>
                  <a:tcPr/>
                </a:tc>
                <a:extLst>
                  <a:ext uri="{0D108BD9-81ED-4DB2-BD59-A6C34878D82A}">
                    <a16:rowId xmlns:a16="http://schemas.microsoft.com/office/drawing/2014/main" val="1650068553"/>
                  </a:ext>
                </a:extLst>
              </a:tr>
              <a:tr h="370840">
                <a:tc>
                  <a:txBody>
                    <a:bodyPr/>
                    <a:lstStyle/>
                    <a:p>
                      <a:r>
                        <a:rPr kumimoji="1" lang="ja-JP" altLang="en-US" dirty="0"/>
                        <a:t>ランダム</a:t>
                      </a:r>
                      <a:br>
                        <a:rPr kumimoji="1" lang="en-US" altLang="ja-JP" dirty="0"/>
                      </a:br>
                      <a:r>
                        <a:rPr kumimoji="1" lang="ja-JP" altLang="en-US" dirty="0"/>
                        <a:t>フォレスト</a:t>
                      </a:r>
                    </a:p>
                  </a:txBody>
                  <a:tcPr/>
                </a:tc>
                <a:tc>
                  <a:txBody>
                    <a:bodyPr/>
                    <a:lstStyle/>
                    <a:p>
                      <a:pPr algn="ctr"/>
                      <a:r>
                        <a:rPr kumimoji="1" lang="ja-JP" altLang="en-US" dirty="0"/>
                        <a:t>３３</a:t>
                      </a:r>
                    </a:p>
                  </a:txBody>
                  <a:tcPr/>
                </a:tc>
                <a:tc>
                  <a:txBody>
                    <a:bodyPr/>
                    <a:lstStyle/>
                    <a:p>
                      <a:pPr algn="ctr"/>
                      <a:r>
                        <a:rPr kumimoji="1" lang="ja-JP" altLang="en-US" dirty="0"/>
                        <a:t>８９</a:t>
                      </a:r>
                    </a:p>
                  </a:txBody>
                  <a:tcPr/>
                </a:tc>
                <a:tc>
                  <a:txBody>
                    <a:bodyPr/>
                    <a:lstStyle/>
                    <a:p>
                      <a:pPr algn="ctr"/>
                      <a:r>
                        <a:rPr kumimoji="1" lang="ja-JP" altLang="en-US" dirty="0"/>
                        <a:t>４２</a:t>
                      </a:r>
                    </a:p>
                  </a:txBody>
                  <a:tcPr/>
                </a:tc>
                <a:tc>
                  <a:txBody>
                    <a:bodyPr/>
                    <a:lstStyle/>
                    <a:p>
                      <a:pPr algn="ctr"/>
                      <a:r>
                        <a:rPr kumimoji="1" lang="ja-JP" altLang="en-US" dirty="0"/>
                        <a:t>７９</a:t>
                      </a:r>
                    </a:p>
                  </a:txBody>
                  <a:tcPr/>
                </a:tc>
                <a:tc>
                  <a:txBody>
                    <a:bodyPr/>
                    <a:lstStyle/>
                    <a:p>
                      <a:pPr algn="ctr"/>
                      <a:r>
                        <a:rPr kumimoji="1" lang="ja-JP" altLang="en-US" dirty="0"/>
                        <a:t>３３</a:t>
                      </a:r>
                    </a:p>
                  </a:txBody>
                  <a:tcPr/>
                </a:tc>
                <a:tc>
                  <a:txBody>
                    <a:bodyPr/>
                    <a:lstStyle/>
                    <a:p>
                      <a:pPr algn="ctr"/>
                      <a:r>
                        <a:rPr kumimoji="1" lang="ja-JP" altLang="en-US" dirty="0"/>
                        <a:t>８４</a:t>
                      </a:r>
                    </a:p>
                  </a:txBody>
                  <a:tcPr/>
                </a:tc>
                <a:extLst>
                  <a:ext uri="{0D108BD9-81ED-4DB2-BD59-A6C34878D82A}">
                    <a16:rowId xmlns:a16="http://schemas.microsoft.com/office/drawing/2014/main" val="3464377031"/>
                  </a:ext>
                </a:extLst>
              </a:tr>
              <a:tr h="370840">
                <a:tc>
                  <a:txBody>
                    <a:bodyPr/>
                    <a:lstStyle/>
                    <a:p>
                      <a:r>
                        <a:rPr kumimoji="1" lang="en-US" altLang="ja-JP" dirty="0"/>
                        <a:t>k</a:t>
                      </a:r>
                      <a:r>
                        <a:rPr kumimoji="1" lang="ja-JP" altLang="en-US" dirty="0"/>
                        <a:t>近傍法</a:t>
                      </a:r>
                    </a:p>
                  </a:txBody>
                  <a:tcPr/>
                </a:tc>
                <a:tc>
                  <a:txBody>
                    <a:bodyPr/>
                    <a:lstStyle/>
                    <a:p>
                      <a:pPr algn="ctr"/>
                      <a:r>
                        <a:rPr kumimoji="1" lang="ja-JP" altLang="en-US" dirty="0"/>
                        <a:t>４２</a:t>
                      </a:r>
                    </a:p>
                  </a:txBody>
                  <a:tcPr/>
                </a:tc>
                <a:tc>
                  <a:txBody>
                    <a:bodyPr/>
                    <a:lstStyle/>
                    <a:p>
                      <a:pPr algn="ctr"/>
                      <a:r>
                        <a:rPr kumimoji="1" lang="ja-JP" altLang="en-US" dirty="0"/>
                        <a:t>９６</a:t>
                      </a:r>
                    </a:p>
                  </a:txBody>
                  <a:tcPr/>
                </a:tc>
                <a:tc>
                  <a:txBody>
                    <a:bodyPr/>
                    <a:lstStyle/>
                    <a:p>
                      <a:pPr algn="ctr"/>
                      <a:r>
                        <a:rPr kumimoji="1" lang="ja-JP" altLang="en-US" dirty="0"/>
                        <a:t>５０</a:t>
                      </a:r>
                    </a:p>
                  </a:txBody>
                  <a:tcPr/>
                </a:tc>
                <a:tc>
                  <a:txBody>
                    <a:bodyPr/>
                    <a:lstStyle/>
                    <a:p>
                      <a:pPr algn="ctr"/>
                      <a:r>
                        <a:rPr kumimoji="1" lang="ja-JP" altLang="en-US" dirty="0"/>
                        <a:t>１００</a:t>
                      </a:r>
                    </a:p>
                  </a:txBody>
                  <a:tcPr/>
                </a:tc>
                <a:tc>
                  <a:txBody>
                    <a:bodyPr/>
                    <a:lstStyle/>
                    <a:p>
                      <a:pPr algn="ctr"/>
                      <a:r>
                        <a:rPr kumimoji="1" lang="ja-JP" altLang="en-US" dirty="0"/>
                        <a:t>４２</a:t>
                      </a:r>
                    </a:p>
                  </a:txBody>
                  <a:tcPr/>
                </a:tc>
                <a:tc>
                  <a:txBody>
                    <a:bodyPr/>
                    <a:lstStyle/>
                    <a:p>
                      <a:pPr algn="ctr"/>
                      <a:r>
                        <a:rPr kumimoji="1" lang="ja-JP" altLang="en-US" dirty="0"/>
                        <a:t>７９</a:t>
                      </a:r>
                    </a:p>
                  </a:txBody>
                  <a:tcPr/>
                </a:tc>
                <a:extLst>
                  <a:ext uri="{0D108BD9-81ED-4DB2-BD59-A6C34878D82A}">
                    <a16:rowId xmlns:a16="http://schemas.microsoft.com/office/drawing/2014/main" val="2404300819"/>
                  </a:ext>
                </a:extLst>
              </a:tr>
            </a:tbl>
          </a:graphicData>
        </a:graphic>
      </p:graphicFrame>
    </p:spTree>
    <p:extLst>
      <p:ext uri="{BB962C8B-B14F-4D97-AF65-F5344CB8AC3E}">
        <p14:creationId xmlns:p14="http://schemas.microsoft.com/office/powerpoint/2010/main" val="1763653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5D75-5DE0-F518-3AC9-65A9125D32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E4BFBB-232F-1180-5939-EB5661D840B1}"/>
              </a:ext>
            </a:extLst>
          </p:cNvPr>
          <p:cNvSpPr>
            <a:spLocks noGrp="1"/>
          </p:cNvSpPr>
          <p:nvPr>
            <p:ph type="title"/>
          </p:nvPr>
        </p:nvSpPr>
        <p:spPr/>
        <p:txBody>
          <a:bodyPr/>
          <a:lstStyle/>
          <a:p>
            <a:r>
              <a:rPr kumimoji="1" lang="ja-JP" altLang="en-US" dirty="0"/>
              <a:t>結果②</a:t>
            </a:r>
            <a:r>
              <a:rPr lang="ja-JP" altLang="en-US" dirty="0"/>
              <a:t>（表情のみを特徴量、患者数増加）</a:t>
            </a:r>
            <a:endParaRPr kumimoji="1" lang="ja-JP" altLang="en-US" dirty="0"/>
          </a:p>
        </p:txBody>
      </p:sp>
      <p:sp>
        <p:nvSpPr>
          <p:cNvPr id="3" name="テキスト プレースホルダー 2">
            <a:extLst>
              <a:ext uri="{FF2B5EF4-FFF2-40B4-BE49-F238E27FC236}">
                <a16:creationId xmlns:a16="http://schemas.microsoft.com/office/drawing/2014/main" id="{D9D58A6D-9A31-F113-F843-3239507FE940}"/>
              </a:ext>
            </a:extLst>
          </p:cNvPr>
          <p:cNvSpPr>
            <a:spLocks noGrp="1"/>
          </p:cNvSpPr>
          <p:nvPr>
            <p:ph type="body" sz="quarter" idx="10"/>
          </p:nvPr>
        </p:nvSpPr>
        <p:spPr>
          <a:xfrm>
            <a:off x="1097492" y="1039092"/>
            <a:ext cx="10856209" cy="5385888"/>
          </a:xfrm>
        </p:spPr>
        <p:txBody>
          <a:bodyPr/>
          <a:lstStyle/>
          <a:p>
            <a:pPr marL="342900" indent="-342900">
              <a:buFont typeface="Wingdings" panose="05000000000000000000" pitchFamily="2" charset="2"/>
              <a:buChar char="Ø"/>
            </a:pPr>
            <a:r>
              <a:rPr lang="en-US" altLang="ja-JP" dirty="0"/>
              <a:t>31</a:t>
            </a:r>
            <a:r>
              <a:rPr lang="ja-JP" altLang="en-US" dirty="0"/>
              <a:t>名の患者数から</a:t>
            </a:r>
            <a:r>
              <a:rPr lang="en-US" altLang="ja-JP" dirty="0"/>
              <a:t>65</a:t>
            </a:r>
            <a:r>
              <a:rPr lang="ja-JP" altLang="en-US" dirty="0"/>
              <a:t>名に人数を変更（最大値、学習方法は変更なし）</a:t>
            </a:r>
            <a:endParaRPr lang="en-US" altLang="ja-JP" dirty="0"/>
          </a:p>
          <a:p>
            <a:pPr marL="520700" lvl="1" indent="-342900">
              <a:buFont typeface="Arial" panose="020B0604020202020204" pitchFamily="34" charset="0"/>
              <a:buChar char="•"/>
            </a:pPr>
            <a:r>
              <a:rPr lang="ja-JP" altLang="en-US" dirty="0"/>
              <a:t>応答部分：</a:t>
            </a:r>
            <a:br>
              <a:rPr lang="en-US" altLang="ja-JP" dirty="0"/>
            </a:br>
            <a:r>
              <a:rPr lang="ja-JP" altLang="en-US" dirty="0"/>
              <a:t>感度：</a:t>
            </a:r>
            <a:r>
              <a:rPr lang="en-US" altLang="ja-JP" dirty="0"/>
              <a:t>54.5%</a:t>
            </a:r>
            <a:r>
              <a:rPr lang="ja-JP" altLang="en-US" dirty="0"/>
              <a:t>　特異度：</a:t>
            </a:r>
            <a:r>
              <a:rPr lang="en-US" altLang="ja-JP" dirty="0"/>
              <a:t>81.3%</a:t>
            </a:r>
          </a:p>
          <a:p>
            <a:pPr marL="520700" lvl="1" indent="-342900">
              <a:buFont typeface="Arial" panose="020B0604020202020204" pitchFamily="34" charset="0"/>
              <a:buChar char="•"/>
            </a:pPr>
            <a:r>
              <a:rPr lang="ja-JP" altLang="en-US" dirty="0"/>
              <a:t>問いかけ部分：</a:t>
            </a:r>
            <a:br>
              <a:rPr lang="en-US" altLang="ja-JP" dirty="0"/>
            </a:br>
            <a:r>
              <a:rPr lang="ja-JP" altLang="en-US" dirty="0"/>
              <a:t>感度：</a:t>
            </a:r>
            <a:r>
              <a:rPr lang="en-US" altLang="ja-JP" dirty="0"/>
              <a:t>60.6%</a:t>
            </a:r>
            <a:r>
              <a:rPr lang="ja-JP" altLang="en-US" dirty="0"/>
              <a:t>　特異度：</a:t>
            </a:r>
            <a:r>
              <a:rPr lang="en-US" altLang="ja-JP" dirty="0"/>
              <a:t>81.3%</a:t>
            </a:r>
          </a:p>
          <a:p>
            <a:pPr lvl="1"/>
            <a:endParaRPr lang="en-US" altLang="ja-JP" dirty="0"/>
          </a:p>
          <a:p>
            <a:pPr marL="342900" indent="-342900">
              <a:buFont typeface="Wingdings" panose="05000000000000000000" pitchFamily="2" charset="2"/>
              <a:buChar char="Ø"/>
            </a:pPr>
            <a:r>
              <a:rPr lang="ja-JP" altLang="en-US" dirty="0"/>
              <a:t>ここまでは、</a:t>
            </a:r>
            <a:r>
              <a:rPr lang="en-US" altLang="ja-JP" dirty="0"/>
              <a:t>30</a:t>
            </a:r>
            <a:r>
              <a:rPr lang="ja-JP" altLang="en-US" dirty="0"/>
              <a:t>フレームに満たない部分はある分のフレーム数で統計量を計算</a:t>
            </a:r>
            <a:br>
              <a:rPr lang="en-US" altLang="ja-JP" dirty="0"/>
            </a:br>
            <a:r>
              <a:rPr lang="ja-JP" altLang="en-US" dirty="0"/>
              <a:t>→</a:t>
            </a:r>
            <a:r>
              <a:rPr lang="en-US" altLang="ja-JP" dirty="0"/>
              <a:t>30</a:t>
            </a:r>
            <a:r>
              <a:rPr lang="ja-JP" altLang="en-US" dirty="0"/>
              <a:t>フレームに満たない部分をどう処理するか</a:t>
            </a:r>
            <a:endParaRPr lang="en-US" altLang="ja-JP" dirty="0"/>
          </a:p>
          <a:p>
            <a:pPr marL="520700" lvl="1" indent="-342900">
              <a:buFont typeface="Arial" panose="020B0604020202020204" pitchFamily="34" charset="0"/>
              <a:buChar char="•"/>
            </a:pPr>
            <a:r>
              <a:rPr lang="en-US" altLang="ja-JP" dirty="0"/>
              <a:t>30</a:t>
            </a:r>
            <a:r>
              <a:rPr lang="ja-JP" altLang="en-US" dirty="0"/>
              <a:t>フレームに満たない部分は削除</a:t>
            </a:r>
            <a:r>
              <a:rPr lang="en-US" altLang="ja-JP" dirty="0"/>
              <a:t>(</a:t>
            </a:r>
            <a:r>
              <a:rPr lang="ja-JP" altLang="en-US" dirty="0"/>
              <a:t>最大値、学方法は変更なし</a:t>
            </a:r>
            <a:r>
              <a:rPr lang="en-US" altLang="ja-JP" dirty="0"/>
              <a:t>)</a:t>
            </a:r>
            <a:br>
              <a:rPr lang="en-US" altLang="ja-JP" dirty="0"/>
            </a:br>
            <a:r>
              <a:rPr lang="ja-JP" altLang="en-US" dirty="0"/>
              <a:t>感度：</a:t>
            </a:r>
            <a:r>
              <a:rPr lang="en-US" altLang="ja-JP" dirty="0"/>
              <a:t>69.7%</a:t>
            </a:r>
            <a:r>
              <a:rPr lang="ja-JP" altLang="en-US" dirty="0"/>
              <a:t>　特異度：</a:t>
            </a:r>
            <a:r>
              <a:rPr lang="en-US" altLang="ja-JP" dirty="0"/>
              <a:t>65.6%</a:t>
            </a:r>
          </a:p>
          <a:p>
            <a:pPr marL="342900" indent="-342900">
              <a:buFont typeface="Wingdings" panose="05000000000000000000" pitchFamily="2" charset="2"/>
              <a:buChar char="Ø"/>
            </a:pPr>
            <a:endParaRPr lang="en-US" altLang="ja-JP" dirty="0"/>
          </a:p>
          <a:p>
            <a:pPr marL="342900" indent="-342900">
              <a:buFont typeface="Wingdings" panose="05000000000000000000" pitchFamily="2" charset="2"/>
              <a:buChar char="Ø"/>
            </a:pPr>
            <a:endParaRPr lang="en-US" altLang="ja-JP" dirty="0"/>
          </a:p>
          <a:p>
            <a:br>
              <a:rPr lang="en-US" altLang="ja-JP" dirty="0"/>
            </a:br>
            <a:br>
              <a:rPr lang="en-US" altLang="ja-JP" sz="2000" dirty="0"/>
            </a:br>
            <a:endParaRPr lang="en-US" altLang="ja-JP" sz="2000" dirty="0"/>
          </a:p>
          <a:p>
            <a:pPr marL="520700" lvl="1" indent="-342900">
              <a:buFont typeface="Arial" panose="020B0604020202020204" pitchFamily="34" charset="0"/>
              <a:buChar char="•"/>
            </a:pPr>
            <a:endParaRPr lang="en-US" altLang="ja-JP" sz="2000" dirty="0"/>
          </a:p>
        </p:txBody>
      </p:sp>
      <p:sp>
        <p:nvSpPr>
          <p:cNvPr id="5" name="コンテンツ プレースホルダー 4">
            <a:extLst>
              <a:ext uri="{FF2B5EF4-FFF2-40B4-BE49-F238E27FC236}">
                <a16:creationId xmlns:a16="http://schemas.microsoft.com/office/drawing/2014/main" id="{215BE74F-B045-6E59-9593-94EB06E3E848}"/>
              </a:ext>
            </a:extLst>
          </p:cNvPr>
          <p:cNvSpPr>
            <a:spLocks noGrp="1"/>
          </p:cNvSpPr>
          <p:nvPr>
            <p:ph sz="quarter" idx="12"/>
          </p:nvPr>
        </p:nvSpPr>
        <p:spPr/>
        <p:txBody>
          <a:bodyPr/>
          <a:lstStyle/>
          <a:p>
            <a:endParaRPr lang="ja-JP" altLang="en-US"/>
          </a:p>
        </p:txBody>
      </p:sp>
    </p:spTree>
    <p:extLst>
      <p:ext uri="{BB962C8B-B14F-4D97-AF65-F5344CB8AC3E}">
        <p14:creationId xmlns:p14="http://schemas.microsoft.com/office/powerpoint/2010/main" val="1432916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4E53F-D1DC-C551-1115-78F614A75D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5CB72C-7EE5-BEEF-0484-BA81DB9277FF}"/>
              </a:ext>
            </a:extLst>
          </p:cNvPr>
          <p:cNvSpPr>
            <a:spLocks noGrp="1"/>
          </p:cNvSpPr>
          <p:nvPr>
            <p:ph type="title"/>
          </p:nvPr>
        </p:nvSpPr>
        <p:spPr/>
        <p:txBody>
          <a:bodyPr/>
          <a:lstStyle/>
          <a:p>
            <a:r>
              <a:rPr kumimoji="1" lang="ja-JP" altLang="en-US" dirty="0"/>
              <a:t>結果②</a:t>
            </a:r>
            <a:r>
              <a:rPr lang="ja-JP" altLang="en-US" dirty="0"/>
              <a:t>（表情のみを特徴量）と課題</a:t>
            </a:r>
            <a:endParaRPr kumimoji="1" lang="ja-JP" altLang="en-US" dirty="0"/>
          </a:p>
        </p:txBody>
      </p:sp>
      <p:sp>
        <p:nvSpPr>
          <p:cNvPr id="3" name="テキスト プレースホルダー 2">
            <a:extLst>
              <a:ext uri="{FF2B5EF4-FFF2-40B4-BE49-F238E27FC236}">
                <a16:creationId xmlns:a16="http://schemas.microsoft.com/office/drawing/2014/main" id="{E8BA8B2A-3C22-06F0-48BA-2A7C916E1A26}"/>
              </a:ext>
            </a:extLst>
          </p:cNvPr>
          <p:cNvSpPr>
            <a:spLocks noGrp="1"/>
          </p:cNvSpPr>
          <p:nvPr>
            <p:ph type="body" sz="quarter" idx="10"/>
          </p:nvPr>
        </p:nvSpPr>
        <p:spPr>
          <a:xfrm>
            <a:off x="1097492" y="1039092"/>
            <a:ext cx="10856209" cy="5385888"/>
          </a:xfrm>
        </p:spPr>
        <p:txBody>
          <a:bodyPr/>
          <a:lstStyle/>
          <a:p>
            <a:pPr marL="342900" indent="-342900">
              <a:buFont typeface="Wingdings" panose="05000000000000000000" pitchFamily="2" charset="2"/>
              <a:buChar char="Ø"/>
            </a:pPr>
            <a:r>
              <a:rPr lang="ja-JP" altLang="en-US" dirty="0"/>
              <a:t>前ページの続き</a:t>
            </a:r>
            <a:endParaRPr lang="en-US" altLang="ja-JP" dirty="0"/>
          </a:p>
          <a:p>
            <a:pPr marL="520700" lvl="1" indent="-342900">
              <a:buFont typeface="Arial" panose="020B0604020202020204" pitchFamily="34" charset="0"/>
              <a:buChar char="•"/>
            </a:pPr>
            <a:r>
              <a:rPr lang="ja-JP" altLang="en-US" dirty="0"/>
              <a:t>同じ患者の別の質問とほかの患者の同じ質問で補完</a:t>
            </a:r>
            <a:br>
              <a:rPr lang="en-US" altLang="ja-JP" dirty="0"/>
            </a:br>
            <a:r>
              <a:rPr lang="ja-JP" altLang="en-US" dirty="0"/>
              <a:t>感度：</a:t>
            </a:r>
            <a:r>
              <a:rPr lang="en-US" altLang="ja-JP" dirty="0"/>
              <a:t>75.8%</a:t>
            </a:r>
            <a:r>
              <a:rPr lang="ja-JP" altLang="en-US" dirty="0"/>
              <a:t>　特異度：</a:t>
            </a:r>
            <a:r>
              <a:rPr lang="en-US" altLang="ja-JP" dirty="0"/>
              <a:t>62.5%</a:t>
            </a:r>
          </a:p>
          <a:p>
            <a:pPr marL="520700" lvl="1" indent="-520700">
              <a:buFont typeface="Arial" panose="020B0604020202020204" pitchFamily="34" charset="0"/>
              <a:buChar char="•"/>
            </a:pPr>
            <a:endParaRPr lang="en-US" altLang="ja-JP" dirty="0"/>
          </a:p>
          <a:p>
            <a:pPr marL="520700" lvl="1" indent="-342900">
              <a:buFont typeface="Arial" panose="020B0604020202020204" pitchFamily="34" charset="0"/>
              <a:buChar char="•"/>
            </a:pPr>
            <a:r>
              <a:rPr lang="ja-JP" altLang="en-US" dirty="0"/>
              <a:t>上記と補完方法は同じだが、</a:t>
            </a:r>
            <a:r>
              <a:rPr lang="en-US" altLang="ja-JP" dirty="0"/>
              <a:t>10</a:t>
            </a:r>
            <a:r>
              <a:rPr lang="ja-JP" altLang="en-US" dirty="0"/>
              <a:t>個の質問を</a:t>
            </a:r>
            <a:r>
              <a:rPr lang="en-US" altLang="ja-JP" dirty="0"/>
              <a:t>1</a:t>
            </a:r>
            <a:r>
              <a:rPr lang="ja-JP" altLang="en-US" dirty="0"/>
              <a:t>セットとして学習</a:t>
            </a:r>
            <a:br>
              <a:rPr lang="en-US" altLang="ja-JP" dirty="0"/>
            </a:br>
            <a:r>
              <a:rPr lang="ja-JP" altLang="en-US" dirty="0"/>
              <a:t>感度：</a:t>
            </a:r>
            <a:r>
              <a:rPr lang="en-US" altLang="ja-JP" dirty="0"/>
              <a:t>72.7%</a:t>
            </a:r>
            <a:r>
              <a:rPr lang="ja-JP" altLang="en-US" dirty="0"/>
              <a:t>　特異度：</a:t>
            </a:r>
            <a:r>
              <a:rPr lang="en-US" altLang="ja-JP" dirty="0"/>
              <a:t>15.6%</a:t>
            </a:r>
          </a:p>
          <a:p>
            <a:endParaRPr lang="en-US" altLang="ja-JP" dirty="0"/>
          </a:p>
          <a:p>
            <a:pPr marL="342900" indent="-342900">
              <a:buFont typeface="Wingdings" panose="05000000000000000000" pitchFamily="2" charset="2"/>
              <a:buChar char="Ø"/>
            </a:pPr>
            <a:r>
              <a:rPr lang="ja-JP" altLang="en-US" dirty="0"/>
              <a:t>今後の課題</a:t>
            </a:r>
            <a:endParaRPr lang="en-US" altLang="ja-JP" dirty="0"/>
          </a:p>
          <a:p>
            <a:pPr marL="520700" lvl="1" indent="-342900">
              <a:buFont typeface="Arial" panose="020B0604020202020204" pitchFamily="34" charset="0"/>
              <a:buChar char="•"/>
            </a:pPr>
            <a:r>
              <a:rPr lang="ja-JP" altLang="en-US" dirty="0"/>
              <a:t>補完方法の調査</a:t>
            </a:r>
            <a:endParaRPr lang="en-US" altLang="ja-JP" dirty="0"/>
          </a:p>
          <a:p>
            <a:pPr marL="520700" lvl="1" indent="-342900">
              <a:buFont typeface="Arial" panose="020B0604020202020204" pitchFamily="34" charset="0"/>
              <a:buChar char="•"/>
            </a:pPr>
            <a:r>
              <a:rPr lang="ja-JP" altLang="en-US" dirty="0"/>
              <a:t>学習方法を変更してモデルの汎化性能を確認</a:t>
            </a:r>
            <a:endParaRPr lang="en-US" altLang="ja-JP" dirty="0"/>
          </a:p>
          <a:p>
            <a:pPr marL="520700" lvl="1" indent="-342900">
              <a:buFont typeface="Arial" panose="020B0604020202020204" pitchFamily="34" charset="0"/>
              <a:buChar char="•"/>
            </a:pPr>
            <a:r>
              <a:rPr lang="ja-JP" altLang="en-US" dirty="0"/>
              <a:t>多数決のボーダーが不透明</a:t>
            </a:r>
            <a:endParaRPr lang="en-US" altLang="ja-JP" dirty="0"/>
          </a:p>
          <a:p>
            <a:pPr marL="877888" lvl="2" indent="-342900">
              <a:buFont typeface="Arial" panose="020B0604020202020204" pitchFamily="34" charset="0"/>
              <a:buChar char="•"/>
            </a:pPr>
            <a:endParaRPr lang="en-US" altLang="ja-JP" dirty="0"/>
          </a:p>
          <a:p>
            <a:pPr marL="342900" indent="-342900">
              <a:buFont typeface="Wingdings" panose="05000000000000000000" pitchFamily="2" charset="2"/>
              <a:buChar char="Ø"/>
            </a:pPr>
            <a:endParaRPr lang="en-US" altLang="ja-JP" dirty="0"/>
          </a:p>
          <a:p>
            <a:br>
              <a:rPr lang="en-US" altLang="ja-JP" dirty="0"/>
            </a:br>
            <a:br>
              <a:rPr lang="en-US" altLang="ja-JP" sz="2000" dirty="0"/>
            </a:br>
            <a:endParaRPr lang="en-US" altLang="ja-JP" sz="2000" dirty="0"/>
          </a:p>
          <a:p>
            <a:pPr marL="520700" lvl="1" indent="-342900">
              <a:buFont typeface="Arial" panose="020B0604020202020204" pitchFamily="34" charset="0"/>
              <a:buChar char="•"/>
            </a:pPr>
            <a:endParaRPr lang="en-US" altLang="ja-JP" sz="2000" dirty="0"/>
          </a:p>
        </p:txBody>
      </p:sp>
      <p:sp>
        <p:nvSpPr>
          <p:cNvPr id="5" name="コンテンツ プレースホルダー 4">
            <a:extLst>
              <a:ext uri="{FF2B5EF4-FFF2-40B4-BE49-F238E27FC236}">
                <a16:creationId xmlns:a16="http://schemas.microsoft.com/office/drawing/2014/main" id="{BC2588CD-8EAE-21BC-3487-E4ED3C5FE14F}"/>
              </a:ext>
            </a:extLst>
          </p:cNvPr>
          <p:cNvSpPr>
            <a:spLocks noGrp="1"/>
          </p:cNvSpPr>
          <p:nvPr>
            <p:ph sz="quarter" idx="12"/>
          </p:nvPr>
        </p:nvSpPr>
        <p:spPr/>
        <p:txBody>
          <a:bodyPr/>
          <a:lstStyle/>
          <a:p>
            <a:endParaRPr lang="ja-JP" altLang="en-US"/>
          </a:p>
        </p:txBody>
      </p:sp>
    </p:spTree>
    <p:extLst>
      <p:ext uri="{BB962C8B-B14F-4D97-AF65-F5344CB8AC3E}">
        <p14:creationId xmlns:p14="http://schemas.microsoft.com/office/powerpoint/2010/main" val="3683651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A467A5-CC33-50AC-5F49-CC0110B184CE}"/>
              </a:ext>
            </a:extLst>
          </p:cNvPr>
          <p:cNvSpPr>
            <a:spLocks noGrp="1"/>
          </p:cNvSpPr>
          <p:nvPr>
            <p:ph type="title"/>
          </p:nvPr>
        </p:nvSpPr>
        <p:spPr/>
        <p:txBody>
          <a:bodyPr/>
          <a:lstStyle/>
          <a:p>
            <a:r>
              <a:rPr kumimoji="1" lang="ja-JP" altLang="en-US" dirty="0"/>
              <a:t>特徴抽出</a:t>
            </a:r>
            <a:r>
              <a:rPr kumimoji="1" lang="en-US" altLang="ja-JP" dirty="0"/>
              <a:t>(</a:t>
            </a:r>
            <a:r>
              <a:rPr kumimoji="1" lang="ja-JP" altLang="en-US" dirty="0"/>
              <a:t>音声版</a:t>
            </a:r>
            <a:r>
              <a:rPr kumimoji="1" lang="en-US" altLang="ja-JP" dirty="0"/>
              <a:t>)</a:t>
            </a:r>
            <a:endParaRPr kumimoji="1" lang="ja-JP" altLang="en-US" dirty="0"/>
          </a:p>
        </p:txBody>
      </p:sp>
      <p:sp>
        <p:nvSpPr>
          <p:cNvPr id="3" name="テキスト プレースホルダー 2">
            <a:extLst>
              <a:ext uri="{FF2B5EF4-FFF2-40B4-BE49-F238E27FC236}">
                <a16:creationId xmlns:a16="http://schemas.microsoft.com/office/drawing/2014/main" id="{ADC150CE-038A-7EFE-DA25-765D78119DF0}"/>
              </a:ext>
            </a:extLst>
          </p:cNvPr>
          <p:cNvSpPr>
            <a:spLocks noGrp="1"/>
          </p:cNvSpPr>
          <p:nvPr>
            <p:ph type="body" sz="quarter" idx="10"/>
          </p:nvPr>
        </p:nvSpPr>
        <p:spPr>
          <a:xfrm>
            <a:off x="1098020" y="1067708"/>
            <a:ext cx="11093979" cy="5333599"/>
          </a:xfrm>
        </p:spPr>
        <p:txBody>
          <a:bodyPr/>
          <a:lstStyle/>
          <a:p>
            <a:pPr marL="342900" indent="-342900">
              <a:buFont typeface="Wingdings" panose="05000000000000000000" pitchFamily="2" charset="2"/>
              <a:buChar char="Ø"/>
            </a:pPr>
            <a:r>
              <a:rPr kumimoji="1" lang="ja-JP" altLang="en-US" dirty="0"/>
              <a:t>せん妄、非せん妄患者さんと医療関係者の質問応答場面を撮影した動画から</a:t>
            </a:r>
            <a:br>
              <a:rPr lang="en-US" altLang="ja-JP" dirty="0"/>
            </a:br>
            <a:r>
              <a:rPr kumimoji="1" lang="ja-JP" altLang="en-US" dirty="0"/>
              <a:t>音声特徴を抽出</a:t>
            </a:r>
            <a:endParaRPr kumimoji="1" lang="en-US" altLang="ja-JP" dirty="0"/>
          </a:p>
          <a:p>
            <a:pPr marL="520700" lvl="1" indent="-342900">
              <a:lnSpc>
                <a:spcPct val="150000"/>
              </a:lnSpc>
              <a:buFont typeface="Arial" panose="020B0604020202020204" pitchFamily="34" charset="0"/>
              <a:buChar char="•"/>
              <a:tabLst>
                <a:tab pos="1527175" algn="l"/>
              </a:tabLst>
            </a:pPr>
            <a:r>
              <a:rPr lang="ja-JP" altLang="en-US" sz="2000" dirty="0"/>
              <a:t>質問数</a:t>
            </a:r>
            <a:r>
              <a:rPr lang="en-US" altLang="ja-JP" sz="2000" dirty="0"/>
              <a:t>	</a:t>
            </a:r>
            <a:r>
              <a:rPr lang="ja-JP" altLang="en-US" sz="2000" dirty="0"/>
              <a:t>：</a:t>
            </a:r>
            <a:r>
              <a:rPr lang="en-US" altLang="ja-JP" sz="2000" dirty="0"/>
              <a:t>10</a:t>
            </a:r>
            <a:r>
              <a:rPr lang="ja-JP" altLang="en-US" sz="2000" dirty="0"/>
              <a:t>個　</a:t>
            </a:r>
            <a:r>
              <a:rPr lang="ja-JP" altLang="en-US" sz="1600" dirty="0"/>
              <a:t>（＊ただし、患者さんによって多少の前後あり）</a:t>
            </a:r>
            <a:endParaRPr lang="en-US" altLang="ja-JP" sz="1600" dirty="0"/>
          </a:p>
          <a:p>
            <a:pPr marL="520700" lvl="1" indent="-342900">
              <a:lnSpc>
                <a:spcPct val="150000"/>
              </a:lnSpc>
              <a:buFont typeface="Arial" panose="020B0604020202020204" pitchFamily="34" charset="0"/>
              <a:buChar char="•"/>
              <a:tabLst>
                <a:tab pos="1527175" algn="l"/>
                <a:tab pos="1797050" algn="l"/>
                <a:tab pos="1974850" algn="l"/>
                <a:tab pos="2244725" algn="l"/>
              </a:tabLst>
            </a:pPr>
            <a:r>
              <a:rPr lang="ja-JP" altLang="en-US" sz="2000" dirty="0"/>
              <a:t>患者数</a:t>
            </a:r>
            <a:r>
              <a:rPr lang="en-US" altLang="ja-JP" sz="2000" dirty="0"/>
              <a:t>	</a:t>
            </a:r>
            <a:r>
              <a:rPr lang="ja-JP" altLang="en-US" sz="2000" dirty="0"/>
              <a:t>：</a:t>
            </a:r>
            <a:r>
              <a:rPr lang="en-US" altLang="ja-JP" sz="2000" dirty="0"/>
              <a:t>59</a:t>
            </a:r>
            <a:r>
              <a:rPr lang="ja-JP" altLang="en-US" sz="2000" dirty="0"/>
              <a:t>名（せん妄患者：</a:t>
            </a:r>
            <a:r>
              <a:rPr lang="en-US" altLang="ja-JP" sz="2000" dirty="0"/>
              <a:t>31</a:t>
            </a:r>
            <a:r>
              <a:rPr lang="ja-JP" altLang="en-US" sz="2000" dirty="0"/>
              <a:t>名、非せん妄患者</a:t>
            </a:r>
            <a:r>
              <a:rPr lang="en-US" altLang="ja-JP" sz="2000" dirty="0"/>
              <a:t>28</a:t>
            </a:r>
            <a:r>
              <a:rPr lang="ja-JP" altLang="en-US" sz="2000" dirty="0"/>
              <a:t>名、</a:t>
            </a:r>
            <a:r>
              <a:rPr lang="en-US" altLang="ja-JP" sz="2000" dirty="0"/>
              <a:t>6</a:t>
            </a:r>
            <a:r>
              <a:rPr lang="ja-JP" altLang="en-US" sz="2000" dirty="0"/>
              <a:t>名分は音が小さいため使用せず）</a:t>
            </a:r>
            <a:endParaRPr lang="en-US" altLang="ja-JP" sz="2000" dirty="0"/>
          </a:p>
          <a:p>
            <a:pPr marL="520700" lvl="1" indent="-342900">
              <a:lnSpc>
                <a:spcPct val="150000"/>
              </a:lnSpc>
              <a:buFont typeface="Arial" panose="020B0604020202020204" pitchFamily="34" charset="0"/>
              <a:buChar char="•"/>
              <a:tabLst>
                <a:tab pos="1527175" algn="l"/>
                <a:tab pos="1797050" algn="l"/>
                <a:tab pos="1974850" algn="l"/>
                <a:tab pos="2244725" algn="l"/>
              </a:tabLst>
            </a:pPr>
            <a:r>
              <a:rPr lang="ja-JP" altLang="en-US" sz="2000" dirty="0"/>
              <a:t>ツール</a:t>
            </a:r>
            <a:r>
              <a:rPr lang="en-US" altLang="ja-JP" sz="2000" dirty="0"/>
              <a:t>	</a:t>
            </a:r>
            <a:r>
              <a:rPr lang="ja-JP" altLang="en-US" sz="2000" dirty="0"/>
              <a:t>：</a:t>
            </a:r>
            <a:r>
              <a:rPr lang="en-US" altLang="ja-JP" sz="2000" dirty="0"/>
              <a:t>opensmile</a:t>
            </a:r>
            <a:r>
              <a:rPr lang="ja-JP" altLang="en-US" sz="2000" dirty="0"/>
              <a:t>　（特徴量セット：</a:t>
            </a:r>
            <a:r>
              <a:rPr lang="en-US" altLang="ja-JP" sz="2000" dirty="0"/>
              <a:t>eGeMAPSv02</a:t>
            </a:r>
            <a:r>
              <a:rPr lang="ja-JP" altLang="en-US" sz="2000" dirty="0"/>
              <a:t>）</a:t>
            </a:r>
            <a:endParaRPr lang="en-US" altLang="ja-JP" sz="2000" dirty="0"/>
          </a:p>
          <a:p>
            <a:pPr marL="520700" lvl="1" indent="-342900">
              <a:lnSpc>
                <a:spcPct val="150000"/>
              </a:lnSpc>
              <a:buFont typeface="Arial" panose="020B0604020202020204" pitchFamily="34" charset="0"/>
              <a:buChar char="•"/>
              <a:tabLst>
                <a:tab pos="1527175" algn="l"/>
              </a:tabLst>
            </a:pPr>
            <a:r>
              <a:rPr kumimoji="1" lang="ja-JP" altLang="en-US" sz="2000" dirty="0"/>
              <a:t>区間</a:t>
            </a:r>
            <a:r>
              <a:rPr kumimoji="1" lang="en-US" altLang="ja-JP" sz="2000" dirty="0"/>
              <a:t>	</a:t>
            </a:r>
            <a:r>
              <a:rPr kumimoji="1" lang="ja-JP" altLang="en-US" sz="2000" dirty="0"/>
              <a:t>：</a:t>
            </a:r>
            <a:r>
              <a:rPr kumimoji="1" lang="en-US" altLang="ja-JP" sz="2000" dirty="0"/>
              <a:t>2</a:t>
            </a:r>
            <a:r>
              <a:rPr lang="en-US" altLang="ja-JP" sz="2000" dirty="0"/>
              <a:t>.</a:t>
            </a:r>
            <a:r>
              <a:rPr kumimoji="1" lang="en-US" altLang="ja-JP" sz="2000" dirty="0"/>
              <a:t>3</a:t>
            </a:r>
            <a:r>
              <a:rPr kumimoji="1" lang="ja-JP" altLang="en-US" sz="2000" dirty="0"/>
              <a:t>分程度の動画に対して、患者さんの応答部分の先頭</a:t>
            </a:r>
            <a:r>
              <a:rPr kumimoji="1" lang="en-US" altLang="ja-JP" sz="2000" dirty="0"/>
              <a:t>1</a:t>
            </a:r>
            <a:r>
              <a:rPr kumimoji="1" lang="ja-JP" altLang="en-US" sz="2000" dirty="0"/>
              <a:t>秒間</a:t>
            </a:r>
            <a:endParaRPr lang="en-US" altLang="ja-JP" sz="2000" dirty="0"/>
          </a:p>
          <a:p>
            <a:pPr lvl="1">
              <a:lnSpc>
                <a:spcPct val="100000"/>
              </a:lnSpc>
              <a:tabLst>
                <a:tab pos="1611313" algn="l"/>
              </a:tabLst>
            </a:pPr>
            <a:r>
              <a:rPr lang="en-US" altLang="ja-JP" sz="1600" dirty="0"/>
              <a:t>	</a:t>
            </a:r>
            <a:r>
              <a:rPr kumimoji="1" lang="ja-JP" altLang="en-US" sz="1600" dirty="0"/>
              <a:t>（＊ただし、患者さんによって応答部分が</a:t>
            </a:r>
            <a:r>
              <a:rPr kumimoji="1" lang="en-US" altLang="ja-JP" sz="1600" dirty="0"/>
              <a:t>1</a:t>
            </a:r>
            <a:r>
              <a:rPr kumimoji="1" lang="ja-JP" altLang="en-US" sz="1600" dirty="0"/>
              <a:t>秒間に満たない場合あり）</a:t>
            </a:r>
            <a:endParaRPr kumimoji="1" lang="en-US" altLang="ja-JP" sz="1600" dirty="0"/>
          </a:p>
          <a:p>
            <a:pPr marL="520700" lvl="1" indent="-342900">
              <a:lnSpc>
                <a:spcPct val="150000"/>
              </a:lnSpc>
              <a:buFont typeface="Arial" panose="020B0604020202020204" pitchFamily="34" charset="0"/>
              <a:buChar char="•"/>
              <a:tabLst>
                <a:tab pos="2420938" algn="l"/>
              </a:tabLst>
            </a:pPr>
            <a:r>
              <a:rPr lang="ja-JP" altLang="en-US" sz="2000" dirty="0"/>
              <a:t>フレームサイズ</a:t>
            </a:r>
            <a:r>
              <a:rPr lang="en-US" altLang="ja-JP" sz="2000" dirty="0"/>
              <a:t>	</a:t>
            </a:r>
            <a:r>
              <a:rPr lang="ja-JP" altLang="en-US" sz="2000" dirty="0"/>
              <a:t>：</a:t>
            </a:r>
            <a:r>
              <a:rPr lang="en-US" altLang="ja-JP" sz="2000" dirty="0"/>
              <a:t>20ms, 200ms</a:t>
            </a:r>
            <a:r>
              <a:rPr lang="ja-JP" altLang="en-US" sz="2000" dirty="0"/>
              <a:t>（フレームサイズで違いがあるのかをチェック）</a:t>
            </a:r>
            <a:endParaRPr lang="en-US" altLang="ja-JP" sz="2000" dirty="0"/>
          </a:p>
          <a:p>
            <a:pPr marL="520700" lvl="1" indent="-342900">
              <a:lnSpc>
                <a:spcPct val="150000"/>
              </a:lnSpc>
              <a:buFont typeface="Arial" panose="020B0604020202020204" pitchFamily="34" charset="0"/>
              <a:buChar char="•"/>
              <a:tabLst>
                <a:tab pos="2420938" algn="l"/>
                <a:tab pos="2960688" algn="l"/>
              </a:tabLst>
            </a:pPr>
            <a:r>
              <a:rPr lang="ja-JP" altLang="en-US" sz="2000" dirty="0"/>
              <a:t>フレームステップ</a:t>
            </a:r>
            <a:r>
              <a:rPr lang="en-US" altLang="ja-JP" sz="2000" dirty="0"/>
              <a:t>	</a:t>
            </a:r>
            <a:r>
              <a:rPr lang="ja-JP" altLang="en-US" sz="2000" dirty="0"/>
              <a:t>：</a:t>
            </a:r>
            <a:r>
              <a:rPr lang="en-US" altLang="ja-JP" sz="2000" dirty="0"/>
              <a:t>10ms</a:t>
            </a:r>
          </a:p>
          <a:p>
            <a:pPr lvl="1"/>
            <a:endParaRPr lang="en-US" altLang="ja-JP" dirty="0"/>
          </a:p>
          <a:p>
            <a:pPr lvl="2"/>
            <a:endParaRPr kumimoji="1" lang="en-US" altLang="ja-JP" dirty="0"/>
          </a:p>
          <a:p>
            <a:pPr marL="877888" lvl="2" indent="-342900">
              <a:buFont typeface="Arial" panose="020B0604020202020204" pitchFamily="34" charset="0"/>
              <a:buChar char="•"/>
            </a:pPr>
            <a:endParaRPr kumimoji="1" lang="en-US" altLang="ja-JP" dirty="0"/>
          </a:p>
        </p:txBody>
      </p:sp>
      <p:sp>
        <p:nvSpPr>
          <p:cNvPr id="5" name="コンテンツ プレースホルダー 4">
            <a:extLst>
              <a:ext uri="{FF2B5EF4-FFF2-40B4-BE49-F238E27FC236}">
                <a16:creationId xmlns:a16="http://schemas.microsoft.com/office/drawing/2014/main" id="{E7122DC4-3EA4-D084-44D1-F31B0755FCCB}"/>
              </a:ext>
            </a:extLst>
          </p:cNvPr>
          <p:cNvSpPr>
            <a:spLocks noGrp="1"/>
          </p:cNvSpPr>
          <p:nvPr>
            <p:ph sz="quarter" idx="12"/>
          </p:nvPr>
        </p:nvSpPr>
        <p:spPr/>
        <p:txBody>
          <a:bodyPr/>
          <a:lstStyle/>
          <a:p>
            <a:endParaRPr kumimoji="1" lang="ja-JP" altLang="en-US"/>
          </a:p>
        </p:txBody>
      </p:sp>
    </p:spTree>
    <p:extLst>
      <p:ext uri="{BB962C8B-B14F-4D97-AF65-F5344CB8AC3E}">
        <p14:creationId xmlns:p14="http://schemas.microsoft.com/office/powerpoint/2010/main" val="2759041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A8581D-E0A5-A9B1-149A-17615F32C382}"/>
              </a:ext>
            </a:extLst>
          </p:cNvPr>
          <p:cNvSpPr>
            <a:spLocks noGrp="1"/>
          </p:cNvSpPr>
          <p:nvPr>
            <p:ph type="title"/>
          </p:nvPr>
        </p:nvSpPr>
        <p:spPr/>
        <p:txBody>
          <a:bodyPr/>
          <a:lstStyle/>
          <a:p>
            <a:r>
              <a:rPr lang="ja-JP" altLang="en-US" dirty="0"/>
              <a:t>特徴抽出後の音声特徴、特徴量設計</a:t>
            </a:r>
            <a:endParaRPr kumimoji="1" lang="ja-JP" altLang="en-US" dirty="0"/>
          </a:p>
        </p:txBody>
      </p:sp>
      <p:sp>
        <p:nvSpPr>
          <p:cNvPr id="3" name="テキスト プレースホルダー 2">
            <a:extLst>
              <a:ext uri="{FF2B5EF4-FFF2-40B4-BE49-F238E27FC236}">
                <a16:creationId xmlns:a16="http://schemas.microsoft.com/office/drawing/2014/main" id="{B212A114-7DF1-CAAA-B971-BF8D3328E8F9}"/>
              </a:ext>
            </a:extLst>
          </p:cNvPr>
          <p:cNvSpPr>
            <a:spLocks noGrp="1"/>
          </p:cNvSpPr>
          <p:nvPr>
            <p:ph type="body" sz="quarter" idx="10"/>
          </p:nvPr>
        </p:nvSpPr>
        <p:spPr>
          <a:xfrm>
            <a:off x="1097493" y="1039092"/>
            <a:ext cx="10654238" cy="5385888"/>
          </a:xfrm>
        </p:spPr>
        <p:txBody>
          <a:bodyPr/>
          <a:lstStyle/>
          <a:p>
            <a:pPr marL="342900" indent="-342900">
              <a:buFont typeface="Wingdings" panose="05000000000000000000" pitchFamily="2" charset="2"/>
              <a:buChar char="Ø"/>
            </a:pPr>
            <a:r>
              <a:rPr kumimoji="1" lang="en-US" altLang="ja-JP" dirty="0"/>
              <a:t>opensmile</a:t>
            </a:r>
            <a:r>
              <a:rPr kumimoji="1" lang="ja-JP" altLang="en-US" dirty="0"/>
              <a:t>の</a:t>
            </a:r>
            <a:r>
              <a:rPr kumimoji="1" lang="en-US" altLang="ja-JP" dirty="0"/>
              <a:t>eGeMAPSv02</a:t>
            </a:r>
            <a:r>
              <a:rPr kumimoji="1" lang="ja-JP" altLang="en-US" dirty="0"/>
              <a:t>でとれる特徴量の中で、主に音声認識で使用されることが多い特徴量や</a:t>
            </a:r>
            <a:r>
              <a:rPr lang="ja-JP" altLang="en-US" dirty="0"/>
              <a:t>関連論文で使用されていない</a:t>
            </a:r>
            <a:r>
              <a:rPr kumimoji="1" lang="ja-JP" altLang="en-US" dirty="0"/>
              <a:t>特徴量を除く</a:t>
            </a:r>
            <a:endParaRPr lang="en-US" altLang="ja-JP" dirty="0"/>
          </a:p>
          <a:p>
            <a:pPr marL="520700" lvl="1" indent="-342900">
              <a:buFont typeface="Arial" panose="020B0604020202020204" pitchFamily="34" charset="0"/>
              <a:buChar char="•"/>
            </a:pPr>
            <a:r>
              <a:rPr lang="en-US" altLang="ja-JP" sz="2000" dirty="0"/>
              <a:t>Loudness, MFCC, Alpha Ratio, Hammarberg Index, Spectral Slope, </a:t>
            </a:r>
            <a:br>
              <a:rPr lang="en-US" altLang="ja-JP" sz="2000" dirty="0"/>
            </a:br>
            <a:r>
              <a:rPr lang="en-US" altLang="ja-JP" sz="2000" dirty="0"/>
              <a:t>logRelF0-H1-H2, logRelF0-H1-A3</a:t>
            </a:r>
            <a:r>
              <a:rPr lang="ja-JP" altLang="en-US" sz="2000" dirty="0"/>
              <a:t>を除く</a:t>
            </a:r>
            <a:endParaRPr lang="en-US" altLang="ja-JP" sz="2000" dirty="0"/>
          </a:p>
          <a:p>
            <a:pPr marL="520700" lvl="1" indent="-342900">
              <a:buFont typeface="Arial" panose="020B0604020202020204" pitchFamily="34" charset="0"/>
              <a:buChar char="•"/>
            </a:pPr>
            <a:r>
              <a:rPr lang="ja-JP" altLang="en-US" sz="2000" dirty="0"/>
              <a:t>残りの</a:t>
            </a:r>
            <a:r>
              <a:rPr lang="en-US" altLang="ja-JP" sz="2000" dirty="0"/>
              <a:t>14</a:t>
            </a:r>
            <a:r>
              <a:rPr lang="ja-JP" altLang="en-US" sz="2000" dirty="0"/>
              <a:t>種類の特徴量を使用</a:t>
            </a:r>
            <a:br>
              <a:rPr lang="en-US" altLang="ja-JP" sz="2000" dirty="0"/>
            </a:br>
            <a:r>
              <a:rPr lang="ja-JP" altLang="en-US" sz="2000" dirty="0"/>
              <a:t>（</a:t>
            </a:r>
            <a:r>
              <a:rPr lang="en-US" altLang="ja-JP" sz="2000" dirty="0"/>
              <a:t>spectral Flux, F0, jitter, shimmer, HNR, F1-3 frequency bandwidth amplitude</a:t>
            </a:r>
            <a:r>
              <a:rPr lang="ja-JP" altLang="en-US" sz="2000" dirty="0"/>
              <a:t>）</a:t>
            </a:r>
            <a:endParaRPr lang="en-US" altLang="ja-JP" sz="2000" dirty="0"/>
          </a:p>
          <a:p>
            <a:pPr lvl="1"/>
            <a:endParaRPr lang="en-US" altLang="ja-JP" sz="2000" dirty="0"/>
          </a:p>
          <a:p>
            <a:pPr marL="342900" indent="-342900">
              <a:buFont typeface="Wingdings" panose="05000000000000000000" pitchFamily="2" charset="2"/>
              <a:buChar char="Ø"/>
            </a:pPr>
            <a:r>
              <a:rPr lang="ja-JP" altLang="en-US" dirty="0"/>
              <a:t>抽出後の特徴量に特徴量設計を適用</a:t>
            </a:r>
            <a:endParaRPr lang="en-US" altLang="ja-JP" dirty="0"/>
          </a:p>
          <a:p>
            <a:pPr marL="520700" lvl="1" indent="-342900">
              <a:buFont typeface="Arial" panose="020B0604020202020204" pitchFamily="34" charset="0"/>
              <a:buChar char="•"/>
            </a:pPr>
            <a:r>
              <a:rPr lang="ja-JP" altLang="en-US" sz="2000" dirty="0"/>
              <a:t>生データ（患者さん</a:t>
            </a:r>
            <a:r>
              <a:rPr lang="en-US" altLang="ja-JP" sz="2000" dirty="0"/>
              <a:t>1</a:t>
            </a:r>
            <a:r>
              <a:rPr lang="ja-JP" altLang="en-US" sz="2000" dirty="0"/>
              <a:t>人につき約</a:t>
            </a:r>
            <a:r>
              <a:rPr lang="en-US" altLang="ja-JP" sz="2000" dirty="0"/>
              <a:t>850×15</a:t>
            </a:r>
            <a:r>
              <a:rPr lang="ja-JP" altLang="en-US" sz="2000" dirty="0"/>
              <a:t>次元）</a:t>
            </a:r>
            <a:endParaRPr lang="en-US" altLang="ja-JP" sz="1600" dirty="0"/>
          </a:p>
          <a:p>
            <a:pPr marL="520700" lvl="1" indent="-342900">
              <a:buFont typeface="Arial" panose="020B0604020202020204" pitchFamily="34" charset="0"/>
              <a:buChar char="•"/>
            </a:pPr>
            <a:r>
              <a:rPr lang="ja-JP" altLang="en-US" sz="2000" dirty="0"/>
              <a:t>質問ごとの平均値を入力（患者さん</a:t>
            </a:r>
            <a:r>
              <a:rPr lang="en-US" altLang="ja-JP" sz="2000" dirty="0"/>
              <a:t>1</a:t>
            </a:r>
            <a:r>
              <a:rPr lang="ja-JP" altLang="en-US" sz="2000" dirty="0"/>
              <a:t>人につき約</a:t>
            </a:r>
            <a:r>
              <a:rPr lang="en-US" altLang="ja-JP" sz="2000" dirty="0"/>
              <a:t>9×15</a:t>
            </a:r>
            <a:r>
              <a:rPr lang="ja-JP" altLang="en-US" sz="2000" dirty="0"/>
              <a:t>次元）</a:t>
            </a:r>
            <a:endParaRPr lang="en-US" altLang="ja-JP" sz="2000" dirty="0"/>
          </a:p>
          <a:p>
            <a:pPr marL="520700" lvl="1" indent="-342900">
              <a:buFont typeface="Arial" panose="020B0604020202020204" pitchFamily="34" charset="0"/>
              <a:buChar char="•"/>
            </a:pPr>
            <a:r>
              <a:rPr lang="ja-JP" altLang="en-US" sz="2000" dirty="0"/>
              <a:t>質問ごとの最大値を入力（患者さん</a:t>
            </a:r>
            <a:r>
              <a:rPr lang="en-US" altLang="ja-JP" sz="2000" dirty="0"/>
              <a:t>1</a:t>
            </a:r>
            <a:r>
              <a:rPr lang="ja-JP" altLang="en-US" sz="2000" dirty="0"/>
              <a:t>人につき約</a:t>
            </a:r>
            <a:r>
              <a:rPr lang="en-US" altLang="ja-JP" sz="2000" dirty="0"/>
              <a:t>9×15</a:t>
            </a:r>
            <a:r>
              <a:rPr lang="ja-JP" altLang="en-US" sz="2000" dirty="0"/>
              <a:t>次元）</a:t>
            </a:r>
            <a:endParaRPr lang="en-US" altLang="ja-JP" sz="2000" dirty="0"/>
          </a:p>
          <a:p>
            <a:pPr lvl="1"/>
            <a:br>
              <a:rPr lang="en-US" altLang="ja-JP" dirty="0"/>
            </a:br>
            <a:br>
              <a:rPr lang="en-US" altLang="ja-JP" sz="2000" dirty="0"/>
            </a:br>
            <a:endParaRPr lang="en-US" altLang="ja-JP" sz="2000" dirty="0"/>
          </a:p>
          <a:p>
            <a:pPr marL="520700" lvl="1" indent="-342900">
              <a:buFont typeface="Arial" panose="020B0604020202020204" pitchFamily="34" charset="0"/>
              <a:buChar char="•"/>
            </a:pPr>
            <a:endParaRPr lang="en-US" altLang="ja-JP" sz="2000" dirty="0"/>
          </a:p>
        </p:txBody>
      </p:sp>
      <p:sp>
        <p:nvSpPr>
          <p:cNvPr id="5" name="コンテンツ プレースホルダー 4">
            <a:extLst>
              <a:ext uri="{FF2B5EF4-FFF2-40B4-BE49-F238E27FC236}">
                <a16:creationId xmlns:a16="http://schemas.microsoft.com/office/drawing/2014/main" id="{4911B2DE-A8C3-AE87-ED6E-7E9DB9E68F12}"/>
              </a:ext>
            </a:extLst>
          </p:cNvPr>
          <p:cNvSpPr>
            <a:spLocks noGrp="1"/>
          </p:cNvSpPr>
          <p:nvPr>
            <p:ph sz="quarter" idx="12"/>
          </p:nvPr>
        </p:nvSpPr>
        <p:spPr/>
        <p:txBody>
          <a:bodyPr/>
          <a:lstStyle/>
          <a:p>
            <a:endParaRPr kumimoji="1" lang="ja-JP" altLang="en-US"/>
          </a:p>
        </p:txBody>
      </p:sp>
    </p:spTree>
    <p:extLst>
      <p:ext uri="{BB962C8B-B14F-4D97-AF65-F5344CB8AC3E}">
        <p14:creationId xmlns:p14="http://schemas.microsoft.com/office/powerpoint/2010/main" val="346985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0C874-1FDD-204A-CDAA-FE03B8BCBD8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433413-F981-C120-382B-3FA657A701EB}"/>
              </a:ext>
            </a:extLst>
          </p:cNvPr>
          <p:cNvSpPr>
            <a:spLocks noGrp="1"/>
          </p:cNvSpPr>
          <p:nvPr>
            <p:ph type="title"/>
          </p:nvPr>
        </p:nvSpPr>
        <p:spPr/>
        <p:txBody>
          <a:bodyPr/>
          <a:lstStyle/>
          <a:p>
            <a:r>
              <a:rPr lang="ja-JP" altLang="en-US" dirty="0"/>
              <a:t>機械学習の学習手法</a:t>
            </a:r>
            <a:endParaRPr kumimoji="1" lang="ja-JP" altLang="en-US" dirty="0"/>
          </a:p>
        </p:txBody>
      </p:sp>
      <p:sp>
        <p:nvSpPr>
          <p:cNvPr id="3" name="テキスト プレースホルダー 2">
            <a:extLst>
              <a:ext uri="{FF2B5EF4-FFF2-40B4-BE49-F238E27FC236}">
                <a16:creationId xmlns:a16="http://schemas.microsoft.com/office/drawing/2014/main" id="{F1F4A908-3074-1239-0DD5-DC58F348F4A9}"/>
              </a:ext>
            </a:extLst>
          </p:cNvPr>
          <p:cNvSpPr>
            <a:spLocks noGrp="1"/>
          </p:cNvSpPr>
          <p:nvPr>
            <p:ph type="body" sz="quarter" idx="10"/>
          </p:nvPr>
        </p:nvSpPr>
        <p:spPr>
          <a:xfrm>
            <a:off x="1097493" y="1039092"/>
            <a:ext cx="10654238" cy="5385888"/>
          </a:xfrm>
        </p:spPr>
        <p:txBody>
          <a:bodyPr/>
          <a:lstStyle/>
          <a:p>
            <a:pPr marL="342900" indent="-342900">
              <a:buFont typeface="Wingdings" panose="05000000000000000000" pitchFamily="2" charset="2"/>
              <a:buChar char="Ø"/>
            </a:pPr>
            <a:r>
              <a:rPr lang="ja-JP" altLang="en-US" dirty="0"/>
              <a:t>特徴量設計後、ランダムフォレストを使用して学習</a:t>
            </a:r>
            <a:endParaRPr lang="en-US" altLang="ja-JP" dirty="0"/>
          </a:p>
          <a:p>
            <a:pPr marL="520700" lvl="1" indent="-342900">
              <a:buFont typeface="Arial" panose="020B0604020202020204" pitchFamily="34" charset="0"/>
              <a:buChar char="•"/>
            </a:pPr>
            <a:r>
              <a:rPr lang="ja-JP" altLang="en-US" sz="2000" dirty="0"/>
              <a:t>学習器：ランダムフォレスト</a:t>
            </a:r>
            <a:br>
              <a:rPr lang="en-US" altLang="ja-JP" sz="2000" dirty="0"/>
            </a:br>
            <a:r>
              <a:rPr lang="ja-JP" altLang="en-US" sz="2000" dirty="0"/>
              <a:t>隣り合うデータにそこまで差がない可能性、また</a:t>
            </a:r>
            <a:r>
              <a:rPr lang="en-US" altLang="ja-JP" sz="2000" dirty="0"/>
              <a:t>15</a:t>
            </a:r>
            <a:r>
              <a:rPr lang="ja-JP" altLang="en-US" sz="2000" dirty="0"/>
              <a:t>個の特徴量を使用しているため、木構造のアルゴリズムを選択</a:t>
            </a:r>
            <a:br>
              <a:rPr lang="en-US" altLang="ja-JP" sz="2000" dirty="0"/>
            </a:br>
            <a:endParaRPr lang="en-US" altLang="ja-JP" sz="2000" dirty="0"/>
          </a:p>
          <a:p>
            <a:pPr marL="520700" lvl="1" indent="-342900">
              <a:buFont typeface="Arial" panose="020B0604020202020204" pitchFamily="34" charset="0"/>
              <a:buChar char="•"/>
            </a:pPr>
            <a:r>
              <a:rPr lang="ja-JP" altLang="en-US" sz="2000" dirty="0"/>
              <a:t>データ分割手法：層化</a:t>
            </a:r>
            <a:r>
              <a:rPr lang="en-US" altLang="ja-JP" sz="2000" dirty="0"/>
              <a:t>5</a:t>
            </a:r>
            <a:r>
              <a:rPr lang="ja-JP" altLang="en-US" sz="2000" dirty="0"/>
              <a:t>分割交差検証</a:t>
            </a:r>
            <a:br>
              <a:rPr lang="en-US" altLang="ja-JP" sz="2000" dirty="0"/>
            </a:br>
            <a:r>
              <a:rPr lang="en-US" altLang="ja-JP" sz="2000" dirty="0"/>
              <a:t>(5</a:t>
            </a:r>
            <a:r>
              <a:rPr lang="ja-JP" altLang="en-US" sz="2000" dirty="0"/>
              <a:t>分割交差検証の場合、各Ｆｏｌｄでせん妄患者と非せん妄患者の割合に偏りがあった</a:t>
            </a:r>
            <a:r>
              <a:rPr lang="en-US" altLang="ja-JP" sz="2000" dirty="0"/>
              <a:t>)</a:t>
            </a:r>
            <a:br>
              <a:rPr lang="en-US" altLang="ja-JP" sz="2000" dirty="0"/>
            </a:br>
            <a:r>
              <a:rPr lang="en-US" altLang="ja-JP" sz="2000" dirty="0"/>
              <a:t>1. </a:t>
            </a:r>
            <a:r>
              <a:rPr lang="ja-JP" altLang="en-US" sz="2000" dirty="0"/>
              <a:t>各クラスのデータを</a:t>
            </a:r>
            <a:r>
              <a:rPr lang="en-US" altLang="ja-JP" sz="2000" dirty="0"/>
              <a:t>5</a:t>
            </a:r>
            <a:r>
              <a:rPr lang="ja-JP" altLang="en-US" sz="2000" dirty="0"/>
              <a:t>分割</a:t>
            </a:r>
            <a:br>
              <a:rPr lang="en-US" altLang="ja-JP" sz="2000" dirty="0"/>
            </a:br>
            <a:r>
              <a:rPr lang="en-US" altLang="ja-JP" sz="2000" dirty="0"/>
              <a:t>2. </a:t>
            </a:r>
            <a:r>
              <a:rPr lang="ja-JP" altLang="en-US" sz="2000" dirty="0"/>
              <a:t>各クラスの</a:t>
            </a:r>
            <a:r>
              <a:rPr lang="en-US" altLang="ja-JP" sz="2000" dirty="0"/>
              <a:t>1</a:t>
            </a:r>
            <a:r>
              <a:rPr lang="ja-JP" altLang="en-US" sz="2000" dirty="0"/>
              <a:t>個を検証データ、残りを学習データとし、学習・評価を行う</a:t>
            </a:r>
            <a:br>
              <a:rPr lang="en-US" altLang="ja-JP" sz="2000" dirty="0"/>
            </a:br>
            <a:r>
              <a:rPr lang="en-US" altLang="ja-JP" sz="2000" dirty="0"/>
              <a:t>3. </a:t>
            </a:r>
            <a:r>
              <a:rPr lang="ja-JP" altLang="en-US" sz="2000" dirty="0"/>
              <a:t>検証データを入れ替え、</a:t>
            </a:r>
            <a:r>
              <a:rPr lang="en-US" altLang="ja-JP" sz="2000" dirty="0"/>
              <a:t>1,2</a:t>
            </a:r>
            <a:r>
              <a:rPr lang="ja-JP" altLang="en-US" sz="2000" dirty="0"/>
              <a:t>を</a:t>
            </a:r>
            <a:r>
              <a:rPr lang="en-US" altLang="ja-JP" sz="2000" dirty="0"/>
              <a:t>5</a:t>
            </a:r>
            <a:r>
              <a:rPr lang="ja-JP" altLang="en-US" sz="2000" dirty="0"/>
              <a:t>回繰り返す</a:t>
            </a:r>
            <a:br>
              <a:rPr lang="en-US" altLang="ja-JP" sz="2000" dirty="0"/>
            </a:br>
            <a:endParaRPr lang="en-US" altLang="ja-JP" sz="2000" dirty="0"/>
          </a:p>
          <a:p>
            <a:pPr marL="520700" lvl="1" indent="-342900">
              <a:buFont typeface="Arial" panose="020B0604020202020204" pitchFamily="34" charset="0"/>
              <a:buChar char="•"/>
            </a:pPr>
            <a:r>
              <a:rPr lang="ja-JP" altLang="en-US" sz="2000" dirty="0"/>
              <a:t>精度の算出方法</a:t>
            </a:r>
            <a:br>
              <a:rPr lang="en-US" altLang="ja-JP" sz="2000" dirty="0"/>
            </a:br>
            <a:r>
              <a:rPr lang="ja-JP" altLang="en-US" sz="2000" dirty="0"/>
              <a:t>各</a:t>
            </a:r>
            <a:r>
              <a:rPr lang="en-US" altLang="ja-JP" sz="2000" dirty="0"/>
              <a:t>Fold</a:t>
            </a:r>
            <a:r>
              <a:rPr lang="ja-JP" altLang="en-US" sz="2000" dirty="0"/>
              <a:t>ごとに、混同行列を作成し、その５つの混同行列の結果から感度・特異度を算出</a:t>
            </a:r>
            <a:br>
              <a:rPr lang="en-US" altLang="ja-JP" dirty="0"/>
            </a:br>
            <a:br>
              <a:rPr lang="en-US" altLang="ja-JP" sz="2000" dirty="0"/>
            </a:br>
            <a:endParaRPr lang="en-US" altLang="ja-JP" sz="2000" dirty="0"/>
          </a:p>
          <a:p>
            <a:pPr marL="520700" lvl="1" indent="-342900">
              <a:buFont typeface="Arial" panose="020B0604020202020204" pitchFamily="34" charset="0"/>
              <a:buChar char="•"/>
            </a:pPr>
            <a:endParaRPr lang="en-US" altLang="ja-JP" sz="2000" dirty="0"/>
          </a:p>
        </p:txBody>
      </p:sp>
      <p:sp>
        <p:nvSpPr>
          <p:cNvPr id="5" name="コンテンツ プレースホルダー 4">
            <a:extLst>
              <a:ext uri="{FF2B5EF4-FFF2-40B4-BE49-F238E27FC236}">
                <a16:creationId xmlns:a16="http://schemas.microsoft.com/office/drawing/2014/main" id="{8C73BA75-F18A-4C2A-7AAE-06632962B030}"/>
              </a:ext>
            </a:extLst>
          </p:cNvPr>
          <p:cNvSpPr>
            <a:spLocks noGrp="1"/>
          </p:cNvSpPr>
          <p:nvPr>
            <p:ph sz="quarter" idx="12"/>
          </p:nvPr>
        </p:nvSpPr>
        <p:spPr/>
        <p:txBody>
          <a:bodyPr/>
          <a:lstStyle/>
          <a:p>
            <a:endParaRPr kumimoji="1" lang="ja-JP" altLang="en-US"/>
          </a:p>
        </p:txBody>
      </p:sp>
    </p:spTree>
    <p:extLst>
      <p:ext uri="{BB962C8B-B14F-4D97-AF65-F5344CB8AC3E}">
        <p14:creationId xmlns:p14="http://schemas.microsoft.com/office/powerpoint/2010/main" val="1069170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3B403-EBB2-BA88-7165-918C423043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FACDE6-EF6D-7FC4-D6BF-F5EB4445C214}"/>
              </a:ext>
            </a:extLst>
          </p:cNvPr>
          <p:cNvSpPr>
            <a:spLocks noGrp="1"/>
          </p:cNvSpPr>
          <p:nvPr>
            <p:ph type="title"/>
          </p:nvPr>
        </p:nvSpPr>
        <p:spPr/>
        <p:txBody>
          <a:bodyPr/>
          <a:lstStyle/>
          <a:p>
            <a:r>
              <a:rPr kumimoji="1" lang="ja-JP" altLang="en-US" dirty="0"/>
              <a:t>結果③</a:t>
            </a:r>
            <a:r>
              <a:rPr lang="ja-JP" altLang="en-US" dirty="0"/>
              <a:t>（音声のみを特徴量）</a:t>
            </a:r>
            <a:endParaRPr kumimoji="1" lang="ja-JP" altLang="en-US" dirty="0"/>
          </a:p>
        </p:txBody>
      </p:sp>
      <p:sp>
        <p:nvSpPr>
          <p:cNvPr id="3" name="テキスト プレースホルダー 2">
            <a:extLst>
              <a:ext uri="{FF2B5EF4-FFF2-40B4-BE49-F238E27FC236}">
                <a16:creationId xmlns:a16="http://schemas.microsoft.com/office/drawing/2014/main" id="{EF787CBC-F3F4-6885-378E-86E14D4E62DC}"/>
              </a:ext>
            </a:extLst>
          </p:cNvPr>
          <p:cNvSpPr>
            <a:spLocks noGrp="1"/>
          </p:cNvSpPr>
          <p:nvPr>
            <p:ph type="body" sz="quarter" idx="10"/>
          </p:nvPr>
        </p:nvSpPr>
        <p:spPr>
          <a:xfrm>
            <a:off x="1097493" y="1039092"/>
            <a:ext cx="10654238" cy="5385888"/>
          </a:xfrm>
        </p:spPr>
        <p:txBody>
          <a:bodyPr/>
          <a:lstStyle/>
          <a:p>
            <a:pPr marL="342900" indent="-342900">
              <a:buFont typeface="Wingdings" panose="05000000000000000000" pitchFamily="2" charset="2"/>
              <a:buChar char="Ø"/>
            </a:pPr>
            <a:r>
              <a:rPr lang="ja-JP" altLang="en-US" dirty="0"/>
              <a:t>分類結果</a:t>
            </a:r>
            <a:r>
              <a:rPr lang="en-US" altLang="ja-JP" dirty="0"/>
              <a:t>(</a:t>
            </a:r>
            <a:r>
              <a:rPr lang="ja-JP" altLang="en-US" dirty="0"/>
              <a:t>横軸：特徴量設計、縦軸：フレームサイズ、ランダムフォレスト</a:t>
            </a:r>
            <a:r>
              <a:rPr lang="en-US" altLang="ja-JP" dirty="0"/>
              <a:t>)</a:t>
            </a:r>
          </a:p>
          <a:p>
            <a:pPr marL="342900" indent="-342900">
              <a:buFont typeface="Wingdings" panose="05000000000000000000" pitchFamily="2" charset="2"/>
              <a:buChar char="Ø"/>
            </a:pPr>
            <a:endParaRPr lang="en-US" altLang="ja-JP" dirty="0"/>
          </a:p>
          <a:p>
            <a:pPr marL="342900" indent="-342900">
              <a:buFont typeface="Wingdings" panose="05000000000000000000" pitchFamily="2" charset="2"/>
              <a:buChar char="Ø"/>
            </a:pPr>
            <a:endParaRPr lang="en-US" altLang="ja-JP" dirty="0"/>
          </a:p>
          <a:p>
            <a:pPr marL="342900" indent="-342900">
              <a:buFont typeface="Wingdings" panose="05000000000000000000" pitchFamily="2" charset="2"/>
              <a:buChar char="Ø"/>
            </a:pPr>
            <a:endParaRPr lang="en-US" altLang="ja-JP" dirty="0"/>
          </a:p>
          <a:p>
            <a:pPr marL="342900" indent="-342900">
              <a:buFont typeface="Wingdings" panose="05000000000000000000" pitchFamily="2" charset="2"/>
              <a:buChar char="Ø"/>
            </a:pPr>
            <a:endParaRPr lang="en-US" altLang="ja-JP" dirty="0"/>
          </a:p>
          <a:p>
            <a:br>
              <a:rPr lang="en-US" altLang="ja-JP" dirty="0"/>
            </a:br>
            <a:br>
              <a:rPr lang="en-US" altLang="ja-JP" sz="2000" dirty="0"/>
            </a:br>
            <a:endParaRPr lang="en-US" altLang="ja-JP" sz="2000" dirty="0"/>
          </a:p>
          <a:p>
            <a:pPr marL="520700" lvl="1" indent="-342900">
              <a:buFont typeface="Arial" panose="020B0604020202020204" pitchFamily="34" charset="0"/>
              <a:buChar char="•"/>
            </a:pPr>
            <a:endParaRPr lang="en-US" altLang="ja-JP" sz="2000" dirty="0"/>
          </a:p>
        </p:txBody>
      </p:sp>
      <p:graphicFrame>
        <p:nvGraphicFramePr>
          <p:cNvPr id="6" name="コンテンツ プレースホルダー 5">
            <a:extLst>
              <a:ext uri="{FF2B5EF4-FFF2-40B4-BE49-F238E27FC236}">
                <a16:creationId xmlns:a16="http://schemas.microsoft.com/office/drawing/2014/main" id="{F351CB70-A582-BD84-CF21-E3C48BA8ED39}"/>
              </a:ext>
            </a:extLst>
          </p:cNvPr>
          <p:cNvGraphicFramePr>
            <a:graphicFrameLocks noGrp="1"/>
          </p:cNvGraphicFramePr>
          <p:nvPr>
            <p:ph sz="quarter" idx="12"/>
            <p:extLst>
              <p:ext uri="{D42A27DB-BD31-4B8C-83A1-F6EECF244321}">
                <p14:modId xmlns:p14="http://schemas.microsoft.com/office/powerpoint/2010/main" val="2215757640"/>
              </p:ext>
            </p:extLst>
          </p:nvPr>
        </p:nvGraphicFramePr>
        <p:xfrm>
          <a:off x="1097493" y="1582561"/>
          <a:ext cx="8523392" cy="2149475"/>
        </p:xfrm>
        <a:graphic>
          <a:graphicData uri="http://schemas.openxmlformats.org/drawingml/2006/table">
            <a:tbl>
              <a:tblPr firstRow="1" bandRow="1">
                <a:tableStyleId>{21E4AEA4-8DFA-4A89-87EB-49C32662AFE0}</a:tableStyleId>
              </a:tblPr>
              <a:tblGrid>
                <a:gridCol w="2130848">
                  <a:extLst>
                    <a:ext uri="{9D8B030D-6E8A-4147-A177-3AD203B41FA5}">
                      <a16:colId xmlns:a16="http://schemas.microsoft.com/office/drawing/2014/main" val="3360619571"/>
                    </a:ext>
                  </a:extLst>
                </a:gridCol>
                <a:gridCol w="2130848">
                  <a:extLst>
                    <a:ext uri="{9D8B030D-6E8A-4147-A177-3AD203B41FA5}">
                      <a16:colId xmlns:a16="http://schemas.microsoft.com/office/drawing/2014/main" val="1319797149"/>
                    </a:ext>
                  </a:extLst>
                </a:gridCol>
                <a:gridCol w="2130848">
                  <a:extLst>
                    <a:ext uri="{9D8B030D-6E8A-4147-A177-3AD203B41FA5}">
                      <a16:colId xmlns:a16="http://schemas.microsoft.com/office/drawing/2014/main" val="3071010605"/>
                    </a:ext>
                  </a:extLst>
                </a:gridCol>
                <a:gridCol w="2130848">
                  <a:extLst>
                    <a:ext uri="{9D8B030D-6E8A-4147-A177-3AD203B41FA5}">
                      <a16:colId xmlns:a16="http://schemas.microsoft.com/office/drawing/2014/main" val="3333688120"/>
                    </a:ext>
                  </a:extLst>
                </a:gridCol>
              </a:tblGrid>
              <a:tr h="825503">
                <a:tc>
                  <a:txBody>
                    <a:bodyPr/>
                    <a:lstStyle/>
                    <a:p>
                      <a:endParaRPr kumimoji="1" lang="ja-JP" altLang="en-US" dirty="0"/>
                    </a:p>
                  </a:txBody>
                  <a:tcPr/>
                </a:tc>
                <a:tc>
                  <a:txBody>
                    <a:bodyPr/>
                    <a:lstStyle/>
                    <a:p>
                      <a:pPr algn="ctr"/>
                      <a:r>
                        <a:rPr kumimoji="1" lang="ja-JP" altLang="en-US" dirty="0"/>
                        <a:t>生データ</a:t>
                      </a:r>
                    </a:p>
                  </a:txBody>
                  <a:tcPr/>
                </a:tc>
                <a:tc>
                  <a:txBody>
                    <a:bodyPr/>
                    <a:lstStyle/>
                    <a:p>
                      <a:pPr algn="ctr"/>
                      <a:r>
                        <a:rPr kumimoji="1" lang="ja-JP" altLang="en-US" dirty="0"/>
                        <a:t>最大値</a:t>
                      </a:r>
                    </a:p>
                  </a:txBody>
                  <a:tcPr/>
                </a:tc>
                <a:tc>
                  <a:txBody>
                    <a:bodyPr/>
                    <a:lstStyle/>
                    <a:p>
                      <a:pPr algn="ctr"/>
                      <a:r>
                        <a:rPr kumimoji="1" lang="ja-JP" altLang="en-US" dirty="0"/>
                        <a:t>平均値</a:t>
                      </a:r>
                    </a:p>
                  </a:txBody>
                  <a:tcPr/>
                </a:tc>
                <a:extLst>
                  <a:ext uri="{0D108BD9-81ED-4DB2-BD59-A6C34878D82A}">
                    <a16:rowId xmlns:a16="http://schemas.microsoft.com/office/drawing/2014/main" val="1148119265"/>
                  </a:ext>
                </a:extLst>
              </a:tr>
              <a:tr h="661986">
                <a:tc>
                  <a:txBody>
                    <a:bodyPr/>
                    <a:lstStyle/>
                    <a:p>
                      <a:r>
                        <a:rPr kumimoji="1" lang="en-US" altLang="ja-JP" dirty="0"/>
                        <a:t>20ms</a:t>
                      </a:r>
                      <a:r>
                        <a:rPr kumimoji="1" lang="ja-JP" altLang="en-US" dirty="0"/>
                        <a:t>間隔</a:t>
                      </a:r>
                    </a:p>
                  </a:txBody>
                  <a:tcPr/>
                </a:tc>
                <a:tc>
                  <a:txBody>
                    <a:bodyPr/>
                    <a:lstStyle/>
                    <a:p>
                      <a:r>
                        <a:rPr kumimoji="1" lang="ja-JP" altLang="en-US" dirty="0"/>
                        <a:t>感度：</a:t>
                      </a:r>
                      <a:r>
                        <a:rPr kumimoji="1" lang="en-US" altLang="ja-JP" dirty="0"/>
                        <a:t>67.7%</a:t>
                      </a:r>
                    </a:p>
                    <a:p>
                      <a:r>
                        <a:rPr kumimoji="1" lang="ja-JP" altLang="en-US" dirty="0"/>
                        <a:t>特異度：</a:t>
                      </a:r>
                      <a:r>
                        <a:rPr kumimoji="1" lang="en-US" altLang="ja-JP" dirty="0"/>
                        <a:t>53.6%</a:t>
                      </a:r>
                      <a:endParaRPr kumimoji="1" lang="ja-JP" altLang="en-US" dirty="0"/>
                    </a:p>
                  </a:txBody>
                  <a:tcPr/>
                </a:tc>
                <a:tc>
                  <a:txBody>
                    <a:bodyPr/>
                    <a:lstStyle/>
                    <a:p>
                      <a:r>
                        <a:rPr kumimoji="1" lang="ja-JP" altLang="en-US" dirty="0"/>
                        <a:t>感度：</a:t>
                      </a:r>
                      <a:r>
                        <a:rPr kumimoji="1" lang="en-US" altLang="ja-JP" dirty="0"/>
                        <a:t>64.5%</a:t>
                      </a:r>
                    </a:p>
                    <a:p>
                      <a:r>
                        <a:rPr kumimoji="1" lang="ja-JP" altLang="en-US" dirty="0"/>
                        <a:t>特異度：</a:t>
                      </a:r>
                      <a:r>
                        <a:rPr kumimoji="1" lang="en-US" altLang="ja-JP" dirty="0"/>
                        <a:t>53.6%</a:t>
                      </a:r>
                      <a:endParaRPr kumimoji="1" lang="ja-JP" altLang="en-US" dirty="0"/>
                    </a:p>
                  </a:txBody>
                  <a:tcPr/>
                </a:tc>
                <a:tc>
                  <a:txBody>
                    <a:bodyPr/>
                    <a:lstStyle/>
                    <a:p>
                      <a:r>
                        <a:rPr kumimoji="1" lang="ja-JP" altLang="en-US" dirty="0"/>
                        <a:t>感度：</a:t>
                      </a:r>
                      <a:r>
                        <a:rPr kumimoji="1" lang="en-US" altLang="ja-JP" dirty="0"/>
                        <a:t>61.3%</a:t>
                      </a:r>
                    </a:p>
                    <a:p>
                      <a:r>
                        <a:rPr kumimoji="1" lang="ja-JP" altLang="en-US" dirty="0"/>
                        <a:t>特異度：</a:t>
                      </a:r>
                      <a:r>
                        <a:rPr kumimoji="1" lang="en-US" altLang="ja-JP" dirty="0"/>
                        <a:t>71.4%</a:t>
                      </a:r>
                      <a:endParaRPr kumimoji="1" lang="ja-JP" altLang="en-US" dirty="0"/>
                    </a:p>
                  </a:txBody>
                  <a:tcPr/>
                </a:tc>
                <a:extLst>
                  <a:ext uri="{0D108BD9-81ED-4DB2-BD59-A6C34878D82A}">
                    <a16:rowId xmlns:a16="http://schemas.microsoft.com/office/drawing/2014/main" val="32977668"/>
                  </a:ext>
                </a:extLst>
              </a:tr>
              <a:tr h="661986">
                <a:tc>
                  <a:txBody>
                    <a:bodyPr/>
                    <a:lstStyle/>
                    <a:p>
                      <a:r>
                        <a:rPr kumimoji="1" lang="en-US" altLang="ja-JP" dirty="0"/>
                        <a:t>200ms</a:t>
                      </a:r>
                      <a:r>
                        <a:rPr kumimoji="1" lang="ja-JP" altLang="en-US" dirty="0"/>
                        <a:t>間隔</a:t>
                      </a:r>
                    </a:p>
                  </a:txBody>
                  <a:tcPr/>
                </a:tc>
                <a:tc>
                  <a:txBody>
                    <a:bodyPr/>
                    <a:lstStyle/>
                    <a:p>
                      <a:pPr algn="l"/>
                      <a:r>
                        <a:rPr kumimoji="1" lang="ja-JP" altLang="en-US" dirty="0"/>
                        <a:t>感度：</a:t>
                      </a:r>
                      <a:r>
                        <a:rPr kumimoji="1" lang="en-US" altLang="ja-JP" dirty="0"/>
                        <a:t>58.1%</a:t>
                      </a:r>
                      <a:br>
                        <a:rPr kumimoji="1" lang="en-US" altLang="ja-JP" dirty="0"/>
                      </a:br>
                      <a:r>
                        <a:rPr kumimoji="1" lang="ja-JP" altLang="en-US" dirty="0"/>
                        <a:t>特異度：</a:t>
                      </a:r>
                      <a:r>
                        <a:rPr kumimoji="1" lang="en-US" altLang="ja-JP" dirty="0"/>
                        <a:t>60.7%</a:t>
                      </a:r>
                      <a:endParaRPr kumimoji="1" lang="ja-JP" altLang="en-US" dirty="0"/>
                    </a:p>
                  </a:txBody>
                  <a:tcPr/>
                </a:tc>
                <a:tc>
                  <a:txBody>
                    <a:bodyPr/>
                    <a:lstStyle/>
                    <a:p>
                      <a:r>
                        <a:rPr kumimoji="1" lang="ja-JP" altLang="en-US" dirty="0"/>
                        <a:t>感度：</a:t>
                      </a:r>
                      <a:r>
                        <a:rPr kumimoji="1" lang="en-US" altLang="ja-JP" dirty="0"/>
                        <a:t>61.3%</a:t>
                      </a:r>
                    </a:p>
                    <a:p>
                      <a:r>
                        <a:rPr kumimoji="1" lang="ja-JP" altLang="en-US" dirty="0"/>
                        <a:t>特異度：</a:t>
                      </a:r>
                      <a:r>
                        <a:rPr kumimoji="1" lang="en-US" altLang="ja-JP" dirty="0"/>
                        <a:t>53.6%</a:t>
                      </a:r>
                      <a:endParaRPr kumimoji="1" lang="ja-JP" altLang="en-US" dirty="0"/>
                    </a:p>
                  </a:txBody>
                  <a:tcPr/>
                </a:tc>
                <a:tc>
                  <a:txBody>
                    <a:bodyPr/>
                    <a:lstStyle/>
                    <a:p>
                      <a:r>
                        <a:rPr kumimoji="1" lang="ja-JP" altLang="en-US" dirty="0"/>
                        <a:t>感度：</a:t>
                      </a:r>
                      <a:r>
                        <a:rPr kumimoji="1" lang="en-US" altLang="ja-JP" dirty="0"/>
                        <a:t>54.8%</a:t>
                      </a:r>
                    </a:p>
                    <a:p>
                      <a:r>
                        <a:rPr kumimoji="1" lang="ja-JP" altLang="en-US" dirty="0"/>
                        <a:t>特異度：</a:t>
                      </a:r>
                      <a:r>
                        <a:rPr kumimoji="1" lang="en-US" altLang="ja-JP" dirty="0"/>
                        <a:t>78.6</a:t>
                      </a:r>
                      <a:r>
                        <a:rPr kumimoji="1" lang="ja-JP" altLang="en-US" dirty="0"/>
                        <a:t>％</a:t>
                      </a:r>
                    </a:p>
                  </a:txBody>
                  <a:tcPr/>
                </a:tc>
                <a:extLst>
                  <a:ext uri="{0D108BD9-81ED-4DB2-BD59-A6C34878D82A}">
                    <a16:rowId xmlns:a16="http://schemas.microsoft.com/office/drawing/2014/main" val="3541805740"/>
                  </a:ext>
                </a:extLst>
              </a:tr>
            </a:tbl>
          </a:graphicData>
        </a:graphic>
      </p:graphicFrame>
    </p:spTree>
    <p:extLst>
      <p:ext uri="{BB962C8B-B14F-4D97-AF65-F5344CB8AC3E}">
        <p14:creationId xmlns:p14="http://schemas.microsoft.com/office/powerpoint/2010/main" val="3614285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03473-968C-FED0-A057-BC25F44AD4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385244-493A-A973-2C35-351A952EA58F}"/>
              </a:ext>
            </a:extLst>
          </p:cNvPr>
          <p:cNvSpPr>
            <a:spLocks noGrp="1"/>
          </p:cNvSpPr>
          <p:nvPr>
            <p:ph type="title"/>
          </p:nvPr>
        </p:nvSpPr>
        <p:spPr/>
        <p:txBody>
          <a:bodyPr/>
          <a:lstStyle/>
          <a:p>
            <a:r>
              <a:rPr kumimoji="1" lang="ja-JP" altLang="en-US" dirty="0"/>
              <a:t>結果④</a:t>
            </a:r>
            <a:r>
              <a:rPr lang="en-US" altLang="ja-JP" dirty="0"/>
              <a:t>(</a:t>
            </a:r>
            <a:r>
              <a:rPr lang="ja-JP" altLang="en-US" dirty="0"/>
              <a:t>音声と表情の両方を特徴量</a:t>
            </a:r>
            <a:r>
              <a:rPr lang="en-US" altLang="ja-JP" dirty="0"/>
              <a:t>)</a:t>
            </a:r>
            <a:endParaRPr kumimoji="1" lang="ja-JP" altLang="en-US" dirty="0"/>
          </a:p>
        </p:txBody>
      </p:sp>
      <p:sp>
        <p:nvSpPr>
          <p:cNvPr id="3" name="テキスト プレースホルダー 2">
            <a:extLst>
              <a:ext uri="{FF2B5EF4-FFF2-40B4-BE49-F238E27FC236}">
                <a16:creationId xmlns:a16="http://schemas.microsoft.com/office/drawing/2014/main" id="{6BFD1559-8395-9C20-7564-4D0B71F833DE}"/>
              </a:ext>
            </a:extLst>
          </p:cNvPr>
          <p:cNvSpPr>
            <a:spLocks noGrp="1"/>
          </p:cNvSpPr>
          <p:nvPr>
            <p:ph type="body" sz="quarter" idx="10"/>
          </p:nvPr>
        </p:nvSpPr>
        <p:spPr>
          <a:xfrm>
            <a:off x="1097493" y="1039092"/>
            <a:ext cx="10654238" cy="5385888"/>
          </a:xfrm>
        </p:spPr>
        <p:txBody>
          <a:bodyPr/>
          <a:lstStyle/>
          <a:p>
            <a:pPr marL="342900" indent="-342900">
              <a:buFont typeface="Wingdings" panose="05000000000000000000" pitchFamily="2" charset="2"/>
              <a:buChar char="Ø"/>
            </a:pPr>
            <a:r>
              <a:rPr lang="ja-JP" altLang="en-US" dirty="0"/>
              <a:t>分類結果</a:t>
            </a:r>
            <a:r>
              <a:rPr lang="en-US" altLang="ja-JP" dirty="0"/>
              <a:t>(</a:t>
            </a:r>
            <a:r>
              <a:rPr lang="ja-JP" altLang="en-US" dirty="0"/>
              <a:t>横軸：特徴量設計、縦軸：学習器</a:t>
            </a:r>
            <a:r>
              <a:rPr lang="en-US" altLang="ja-JP" dirty="0"/>
              <a:t>(</a:t>
            </a:r>
            <a:r>
              <a:rPr lang="ja-JP" altLang="en-US" dirty="0"/>
              <a:t>ランダムフォレスト、</a:t>
            </a:r>
            <a:r>
              <a:rPr lang="en-US" altLang="ja-JP" dirty="0" err="1"/>
              <a:t>XGBoost</a:t>
            </a:r>
            <a:r>
              <a:rPr lang="en-US" altLang="ja-JP" dirty="0"/>
              <a:t>))</a:t>
            </a:r>
          </a:p>
          <a:p>
            <a:pPr marL="520700" lvl="1" indent="-342900">
              <a:buFont typeface="Arial" panose="020B0604020202020204" pitchFamily="34" charset="0"/>
              <a:buChar char="•"/>
            </a:pPr>
            <a:r>
              <a:rPr lang="ja-JP" altLang="en-US" sz="2000" dirty="0"/>
              <a:t>音声（</a:t>
            </a:r>
            <a:r>
              <a:rPr lang="en-US" altLang="ja-JP" sz="2000" dirty="0"/>
              <a:t>20ms</a:t>
            </a:r>
            <a:r>
              <a:rPr lang="ja-JP" altLang="en-US" sz="2000" dirty="0"/>
              <a:t>間隔）、表情（</a:t>
            </a:r>
            <a:r>
              <a:rPr lang="en-US" altLang="ja-JP" sz="2000" dirty="0"/>
              <a:t>30</a:t>
            </a:r>
            <a:r>
              <a:rPr lang="ja-JP" altLang="en-US" sz="2000" dirty="0"/>
              <a:t>フレーム）それぞれ別々で平均値</a:t>
            </a:r>
            <a:r>
              <a:rPr lang="en-US" altLang="ja-JP" sz="2000" dirty="0"/>
              <a:t>or</a:t>
            </a:r>
            <a:r>
              <a:rPr lang="ja-JP" altLang="en-US" sz="2000" dirty="0"/>
              <a:t>最大値を計算</a:t>
            </a:r>
            <a:endParaRPr lang="en-US" altLang="ja-JP" sz="2000" dirty="0"/>
          </a:p>
          <a:p>
            <a:pPr marL="520700" lvl="1" indent="-342900">
              <a:buFont typeface="Arial" panose="020B0604020202020204" pitchFamily="34" charset="0"/>
              <a:buChar char="•"/>
            </a:pPr>
            <a:endParaRPr lang="en-US" altLang="ja-JP" sz="2000" dirty="0"/>
          </a:p>
          <a:p>
            <a:pPr marL="520700" lvl="1" indent="-342900">
              <a:buFont typeface="Arial" panose="020B0604020202020204" pitchFamily="34" charset="0"/>
              <a:buChar char="•"/>
            </a:pPr>
            <a:endParaRPr lang="en-US" altLang="ja-JP" sz="2000" dirty="0"/>
          </a:p>
          <a:p>
            <a:pPr marL="342900" indent="-342900">
              <a:buFont typeface="Wingdings" panose="05000000000000000000" pitchFamily="2" charset="2"/>
              <a:buChar char="Ø"/>
            </a:pPr>
            <a:endParaRPr lang="en-US" altLang="ja-JP" sz="2000" dirty="0"/>
          </a:p>
          <a:p>
            <a:pPr marL="342900" indent="-342900">
              <a:buFont typeface="Wingdings" panose="05000000000000000000" pitchFamily="2" charset="2"/>
              <a:buChar char="Ø"/>
            </a:pPr>
            <a:endParaRPr lang="en-US" altLang="ja-JP" sz="2000" dirty="0"/>
          </a:p>
          <a:p>
            <a:pPr marL="342900" indent="-342900">
              <a:buFont typeface="Wingdings" panose="05000000000000000000" pitchFamily="2" charset="2"/>
              <a:buChar char="Ø"/>
            </a:pPr>
            <a:endParaRPr lang="en-US" altLang="ja-JP" sz="2000" dirty="0"/>
          </a:p>
          <a:p>
            <a:endParaRPr lang="en-US" altLang="ja-JP" sz="2000" dirty="0"/>
          </a:p>
          <a:p>
            <a:pPr marL="342900" indent="-342900">
              <a:buFont typeface="Wingdings" panose="05000000000000000000" pitchFamily="2" charset="2"/>
              <a:buChar char="Ø"/>
            </a:pPr>
            <a:r>
              <a:rPr lang="ja-JP" altLang="en-US" sz="2000" dirty="0"/>
              <a:t>音声だけを使用したときの場合と比べて分類精度が下がっている傾向がある</a:t>
            </a:r>
            <a:endParaRPr lang="en-US" altLang="ja-JP" sz="2000" dirty="0"/>
          </a:p>
          <a:p>
            <a:pPr lvl="1"/>
            <a:br>
              <a:rPr lang="en-US" altLang="ja-JP" dirty="0"/>
            </a:br>
            <a:br>
              <a:rPr lang="en-US" altLang="ja-JP" dirty="0"/>
            </a:br>
            <a:br>
              <a:rPr lang="en-US" altLang="ja-JP" sz="2000" dirty="0"/>
            </a:br>
            <a:endParaRPr lang="en-US" altLang="ja-JP" sz="2000" dirty="0"/>
          </a:p>
          <a:p>
            <a:pPr marL="520700" lvl="1" indent="-342900">
              <a:buFont typeface="Arial" panose="020B0604020202020204" pitchFamily="34" charset="0"/>
              <a:buChar char="•"/>
            </a:pPr>
            <a:endParaRPr lang="en-US" altLang="ja-JP" sz="2000" dirty="0"/>
          </a:p>
        </p:txBody>
      </p:sp>
      <p:graphicFrame>
        <p:nvGraphicFramePr>
          <p:cNvPr id="6" name="コンテンツ プレースホルダー 5">
            <a:extLst>
              <a:ext uri="{FF2B5EF4-FFF2-40B4-BE49-F238E27FC236}">
                <a16:creationId xmlns:a16="http://schemas.microsoft.com/office/drawing/2014/main" id="{2ED0414B-C804-B595-4F5E-55FDDA49437C}"/>
              </a:ext>
            </a:extLst>
          </p:cNvPr>
          <p:cNvGraphicFramePr>
            <a:graphicFrameLocks noGrp="1"/>
          </p:cNvGraphicFramePr>
          <p:nvPr>
            <p:ph sz="quarter" idx="12"/>
            <p:extLst>
              <p:ext uri="{D42A27DB-BD31-4B8C-83A1-F6EECF244321}">
                <p14:modId xmlns:p14="http://schemas.microsoft.com/office/powerpoint/2010/main" val="4052489686"/>
              </p:ext>
            </p:extLst>
          </p:nvPr>
        </p:nvGraphicFramePr>
        <p:xfrm>
          <a:off x="1097493" y="2018983"/>
          <a:ext cx="10654240" cy="2238372"/>
        </p:xfrm>
        <a:graphic>
          <a:graphicData uri="http://schemas.openxmlformats.org/drawingml/2006/table">
            <a:tbl>
              <a:tblPr firstRow="1" bandRow="1">
                <a:tableStyleId>{21E4AEA4-8DFA-4A89-87EB-49C32662AFE0}</a:tableStyleId>
              </a:tblPr>
              <a:tblGrid>
                <a:gridCol w="2130848">
                  <a:extLst>
                    <a:ext uri="{9D8B030D-6E8A-4147-A177-3AD203B41FA5}">
                      <a16:colId xmlns:a16="http://schemas.microsoft.com/office/drawing/2014/main" val="3360619571"/>
                    </a:ext>
                  </a:extLst>
                </a:gridCol>
                <a:gridCol w="2130848">
                  <a:extLst>
                    <a:ext uri="{9D8B030D-6E8A-4147-A177-3AD203B41FA5}">
                      <a16:colId xmlns:a16="http://schemas.microsoft.com/office/drawing/2014/main" val="1319797149"/>
                    </a:ext>
                  </a:extLst>
                </a:gridCol>
                <a:gridCol w="2130848">
                  <a:extLst>
                    <a:ext uri="{9D8B030D-6E8A-4147-A177-3AD203B41FA5}">
                      <a16:colId xmlns:a16="http://schemas.microsoft.com/office/drawing/2014/main" val="1194205682"/>
                    </a:ext>
                  </a:extLst>
                </a:gridCol>
                <a:gridCol w="2130848">
                  <a:extLst>
                    <a:ext uri="{9D8B030D-6E8A-4147-A177-3AD203B41FA5}">
                      <a16:colId xmlns:a16="http://schemas.microsoft.com/office/drawing/2014/main" val="3071010605"/>
                    </a:ext>
                  </a:extLst>
                </a:gridCol>
                <a:gridCol w="2130848">
                  <a:extLst>
                    <a:ext uri="{9D8B030D-6E8A-4147-A177-3AD203B41FA5}">
                      <a16:colId xmlns:a16="http://schemas.microsoft.com/office/drawing/2014/main" val="3333688120"/>
                    </a:ext>
                  </a:extLst>
                </a:gridCol>
              </a:tblGrid>
              <a:tr h="825503">
                <a:tc>
                  <a:txBody>
                    <a:bodyPr/>
                    <a:lstStyle/>
                    <a:p>
                      <a:endParaRPr kumimoji="1" lang="ja-JP" altLang="en-US" dirty="0"/>
                    </a:p>
                  </a:txBody>
                  <a:tcPr/>
                </a:tc>
                <a:tc>
                  <a:txBody>
                    <a:bodyPr/>
                    <a:lstStyle/>
                    <a:p>
                      <a:pPr algn="ctr"/>
                      <a:r>
                        <a:rPr kumimoji="1" lang="ja-JP" altLang="en-US" dirty="0"/>
                        <a:t>音声：平均</a:t>
                      </a:r>
                      <a:endParaRPr kumimoji="1" lang="en-US" altLang="ja-JP" dirty="0"/>
                    </a:p>
                    <a:p>
                      <a:pPr algn="ctr"/>
                      <a:r>
                        <a:rPr kumimoji="1" lang="ja-JP" altLang="en-US" dirty="0"/>
                        <a:t>表情：平均</a:t>
                      </a:r>
                    </a:p>
                  </a:txBody>
                  <a:tcPr/>
                </a:tc>
                <a:tc>
                  <a:txBody>
                    <a:bodyPr/>
                    <a:lstStyle/>
                    <a:p>
                      <a:pPr algn="ctr"/>
                      <a:r>
                        <a:rPr kumimoji="1" lang="ja-JP" altLang="en-US" dirty="0"/>
                        <a:t>音声：平均</a:t>
                      </a:r>
                      <a:endParaRPr kumimoji="1" lang="en-US" altLang="ja-JP" dirty="0"/>
                    </a:p>
                    <a:p>
                      <a:pPr algn="ctr"/>
                      <a:r>
                        <a:rPr kumimoji="1" lang="ja-JP" altLang="en-US" dirty="0"/>
                        <a:t>表情：最大値</a:t>
                      </a:r>
                    </a:p>
                    <a:p>
                      <a:pPr algn="ctr"/>
                      <a:endParaRPr kumimoji="1" lang="ja-JP" altLang="en-US" dirty="0"/>
                    </a:p>
                  </a:txBody>
                  <a:tcPr/>
                </a:tc>
                <a:tc>
                  <a:txBody>
                    <a:bodyPr/>
                    <a:lstStyle/>
                    <a:p>
                      <a:pPr algn="ctr"/>
                      <a:r>
                        <a:rPr kumimoji="1" lang="ja-JP" altLang="en-US" dirty="0"/>
                        <a:t>音声：最大値</a:t>
                      </a:r>
                      <a:endParaRPr kumimoji="1" lang="en-US" altLang="ja-JP" dirty="0"/>
                    </a:p>
                    <a:p>
                      <a:pPr algn="ctr"/>
                      <a:r>
                        <a:rPr kumimoji="1" lang="ja-JP" altLang="en-US" dirty="0"/>
                        <a:t>表情：平均</a:t>
                      </a:r>
                    </a:p>
                    <a:p>
                      <a:pPr algn="ctr"/>
                      <a:endParaRPr kumimoji="1" lang="ja-JP" altLang="en-US" dirty="0"/>
                    </a:p>
                  </a:txBody>
                  <a:tcPr/>
                </a:tc>
                <a:tc>
                  <a:txBody>
                    <a:bodyPr/>
                    <a:lstStyle/>
                    <a:p>
                      <a:pPr algn="ctr"/>
                      <a:r>
                        <a:rPr kumimoji="1" lang="ja-JP" altLang="en-US" dirty="0"/>
                        <a:t>音声：最大値</a:t>
                      </a:r>
                      <a:endParaRPr kumimoji="1" lang="en-US" altLang="ja-JP" dirty="0"/>
                    </a:p>
                    <a:p>
                      <a:pPr algn="ctr"/>
                      <a:r>
                        <a:rPr kumimoji="1" lang="ja-JP" altLang="en-US" dirty="0"/>
                        <a:t>表情：最大値</a:t>
                      </a:r>
                    </a:p>
                    <a:p>
                      <a:pPr algn="ctr"/>
                      <a:endParaRPr kumimoji="1" lang="ja-JP" altLang="en-US" dirty="0"/>
                    </a:p>
                  </a:txBody>
                  <a:tcPr/>
                </a:tc>
                <a:extLst>
                  <a:ext uri="{0D108BD9-81ED-4DB2-BD59-A6C34878D82A}">
                    <a16:rowId xmlns:a16="http://schemas.microsoft.com/office/drawing/2014/main" val="1148119265"/>
                  </a:ext>
                </a:extLst>
              </a:tr>
              <a:tr h="661986">
                <a:tc>
                  <a:txBody>
                    <a:bodyPr/>
                    <a:lstStyle/>
                    <a:p>
                      <a:r>
                        <a:rPr kumimoji="1" lang="ja-JP" altLang="en-US" dirty="0"/>
                        <a:t>ランダムフォレスト</a:t>
                      </a:r>
                    </a:p>
                  </a:txBody>
                  <a:tcPr/>
                </a:tc>
                <a:tc>
                  <a:txBody>
                    <a:bodyPr/>
                    <a:lstStyle/>
                    <a:p>
                      <a:r>
                        <a:rPr kumimoji="1" lang="ja-JP" altLang="en-US" dirty="0"/>
                        <a:t>感度：</a:t>
                      </a:r>
                      <a:r>
                        <a:rPr kumimoji="1" lang="en-US" altLang="ja-JP" dirty="0"/>
                        <a:t>48.4%</a:t>
                      </a:r>
                    </a:p>
                    <a:p>
                      <a:r>
                        <a:rPr kumimoji="1" lang="ja-JP" altLang="en-US" dirty="0"/>
                        <a:t>特異度：</a:t>
                      </a:r>
                      <a:r>
                        <a:rPr kumimoji="1" lang="en-US" altLang="ja-JP" dirty="0"/>
                        <a:t>46.4%</a:t>
                      </a:r>
                      <a:endParaRPr kumimoji="1" lang="ja-JP" altLang="en-US" dirty="0"/>
                    </a:p>
                  </a:txBody>
                  <a:tcPr/>
                </a:tc>
                <a:tc>
                  <a:txBody>
                    <a:bodyPr/>
                    <a:lstStyle/>
                    <a:p>
                      <a:pPr>
                        <a:tabLst>
                          <a:tab pos="720725" algn="l"/>
                        </a:tabLst>
                      </a:pPr>
                      <a:r>
                        <a:rPr kumimoji="1" lang="ja-JP" altLang="en-US" dirty="0"/>
                        <a:t>感度</a:t>
                      </a:r>
                      <a:r>
                        <a:rPr kumimoji="1" lang="en-US" altLang="ja-JP" dirty="0"/>
                        <a:t>:51.6%</a:t>
                      </a:r>
                    </a:p>
                    <a:p>
                      <a:r>
                        <a:rPr kumimoji="1" lang="ja-JP" altLang="en-US" dirty="0"/>
                        <a:t>特異度：</a:t>
                      </a:r>
                      <a:r>
                        <a:rPr kumimoji="1" lang="en-US" altLang="ja-JP" dirty="0"/>
                        <a:t>53.6%</a:t>
                      </a:r>
                      <a:endParaRPr kumimoji="1" lang="ja-JP" altLang="en-US" dirty="0"/>
                    </a:p>
                  </a:txBody>
                  <a:tcPr/>
                </a:tc>
                <a:tc>
                  <a:txBody>
                    <a:bodyPr/>
                    <a:lstStyle/>
                    <a:p>
                      <a:r>
                        <a:rPr kumimoji="1" lang="ja-JP" altLang="en-US" dirty="0"/>
                        <a:t>感度：</a:t>
                      </a:r>
                      <a:r>
                        <a:rPr kumimoji="1" lang="en-US" altLang="ja-JP" dirty="0"/>
                        <a:t>45.2%</a:t>
                      </a:r>
                    </a:p>
                    <a:p>
                      <a:r>
                        <a:rPr kumimoji="1" lang="ja-JP" altLang="en-US" dirty="0"/>
                        <a:t>特異度：</a:t>
                      </a:r>
                      <a:r>
                        <a:rPr kumimoji="1" lang="en-US" altLang="ja-JP" dirty="0"/>
                        <a:t>39.3%</a:t>
                      </a:r>
                      <a:endParaRPr kumimoji="1" lang="ja-JP" altLang="en-US" dirty="0"/>
                    </a:p>
                  </a:txBody>
                  <a:tcPr/>
                </a:tc>
                <a:tc>
                  <a:txBody>
                    <a:bodyPr/>
                    <a:lstStyle/>
                    <a:p>
                      <a:r>
                        <a:rPr kumimoji="1" lang="ja-JP" altLang="en-US" dirty="0"/>
                        <a:t>感度：</a:t>
                      </a:r>
                      <a:r>
                        <a:rPr kumimoji="1" lang="en-US" altLang="ja-JP" dirty="0"/>
                        <a:t>54.8%</a:t>
                      </a:r>
                    </a:p>
                    <a:p>
                      <a:r>
                        <a:rPr kumimoji="1" lang="ja-JP" altLang="en-US" dirty="0"/>
                        <a:t>特異度：</a:t>
                      </a:r>
                      <a:r>
                        <a:rPr kumimoji="1" lang="en-US" altLang="ja-JP" dirty="0"/>
                        <a:t>50%</a:t>
                      </a:r>
                      <a:endParaRPr kumimoji="1" lang="ja-JP" altLang="en-US" dirty="0"/>
                    </a:p>
                  </a:txBody>
                  <a:tcPr/>
                </a:tc>
                <a:extLst>
                  <a:ext uri="{0D108BD9-81ED-4DB2-BD59-A6C34878D82A}">
                    <a16:rowId xmlns:a16="http://schemas.microsoft.com/office/drawing/2014/main" val="32977668"/>
                  </a:ext>
                </a:extLst>
              </a:tr>
              <a:tr h="661986">
                <a:tc>
                  <a:txBody>
                    <a:bodyPr/>
                    <a:lstStyle/>
                    <a:p>
                      <a:r>
                        <a:rPr kumimoji="1" lang="en-US" altLang="ja-JP" dirty="0"/>
                        <a:t>XGBoost</a:t>
                      </a:r>
                      <a:endParaRPr kumimoji="1" lang="ja-JP" altLang="en-US" dirty="0"/>
                    </a:p>
                  </a:txBody>
                  <a:tcPr/>
                </a:tc>
                <a:tc>
                  <a:txBody>
                    <a:bodyPr/>
                    <a:lstStyle/>
                    <a:p>
                      <a:pPr algn="l"/>
                      <a:r>
                        <a:rPr kumimoji="1" lang="ja-JP" altLang="en-US" dirty="0"/>
                        <a:t>感度：</a:t>
                      </a:r>
                      <a:r>
                        <a:rPr kumimoji="1" lang="en-US" altLang="ja-JP" dirty="0"/>
                        <a:t>45.2%</a:t>
                      </a:r>
                      <a:br>
                        <a:rPr kumimoji="1" lang="en-US" altLang="ja-JP" dirty="0"/>
                      </a:br>
                      <a:r>
                        <a:rPr kumimoji="1" lang="ja-JP" altLang="en-US" dirty="0"/>
                        <a:t>特異度：</a:t>
                      </a:r>
                      <a:r>
                        <a:rPr kumimoji="1" lang="en-US" altLang="ja-JP" dirty="0"/>
                        <a:t>53.6%</a:t>
                      </a:r>
                      <a:endParaRPr kumimoji="1" lang="ja-JP" altLang="en-US" dirty="0"/>
                    </a:p>
                  </a:txBody>
                  <a:tcPr/>
                </a:tc>
                <a:tc>
                  <a:txBody>
                    <a:bodyPr/>
                    <a:lstStyle/>
                    <a:p>
                      <a:pPr algn="l"/>
                      <a:r>
                        <a:rPr kumimoji="1" lang="ja-JP" altLang="en-US" dirty="0"/>
                        <a:t>感度：</a:t>
                      </a:r>
                      <a:r>
                        <a:rPr kumimoji="1" lang="en-US" altLang="ja-JP" dirty="0"/>
                        <a:t>64.5%</a:t>
                      </a:r>
                    </a:p>
                    <a:p>
                      <a:pPr algn="l"/>
                      <a:r>
                        <a:rPr kumimoji="1" lang="ja-JP" altLang="en-US" dirty="0"/>
                        <a:t>特異度：</a:t>
                      </a:r>
                      <a:r>
                        <a:rPr kumimoji="1" lang="en-US" altLang="ja-JP" dirty="0"/>
                        <a:t>50%</a:t>
                      </a:r>
                      <a:endParaRPr kumimoji="1" lang="ja-JP" altLang="en-US" dirty="0"/>
                    </a:p>
                  </a:txBody>
                  <a:tcPr/>
                </a:tc>
                <a:tc>
                  <a:txBody>
                    <a:bodyPr/>
                    <a:lstStyle/>
                    <a:p>
                      <a:r>
                        <a:rPr kumimoji="1" lang="ja-JP" altLang="en-US" dirty="0"/>
                        <a:t>感度：</a:t>
                      </a:r>
                      <a:r>
                        <a:rPr kumimoji="1" lang="en-US" altLang="ja-JP" dirty="0"/>
                        <a:t>51.6%</a:t>
                      </a:r>
                    </a:p>
                    <a:p>
                      <a:r>
                        <a:rPr kumimoji="1" lang="ja-JP" altLang="en-US" dirty="0"/>
                        <a:t>特異度：</a:t>
                      </a:r>
                      <a:r>
                        <a:rPr kumimoji="1" lang="en-US" altLang="ja-JP" dirty="0"/>
                        <a:t>53.6%</a:t>
                      </a:r>
                      <a:endParaRPr kumimoji="1" lang="ja-JP" altLang="en-US" dirty="0"/>
                    </a:p>
                  </a:txBody>
                  <a:tcPr/>
                </a:tc>
                <a:tc>
                  <a:txBody>
                    <a:bodyPr/>
                    <a:lstStyle/>
                    <a:p>
                      <a:r>
                        <a:rPr kumimoji="1" lang="ja-JP" altLang="en-US" dirty="0"/>
                        <a:t>感度：</a:t>
                      </a:r>
                      <a:r>
                        <a:rPr kumimoji="1" lang="en-US" altLang="ja-JP" dirty="0"/>
                        <a:t>58.1%</a:t>
                      </a:r>
                    </a:p>
                    <a:p>
                      <a:r>
                        <a:rPr kumimoji="1" lang="ja-JP" altLang="en-US" dirty="0"/>
                        <a:t>特異度：</a:t>
                      </a:r>
                      <a:r>
                        <a:rPr kumimoji="1" lang="en-US" altLang="ja-JP" dirty="0"/>
                        <a:t>46.4</a:t>
                      </a:r>
                      <a:r>
                        <a:rPr kumimoji="1" lang="ja-JP" altLang="en-US" dirty="0"/>
                        <a:t>％</a:t>
                      </a:r>
                    </a:p>
                  </a:txBody>
                  <a:tcPr/>
                </a:tc>
                <a:extLst>
                  <a:ext uri="{0D108BD9-81ED-4DB2-BD59-A6C34878D82A}">
                    <a16:rowId xmlns:a16="http://schemas.microsoft.com/office/drawing/2014/main" val="3541805740"/>
                  </a:ext>
                </a:extLst>
              </a:tr>
            </a:tbl>
          </a:graphicData>
        </a:graphic>
      </p:graphicFrame>
    </p:spTree>
    <p:extLst>
      <p:ext uri="{BB962C8B-B14F-4D97-AF65-F5344CB8AC3E}">
        <p14:creationId xmlns:p14="http://schemas.microsoft.com/office/powerpoint/2010/main" val="2123457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69CF9A-2F7E-572A-2AA1-EAD89A288A14}"/>
              </a:ext>
            </a:extLst>
          </p:cNvPr>
          <p:cNvSpPr>
            <a:spLocks noGrp="1"/>
          </p:cNvSpPr>
          <p:nvPr>
            <p:ph type="title"/>
          </p:nvPr>
        </p:nvSpPr>
        <p:spPr/>
        <p:txBody>
          <a:bodyPr/>
          <a:lstStyle/>
          <a:p>
            <a:r>
              <a:rPr lang="ja-JP" altLang="en-US" dirty="0"/>
              <a:t>新データセットの作成（表情版）</a:t>
            </a:r>
            <a:endParaRPr kumimoji="1" lang="ja-JP" altLang="en-US" dirty="0"/>
          </a:p>
        </p:txBody>
      </p:sp>
      <p:sp>
        <p:nvSpPr>
          <p:cNvPr id="4" name="コンテンツ プレースホルダー 3">
            <a:extLst>
              <a:ext uri="{FF2B5EF4-FFF2-40B4-BE49-F238E27FC236}">
                <a16:creationId xmlns:a16="http://schemas.microsoft.com/office/drawing/2014/main" id="{2B679BDA-9C94-7BFA-D4E6-3B67346EDBF1}"/>
              </a:ext>
            </a:extLst>
          </p:cNvPr>
          <p:cNvSpPr>
            <a:spLocks noGrp="1"/>
          </p:cNvSpPr>
          <p:nvPr>
            <p:ph sz="quarter" idx="13"/>
          </p:nvPr>
        </p:nvSpPr>
        <p:spPr>
          <a:xfrm>
            <a:off x="1096963" y="1160464"/>
            <a:ext cx="10654238" cy="2393228"/>
          </a:xfrm>
        </p:spPr>
        <p:txBody>
          <a:bodyPr/>
          <a:lstStyle/>
          <a:p>
            <a:pPr marL="342900" indent="-342900">
              <a:buFont typeface="Wingdings" panose="05000000000000000000" pitchFamily="2" charset="2"/>
              <a:buChar char="Ø"/>
              <a:tabLst>
                <a:tab pos="446088" algn="l"/>
              </a:tabLst>
            </a:pPr>
            <a:r>
              <a:rPr lang="en-US" altLang="ja-JP" dirty="0" err="1"/>
              <a:t>Pyfeat</a:t>
            </a:r>
            <a:r>
              <a:rPr lang="ja-JP" altLang="en-US" dirty="0"/>
              <a:t>で取得可能な顔検出信頼度（</a:t>
            </a:r>
            <a:r>
              <a:rPr lang="en-US" altLang="ja-JP" dirty="0"/>
              <a:t>Confidence</a:t>
            </a:r>
            <a:r>
              <a:rPr lang="ja-JP" altLang="en-US" dirty="0"/>
              <a:t>値）に制約を追加して</a:t>
            </a:r>
            <a:br>
              <a:rPr lang="en-US" altLang="ja-JP" dirty="0"/>
            </a:br>
            <a:r>
              <a:rPr lang="ja-JP" altLang="en-US" dirty="0"/>
              <a:t>新データセットを作成</a:t>
            </a:r>
            <a:endParaRPr lang="en-US" altLang="ja-JP" dirty="0"/>
          </a:p>
          <a:p>
            <a:pPr marL="877888" lvl="2" indent="-342900">
              <a:buFont typeface="Arial" panose="020B0604020202020204" pitchFamily="34" charset="0"/>
              <a:buChar char="•"/>
              <a:tabLst>
                <a:tab pos="446088" algn="l"/>
              </a:tabLst>
            </a:pPr>
            <a:r>
              <a:rPr lang="en-US" altLang="ja-JP" sz="2000" dirty="0"/>
              <a:t>Confidence</a:t>
            </a:r>
            <a:r>
              <a:rPr lang="ja-JP" altLang="en-US" sz="2000" dirty="0"/>
              <a:t>＜</a:t>
            </a:r>
            <a:r>
              <a:rPr lang="en-US" altLang="ja-JP" sz="2000" dirty="0"/>
              <a:t>0.95</a:t>
            </a:r>
            <a:r>
              <a:rPr lang="ja-JP" altLang="en-US" sz="2000" dirty="0"/>
              <a:t>のデータを削除、患者さんの顔特徴が取得できている部分を抽出（</a:t>
            </a:r>
            <a:r>
              <a:rPr lang="en-US" altLang="ja-JP" sz="1800" dirty="0"/>
              <a:t>0.95</a:t>
            </a:r>
            <a:r>
              <a:rPr lang="ja-JP" altLang="en-US" sz="1800" dirty="0"/>
              <a:t>未満のデータの割合を調べ、</a:t>
            </a:r>
            <a:r>
              <a:rPr lang="en-US" altLang="ja-JP" sz="1800" u="sng" dirty="0"/>
              <a:t>4</a:t>
            </a:r>
            <a:r>
              <a:rPr lang="ja-JP" altLang="en-US" sz="1800" u="sng" dirty="0"/>
              <a:t>割以上を占める患者さんのデータは使用しない</a:t>
            </a:r>
            <a:r>
              <a:rPr lang="ja-JP" altLang="en-US" sz="1800" dirty="0"/>
              <a:t>）</a:t>
            </a:r>
            <a:endParaRPr lang="en-US" altLang="ja-JP" sz="2000" dirty="0"/>
          </a:p>
          <a:p>
            <a:pPr marL="877888" lvl="2" indent="-342900">
              <a:buFont typeface="Arial" panose="020B0604020202020204" pitchFamily="34" charset="0"/>
              <a:buChar char="•"/>
              <a:tabLst>
                <a:tab pos="446088" algn="l"/>
              </a:tabLst>
            </a:pPr>
            <a:r>
              <a:rPr lang="ja-JP" altLang="en-US" sz="2000" dirty="0"/>
              <a:t>データ数：</a:t>
            </a:r>
            <a:r>
              <a:rPr lang="en-US" altLang="ja-JP" sz="2000" dirty="0"/>
              <a:t>60</a:t>
            </a:r>
            <a:r>
              <a:rPr lang="ja-JP" altLang="en-US" sz="2000" dirty="0"/>
              <a:t>名（せん妄患者：</a:t>
            </a:r>
            <a:r>
              <a:rPr lang="en-US" altLang="ja-JP" sz="2000" dirty="0"/>
              <a:t>29</a:t>
            </a:r>
            <a:r>
              <a:rPr lang="ja-JP" altLang="en-US" sz="2000" dirty="0"/>
              <a:t>名、非せん妄患者：</a:t>
            </a:r>
            <a:r>
              <a:rPr lang="en-US" altLang="ja-JP" sz="2000" dirty="0"/>
              <a:t>31</a:t>
            </a:r>
            <a:r>
              <a:rPr lang="ja-JP" altLang="en-US" sz="2000" dirty="0"/>
              <a:t>名）</a:t>
            </a:r>
            <a:endParaRPr lang="en-US" altLang="ja-JP" sz="2000" dirty="0"/>
          </a:p>
          <a:p>
            <a:pPr lvl="2">
              <a:tabLst>
                <a:tab pos="446088" algn="l"/>
              </a:tabLst>
            </a:pPr>
            <a:endParaRPr lang="en-US" altLang="ja-JP" sz="2000" dirty="0"/>
          </a:p>
          <a:p>
            <a:pPr lvl="2">
              <a:tabLst>
                <a:tab pos="446088" algn="l"/>
              </a:tabLst>
            </a:pPr>
            <a:endParaRPr lang="en-US" altLang="ja-JP" sz="2000" dirty="0"/>
          </a:p>
          <a:p>
            <a:pPr marL="877888" lvl="2" indent="-342900">
              <a:buFont typeface="Arial" panose="020B0604020202020204" pitchFamily="34" charset="0"/>
              <a:buChar char="•"/>
              <a:tabLst>
                <a:tab pos="446088" algn="l"/>
              </a:tabLst>
            </a:pPr>
            <a:endParaRPr lang="en-US" altLang="ja-JP" sz="2000" dirty="0"/>
          </a:p>
        </p:txBody>
      </p:sp>
      <p:graphicFrame>
        <p:nvGraphicFramePr>
          <p:cNvPr id="8" name="コンテンツ プレースホルダー 7">
            <a:extLst>
              <a:ext uri="{FF2B5EF4-FFF2-40B4-BE49-F238E27FC236}">
                <a16:creationId xmlns:a16="http://schemas.microsoft.com/office/drawing/2014/main" id="{940D1958-5A48-F0F3-9253-6726A1F68070}"/>
              </a:ext>
            </a:extLst>
          </p:cNvPr>
          <p:cNvGraphicFramePr>
            <a:graphicFrameLocks noGrp="1"/>
          </p:cNvGraphicFramePr>
          <p:nvPr>
            <p:ph sz="quarter" idx="12"/>
            <p:extLst>
              <p:ext uri="{D42A27DB-BD31-4B8C-83A1-F6EECF244321}">
                <p14:modId xmlns:p14="http://schemas.microsoft.com/office/powerpoint/2010/main" val="1352927782"/>
              </p:ext>
            </p:extLst>
          </p:nvPr>
        </p:nvGraphicFramePr>
        <p:xfrm>
          <a:off x="1500101" y="3979719"/>
          <a:ext cx="9847962" cy="2143842"/>
        </p:xfrm>
        <a:graphic>
          <a:graphicData uri="http://schemas.openxmlformats.org/drawingml/2006/table">
            <a:tbl>
              <a:tblPr firstRow="1" bandRow="1">
                <a:tableStyleId>{5C22544A-7EE6-4342-B048-85BDC9FD1C3A}</a:tableStyleId>
              </a:tblPr>
              <a:tblGrid>
                <a:gridCol w="3282654">
                  <a:extLst>
                    <a:ext uri="{9D8B030D-6E8A-4147-A177-3AD203B41FA5}">
                      <a16:colId xmlns:a16="http://schemas.microsoft.com/office/drawing/2014/main" val="516624836"/>
                    </a:ext>
                  </a:extLst>
                </a:gridCol>
                <a:gridCol w="3282654">
                  <a:extLst>
                    <a:ext uri="{9D8B030D-6E8A-4147-A177-3AD203B41FA5}">
                      <a16:colId xmlns:a16="http://schemas.microsoft.com/office/drawing/2014/main" val="2088157615"/>
                    </a:ext>
                  </a:extLst>
                </a:gridCol>
                <a:gridCol w="3282654">
                  <a:extLst>
                    <a:ext uri="{9D8B030D-6E8A-4147-A177-3AD203B41FA5}">
                      <a16:colId xmlns:a16="http://schemas.microsoft.com/office/drawing/2014/main" val="637782424"/>
                    </a:ext>
                  </a:extLst>
                </a:gridCol>
              </a:tblGrid>
              <a:tr h="357307">
                <a:tc>
                  <a:txBody>
                    <a:bodyPr/>
                    <a:lstStyle/>
                    <a:p>
                      <a:pPr algn="ctr"/>
                      <a:r>
                        <a:rPr kumimoji="1" lang="ja-JP" altLang="en-US" sz="1600" dirty="0"/>
                        <a:t>割合</a:t>
                      </a:r>
                    </a:p>
                  </a:txBody>
                  <a:tcPr marL="84525" marR="84525" marT="42262" marB="42262"/>
                </a:tc>
                <a:tc>
                  <a:txBody>
                    <a:bodyPr/>
                    <a:lstStyle/>
                    <a:p>
                      <a:pPr algn="ctr"/>
                      <a:r>
                        <a:rPr kumimoji="1" lang="ja-JP" altLang="en-US" sz="1600" dirty="0"/>
                        <a:t>せん妄患者数</a:t>
                      </a:r>
                      <a:r>
                        <a:rPr kumimoji="1" lang="en-US" altLang="ja-JP" sz="1600" dirty="0"/>
                        <a:t>(</a:t>
                      </a:r>
                      <a:r>
                        <a:rPr kumimoji="1" lang="ja-JP" altLang="en-US" sz="1600" dirty="0"/>
                        <a:t>名</a:t>
                      </a:r>
                      <a:r>
                        <a:rPr kumimoji="1" lang="en-US" altLang="ja-JP" sz="1600" dirty="0"/>
                        <a:t>)</a:t>
                      </a:r>
                      <a:endParaRPr kumimoji="1" lang="ja-JP" altLang="en-US" sz="1600" dirty="0"/>
                    </a:p>
                  </a:txBody>
                  <a:tcPr marL="84525" marR="84525" marT="42262" marB="42262"/>
                </a:tc>
                <a:tc>
                  <a:txBody>
                    <a:bodyPr/>
                    <a:lstStyle/>
                    <a:p>
                      <a:pPr algn="ctr"/>
                      <a:r>
                        <a:rPr kumimoji="1" lang="ja-JP" altLang="en-US" sz="1600" dirty="0"/>
                        <a:t>非せん妄患者数（名）</a:t>
                      </a:r>
                    </a:p>
                  </a:txBody>
                  <a:tcPr marL="84525" marR="84525" marT="42262" marB="42262"/>
                </a:tc>
                <a:extLst>
                  <a:ext uri="{0D108BD9-81ED-4DB2-BD59-A6C34878D82A}">
                    <a16:rowId xmlns:a16="http://schemas.microsoft.com/office/drawing/2014/main" val="1174737378"/>
                  </a:ext>
                </a:extLst>
              </a:tr>
              <a:tr h="357307">
                <a:tc>
                  <a:txBody>
                    <a:bodyPr/>
                    <a:lstStyle/>
                    <a:p>
                      <a:pPr algn="ctr"/>
                      <a:r>
                        <a:rPr kumimoji="1" lang="en-US" altLang="ja-JP" sz="1600" dirty="0"/>
                        <a:t>1</a:t>
                      </a:r>
                      <a:r>
                        <a:rPr kumimoji="1" lang="ja-JP" altLang="en-US" sz="1600" dirty="0"/>
                        <a:t>割以下</a:t>
                      </a:r>
                    </a:p>
                  </a:txBody>
                  <a:tcPr marL="84525" marR="84525" marT="42262" marB="42262"/>
                </a:tc>
                <a:tc>
                  <a:txBody>
                    <a:bodyPr/>
                    <a:lstStyle/>
                    <a:p>
                      <a:pPr algn="ctr"/>
                      <a:r>
                        <a:rPr kumimoji="1" lang="en-US" altLang="ja-JP" sz="1600" dirty="0"/>
                        <a:t>22</a:t>
                      </a:r>
                      <a:endParaRPr kumimoji="1" lang="ja-JP" altLang="en-US" sz="1600" dirty="0"/>
                    </a:p>
                  </a:txBody>
                  <a:tcPr marL="84525" marR="84525" marT="42262" marB="42262"/>
                </a:tc>
                <a:tc>
                  <a:txBody>
                    <a:bodyPr/>
                    <a:lstStyle/>
                    <a:p>
                      <a:pPr algn="ctr"/>
                      <a:r>
                        <a:rPr kumimoji="1" lang="en-US" altLang="ja-JP" sz="1600" dirty="0"/>
                        <a:t>24</a:t>
                      </a:r>
                      <a:endParaRPr kumimoji="1" lang="ja-JP" altLang="en-US" sz="1600" dirty="0"/>
                    </a:p>
                  </a:txBody>
                  <a:tcPr marL="84525" marR="84525" marT="42262" marB="42262"/>
                </a:tc>
                <a:extLst>
                  <a:ext uri="{0D108BD9-81ED-4DB2-BD59-A6C34878D82A}">
                    <a16:rowId xmlns:a16="http://schemas.microsoft.com/office/drawing/2014/main" val="2582307555"/>
                  </a:ext>
                </a:extLst>
              </a:tr>
              <a:tr h="357307">
                <a:tc>
                  <a:txBody>
                    <a:bodyPr/>
                    <a:lstStyle/>
                    <a:p>
                      <a:pPr algn="ctr"/>
                      <a:r>
                        <a:rPr kumimoji="1" lang="en-US" altLang="ja-JP" sz="1600" dirty="0"/>
                        <a:t>1-2</a:t>
                      </a:r>
                      <a:r>
                        <a:rPr kumimoji="1" lang="ja-JP" altLang="en-US" sz="1600" dirty="0"/>
                        <a:t>割</a:t>
                      </a:r>
                    </a:p>
                  </a:txBody>
                  <a:tcPr marL="84525" marR="84525" marT="42262" marB="42262"/>
                </a:tc>
                <a:tc>
                  <a:txBody>
                    <a:bodyPr/>
                    <a:lstStyle/>
                    <a:p>
                      <a:pPr algn="ctr"/>
                      <a:r>
                        <a:rPr kumimoji="1" lang="en-US" altLang="ja-JP" sz="1600" dirty="0"/>
                        <a:t>4</a:t>
                      </a:r>
                      <a:endParaRPr kumimoji="1" lang="ja-JP" altLang="en-US" sz="1600" dirty="0"/>
                    </a:p>
                  </a:txBody>
                  <a:tcPr marL="84525" marR="84525" marT="42262" marB="42262"/>
                </a:tc>
                <a:tc>
                  <a:txBody>
                    <a:bodyPr/>
                    <a:lstStyle/>
                    <a:p>
                      <a:pPr algn="ctr"/>
                      <a:r>
                        <a:rPr kumimoji="1" lang="en-US" altLang="ja-JP" sz="1600" dirty="0"/>
                        <a:t>6</a:t>
                      </a:r>
                      <a:endParaRPr kumimoji="1" lang="ja-JP" altLang="en-US" sz="1600" dirty="0"/>
                    </a:p>
                  </a:txBody>
                  <a:tcPr marL="84525" marR="84525" marT="42262" marB="42262"/>
                </a:tc>
                <a:extLst>
                  <a:ext uri="{0D108BD9-81ED-4DB2-BD59-A6C34878D82A}">
                    <a16:rowId xmlns:a16="http://schemas.microsoft.com/office/drawing/2014/main" val="862427675"/>
                  </a:ext>
                </a:extLst>
              </a:tr>
              <a:tr h="357307">
                <a:tc>
                  <a:txBody>
                    <a:bodyPr/>
                    <a:lstStyle/>
                    <a:p>
                      <a:pPr algn="ctr"/>
                      <a:r>
                        <a:rPr kumimoji="1" lang="en-US" altLang="ja-JP" sz="1600" dirty="0"/>
                        <a:t>2-3</a:t>
                      </a:r>
                      <a:r>
                        <a:rPr kumimoji="1" lang="ja-JP" altLang="en-US" sz="1600" dirty="0"/>
                        <a:t>割</a:t>
                      </a:r>
                    </a:p>
                  </a:txBody>
                  <a:tcPr marL="84525" marR="84525" marT="42262" marB="42262"/>
                </a:tc>
                <a:tc>
                  <a:txBody>
                    <a:bodyPr/>
                    <a:lstStyle/>
                    <a:p>
                      <a:pPr algn="ctr"/>
                      <a:r>
                        <a:rPr kumimoji="1" lang="en-US" altLang="ja-JP" sz="1600" dirty="0"/>
                        <a:t>2</a:t>
                      </a:r>
                      <a:endParaRPr kumimoji="1" lang="ja-JP" altLang="en-US" sz="1600" dirty="0"/>
                    </a:p>
                  </a:txBody>
                  <a:tcPr marL="84525" marR="84525" marT="42262" marB="42262"/>
                </a:tc>
                <a:tc>
                  <a:txBody>
                    <a:bodyPr/>
                    <a:lstStyle/>
                    <a:p>
                      <a:pPr algn="ctr"/>
                      <a:r>
                        <a:rPr kumimoji="1" lang="en-US" altLang="ja-JP" sz="1600" dirty="0"/>
                        <a:t>1</a:t>
                      </a:r>
                      <a:endParaRPr kumimoji="1" lang="ja-JP" altLang="en-US" sz="1600" dirty="0"/>
                    </a:p>
                  </a:txBody>
                  <a:tcPr marL="84525" marR="84525" marT="42262" marB="42262"/>
                </a:tc>
                <a:extLst>
                  <a:ext uri="{0D108BD9-81ED-4DB2-BD59-A6C34878D82A}">
                    <a16:rowId xmlns:a16="http://schemas.microsoft.com/office/drawing/2014/main" val="2378117784"/>
                  </a:ext>
                </a:extLst>
              </a:tr>
              <a:tr h="357307">
                <a:tc>
                  <a:txBody>
                    <a:bodyPr/>
                    <a:lstStyle/>
                    <a:p>
                      <a:pPr algn="ctr"/>
                      <a:r>
                        <a:rPr kumimoji="1" lang="en-US" altLang="ja-JP" sz="1600" dirty="0"/>
                        <a:t>3-4</a:t>
                      </a:r>
                      <a:r>
                        <a:rPr kumimoji="1" lang="ja-JP" altLang="en-US" sz="1600" dirty="0"/>
                        <a:t>割</a:t>
                      </a:r>
                    </a:p>
                  </a:txBody>
                  <a:tcPr marL="84525" marR="84525" marT="42262" marB="42262"/>
                </a:tc>
                <a:tc>
                  <a:txBody>
                    <a:bodyPr/>
                    <a:lstStyle/>
                    <a:p>
                      <a:pPr algn="ctr"/>
                      <a:r>
                        <a:rPr kumimoji="1" lang="en-US" altLang="ja-JP" sz="1600" dirty="0"/>
                        <a:t>1</a:t>
                      </a:r>
                      <a:endParaRPr kumimoji="1" lang="ja-JP" altLang="en-US" sz="1600" dirty="0"/>
                    </a:p>
                  </a:txBody>
                  <a:tcPr marL="84525" marR="84525" marT="42262" marB="42262"/>
                </a:tc>
                <a:tc>
                  <a:txBody>
                    <a:bodyPr/>
                    <a:lstStyle/>
                    <a:p>
                      <a:pPr algn="ctr"/>
                      <a:r>
                        <a:rPr kumimoji="1" lang="en-US" altLang="ja-JP" sz="1600" dirty="0"/>
                        <a:t>0</a:t>
                      </a:r>
                      <a:endParaRPr kumimoji="1" lang="ja-JP" altLang="en-US" sz="1600" dirty="0"/>
                    </a:p>
                  </a:txBody>
                  <a:tcPr marL="84525" marR="84525" marT="42262" marB="42262"/>
                </a:tc>
                <a:extLst>
                  <a:ext uri="{0D108BD9-81ED-4DB2-BD59-A6C34878D82A}">
                    <a16:rowId xmlns:a16="http://schemas.microsoft.com/office/drawing/2014/main" val="3592912490"/>
                  </a:ext>
                </a:extLst>
              </a:tr>
              <a:tr h="357307">
                <a:tc>
                  <a:txBody>
                    <a:bodyPr/>
                    <a:lstStyle/>
                    <a:p>
                      <a:pPr algn="ctr"/>
                      <a:r>
                        <a:rPr kumimoji="1" lang="en-US" altLang="ja-JP" sz="1600" dirty="0"/>
                        <a:t>4</a:t>
                      </a:r>
                      <a:r>
                        <a:rPr kumimoji="1" lang="ja-JP" altLang="en-US" sz="1600" dirty="0"/>
                        <a:t>割以上</a:t>
                      </a:r>
                    </a:p>
                  </a:txBody>
                  <a:tcPr marL="84525" marR="84525" marT="42262" marB="42262"/>
                </a:tc>
                <a:tc>
                  <a:txBody>
                    <a:bodyPr/>
                    <a:lstStyle/>
                    <a:p>
                      <a:pPr algn="ctr"/>
                      <a:r>
                        <a:rPr kumimoji="1" lang="en-US" altLang="ja-JP" sz="1600" i="0" u="sng" dirty="0"/>
                        <a:t>4</a:t>
                      </a:r>
                      <a:endParaRPr kumimoji="1" lang="ja-JP" altLang="en-US" sz="1600" i="0" u="sng" dirty="0"/>
                    </a:p>
                  </a:txBody>
                  <a:tcPr marL="84525" marR="84525" marT="42262" marB="42262"/>
                </a:tc>
                <a:tc>
                  <a:txBody>
                    <a:bodyPr/>
                    <a:lstStyle/>
                    <a:p>
                      <a:pPr algn="ctr"/>
                      <a:r>
                        <a:rPr kumimoji="1" lang="en-US" altLang="ja-JP" sz="1600" b="0" u="sng" dirty="0">
                          <a:solidFill>
                            <a:schemeClr val="tx1"/>
                          </a:solidFill>
                        </a:rPr>
                        <a:t>1</a:t>
                      </a:r>
                      <a:endParaRPr kumimoji="1" lang="ja-JP" altLang="en-US" sz="1600" b="0" u="sng" dirty="0">
                        <a:solidFill>
                          <a:schemeClr val="tx1"/>
                        </a:solidFill>
                      </a:endParaRPr>
                    </a:p>
                  </a:txBody>
                  <a:tcPr marL="84525" marR="84525" marT="42262" marB="42262"/>
                </a:tc>
                <a:extLst>
                  <a:ext uri="{0D108BD9-81ED-4DB2-BD59-A6C34878D82A}">
                    <a16:rowId xmlns:a16="http://schemas.microsoft.com/office/drawing/2014/main" val="3010588515"/>
                  </a:ext>
                </a:extLst>
              </a:tr>
            </a:tbl>
          </a:graphicData>
        </a:graphic>
      </p:graphicFrame>
      <p:sp>
        <p:nvSpPr>
          <p:cNvPr id="10" name="テキスト ボックス 9">
            <a:extLst>
              <a:ext uri="{FF2B5EF4-FFF2-40B4-BE49-F238E27FC236}">
                <a16:creationId xmlns:a16="http://schemas.microsoft.com/office/drawing/2014/main" id="{528EE0EE-2FAE-CC92-CAE6-B3AB8EA3DF49}"/>
              </a:ext>
            </a:extLst>
          </p:cNvPr>
          <p:cNvSpPr txBox="1"/>
          <p:nvPr/>
        </p:nvSpPr>
        <p:spPr>
          <a:xfrm>
            <a:off x="4745950" y="3570415"/>
            <a:ext cx="3356263" cy="369332"/>
          </a:xfrm>
          <a:prstGeom prst="rect">
            <a:avLst/>
          </a:prstGeom>
          <a:noFill/>
        </p:spPr>
        <p:txBody>
          <a:bodyPr wrap="square" rtlCol="0">
            <a:spAutoFit/>
          </a:bodyPr>
          <a:lstStyle/>
          <a:p>
            <a:pPr algn="ctr"/>
            <a:r>
              <a:rPr kumimoji="1" lang="ja-JP" altLang="en-US" dirty="0"/>
              <a:t>表</a:t>
            </a:r>
            <a:r>
              <a:rPr kumimoji="1" lang="en-US" altLang="ja-JP" dirty="0"/>
              <a:t>4</a:t>
            </a:r>
            <a:r>
              <a:rPr kumimoji="1" lang="ja-JP" altLang="en-US" dirty="0"/>
              <a:t>：割合ごとの患者数</a:t>
            </a:r>
          </a:p>
        </p:txBody>
      </p:sp>
    </p:spTree>
    <p:extLst>
      <p:ext uri="{BB962C8B-B14F-4D97-AF65-F5344CB8AC3E}">
        <p14:creationId xmlns:p14="http://schemas.microsoft.com/office/powerpoint/2010/main" val="228953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D9ADFA-0107-A9E8-9500-4337D3F2DC93}"/>
              </a:ext>
            </a:extLst>
          </p:cNvPr>
          <p:cNvSpPr>
            <a:spLocks noGrp="1"/>
          </p:cNvSpPr>
          <p:nvPr>
            <p:ph type="title"/>
          </p:nvPr>
        </p:nvSpPr>
        <p:spPr/>
        <p:txBody>
          <a:bodyPr/>
          <a:lstStyle/>
          <a:p>
            <a:r>
              <a:rPr kumimoji="1" lang="ja-JP" altLang="en-US" dirty="0"/>
              <a:t>新データセットを使用し</a:t>
            </a:r>
            <a:r>
              <a:rPr lang="ja-JP" altLang="en-US" dirty="0"/>
              <a:t>たモデルの学習方法</a:t>
            </a:r>
            <a:endParaRPr kumimoji="1" lang="ja-JP" altLang="en-US" dirty="0"/>
          </a:p>
        </p:txBody>
      </p:sp>
      <p:sp>
        <p:nvSpPr>
          <p:cNvPr id="4" name="コンテンツ プレースホルダー 3">
            <a:extLst>
              <a:ext uri="{FF2B5EF4-FFF2-40B4-BE49-F238E27FC236}">
                <a16:creationId xmlns:a16="http://schemas.microsoft.com/office/drawing/2014/main" id="{5CCFFC96-B3B0-48B1-FD8C-32FB30E22D9D}"/>
              </a:ext>
            </a:extLst>
          </p:cNvPr>
          <p:cNvSpPr>
            <a:spLocks noGrp="1"/>
          </p:cNvSpPr>
          <p:nvPr>
            <p:ph sz="quarter" idx="13"/>
          </p:nvPr>
        </p:nvSpPr>
        <p:spPr/>
        <p:txBody>
          <a:bodyPr/>
          <a:lstStyle/>
          <a:p>
            <a:pPr marL="342900" indent="-342900">
              <a:buFont typeface="Wingdings" panose="05000000000000000000" pitchFamily="2" charset="2"/>
              <a:buChar char="Ø"/>
            </a:pPr>
            <a:r>
              <a:rPr kumimoji="1" lang="ja-JP" altLang="en-US" dirty="0"/>
              <a:t>新データセットを使用したモデルを作成</a:t>
            </a:r>
            <a:endParaRPr kumimoji="1" lang="en-US" altLang="ja-JP" dirty="0"/>
          </a:p>
          <a:p>
            <a:pPr marL="877888" lvl="2" indent="-342900">
              <a:lnSpc>
                <a:spcPct val="150000"/>
              </a:lnSpc>
              <a:buFont typeface="Arial" panose="020B0604020202020204" pitchFamily="34" charset="0"/>
              <a:buChar char="•"/>
            </a:pPr>
            <a:r>
              <a:rPr kumimoji="1" lang="ja-JP" altLang="en-US" sz="2000" dirty="0"/>
              <a:t>機械学習手法：ランダムフォレスト</a:t>
            </a:r>
            <a:endParaRPr kumimoji="1" lang="en-US" altLang="ja-JP" sz="2000" dirty="0"/>
          </a:p>
          <a:p>
            <a:pPr marL="877888" lvl="2" indent="-342900">
              <a:lnSpc>
                <a:spcPct val="150000"/>
              </a:lnSpc>
              <a:buFont typeface="Arial" panose="020B0604020202020204" pitchFamily="34" charset="0"/>
              <a:buChar char="•"/>
            </a:pPr>
            <a:r>
              <a:rPr lang="ja-JP" altLang="en-US" sz="2000" dirty="0"/>
              <a:t>特徴量設計：特徴量ごとに最大値、平均値、標準偏差、中央値を算出</a:t>
            </a:r>
            <a:endParaRPr lang="en-US" altLang="ja-JP" sz="2000" dirty="0"/>
          </a:p>
          <a:p>
            <a:pPr marL="877888" lvl="2" indent="-342900">
              <a:lnSpc>
                <a:spcPct val="150000"/>
              </a:lnSpc>
              <a:buFont typeface="Arial" panose="020B0604020202020204" pitchFamily="34" charset="0"/>
              <a:buChar char="•"/>
            </a:pPr>
            <a:r>
              <a:rPr lang="ja-JP" altLang="en-US" sz="2000" dirty="0"/>
              <a:t>使用区間：質問、応答、質問応答の両方</a:t>
            </a:r>
            <a:endParaRPr lang="en-US" altLang="ja-JP" sz="2000" dirty="0"/>
          </a:p>
          <a:p>
            <a:pPr marL="877888" lvl="2" indent="-342900">
              <a:lnSpc>
                <a:spcPct val="150000"/>
              </a:lnSpc>
              <a:buFont typeface="Arial" panose="020B0604020202020204" pitchFamily="34" charset="0"/>
              <a:buChar char="•"/>
            </a:pPr>
            <a:r>
              <a:rPr lang="ja-JP" altLang="en-US" sz="2000" dirty="0"/>
              <a:t>次元数：約</a:t>
            </a:r>
            <a:r>
              <a:rPr lang="en-US" altLang="ja-JP" sz="2000" dirty="0"/>
              <a:t>10</a:t>
            </a:r>
            <a:r>
              <a:rPr lang="ja-JP" altLang="en-US" sz="2000" dirty="0"/>
              <a:t>質問</a:t>
            </a:r>
            <a:r>
              <a:rPr lang="en-US" altLang="ja-JP" sz="2000" dirty="0"/>
              <a:t>×17</a:t>
            </a:r>
            <a:r>
              <a:rPr lang="ja-JP" altLang="en-US" sz="2000" dirty="0"/>
              <a:t>特徴量</a:t>
            </a:r>
            <a:r>
              <a:rPr lang="en-US" altLang="ja-JP" sz="2000" dirty="0"/>
              <a:t>(AU)</a:t>
            </a:r>
            <a:r>
              <a:rPr lang="ja-JP" altLang="en-US" sz="2000" dirty="0"/>
              <a:t>＝</a:t>
            </a:r>
            <a:r>
              <a:rPr lang="en-US" altLang="ja-JP" sz="2000" dirty="0"/>
              <a:t>170</a:t>
            </a:r>
            <a:r>
              <a:rPr lang="ja-JP" altLang="en-US" sz="2000" dirty="0"/>
              <a:t>次元</a:t>
            </a:r>
            <a:r>
              <a:rPr lang="en-US" altLang="ja-JP" sz="2000" dirty="0"/>
              <a:t>/</a:t>
            </a:r>
            <a:r>
              <a:rPr lang="ja-JP" altLang="en-US" sz="2000" dirty="0"/>
              <a:t>患者</a:t>
            </a:r>
            <a:r>
              <a:rPr lang="en-US" altLang="ja-JP" sz="2000" dirty="0"/>
              <a:t>1</a:t>
            </a:r>
            <a:r>
              <a:rPr lang="ja-JP" altLang="en-US" sz="2000" dirty="0"/>
              <a:t>人につき</a:t>
            </a:r>
            <a:endParaRPr lang="en-US" altLang="ja-JP" sz="2000" dirty="0"/>
          </a:p>
          <a:p>
            <a:pPr marL="877888" lvl="2" indent="-342900">
              <a:lnSpc>
                <a:spcPct val="150000"/>
              </a:lnSpc>
              <a:buFont typeface="Arial" panose="020B0604020202020204" pitchFamily="34" charset="0"/>
              <a:buChar char="•"/>
            </a:pPr>
            <a:r>
              <a:rPr lang="ja-JP" altLang="en-US" sz="2000" dirty="0"/>
              <a:t>評価指標：感度、特異度</a:t>
            </a:r>
            <a:endParaRPr kumimoji="1" lang="en-US" altLang="ja-JP" sz="2000" dirty="0"/>
          </a:p>
          <a:p>
            <a:pPr marL="877888" lvl="2" indent="-342900">
              <a:lnSpc>
                <a:spcPct val="150000"/>
              </a:lnSpc>
              <a:buFont typeface="Arial" panose="020B0604020202020204" pitchFamily="34" charset="0"/>
              <a:buChar char="•"/>
            </a:pPr>
            <a:r>
              <a:rPr lang="ja-JP" altLang="en-US" sz="2000" dirty="0"/>
              <a:t>データ分割手法：</a:t>
            </a:r>
            <a:r>
              <a:rPr lang="en-US" altLang="ja-JP" sz="2000" dirty="0"/>
              <a:t>5</a:t>
            </a:r>
            <a:r>
              <a:rPr lang="ja-JP" altLang="en-US" sz="2000" dirty="0"/>
              <a:t>分割層化交差検証</a:t>
            </a:r>
            <a:br>
              <a:rPr lang="en-US" altLang="ja-JP" sz="2000" dirty="0"/>
            </a:br>
            <a:r>
              <a:rPr lang="en-US" altLang="ja-JP" sz="1800" dirty="0"/>
              <a:t>1</a:t>
            </a:r>
            <a:r>
              <a:rPr lang="ja-JP" altLang="en-US" sz="1800" dirty="0"/>
              <a:t>．各グループでせん妄、非せん妄患者の割合が均等になるように、データを</a:t>
            </a:r>
            <a:r>
              <a:rPr lang="en-US" altLang="ja-JP" sz="1800" dirty="0"/>
              <a:t>5</a:t>
            </a:r>
            <a:r>
              <a:rPr lang="ja-JP" altLang="en-US" sz="1800" dirty="0"/>
              <a:t>分割</a:t>
            </a:r>
            <a:br>
              <a:rPr lang="en-US" altLang="ja-JP" sz="1800" dirty="0"/>
            </a:br>
            <a:r>
              <a:rPr lang="en-US" altLang="ja-JP" sz="1800" dirty="0"/>
              <a:t>2</a:t>
            </a:r>
            <a:r>
              <a:rPr lang="ja-JP" altLang="en-US" sz="1800" dirty="0"/>
              <a:t>．学習データをのみを使用して特徴量選択</a:t>
            </a:r>
            <a:br>
              <a:rPr lang="en-US" altLang="ja-JP" sz="1800" dirty="0"/>
            </a:br>
            <a:r>
              <a:rPr lang="en-US" altLang="ja-JP" sz="1800" dirty="0"/>
              <a:t>3</a:t>
            </a:r>
            <a:r>
              <a:rPr lang="ja-JP" altLang="en-US" sz="1800" dirty="0"/>
              <a:t>．さらに学習データグを使用してグリッドサーチでハイパーパラメータを決定</a:t>
            </a:r>
            <a:br>
              <a:rPr lang="en-US" altLang="ja-JP" sz="1800" dirty="0"/>
            </a:br>
            <a:r>
              <a:rPr lang="en-US" altLang="ja-JP" sz="1800" dirty="0"/>
              <a:t>4</a:t>
            </a:r>
            <a:r>
              <a:rPr lang="ja-JP" altLang="en-US" sz="1800" dirty="0"/>
              <a:t>．テストデータでの性能評価</a:t>
            </a:r>
            <a:br>
              <a:rPr lang="en-US" altLang="ja-JP" sz="1800" dirty="0"/>
            </a:br>
            <a:r>
              <a:rPr lang="en-US" altLang="ja-JP" sz="1800" dirty="0"/>
              <a:t>5.2</a:t>
            </a:r>
            <a:r>
              <a:rPr lang="ja-JP" altLang="en-US" sz="1800" dirty="0"/>
              <a:t>～</a:t>
            </a:r>
            <a:r>
              <a:rPr lang="en-US" altLang="ja-JP" sz="1800" dirty="0"/>
              <a:t>4</a:t>
            </a:r>
            <a:r>
              <a:rPr lang="ja-JP" altLang="en-US" sz="1800" dirty="0"/>
              <a:t>を繰り返し、</a:t>
            </a:r>
            <a:r>
              <a:rPr lang="en-US" altLang="ja-JP" sz="1800" dirty="0"/>
              <a:t>5</a:t>
            </a:r>
            <a:r>
              <a:rPr lang="ja-JP" altLang="en-US" sz="1800" dirty="0"/>
              <a:t>回分の性能を統合して評価</a:t>
            </a:r>
            <a:br>
              <a:rPr kumimoji="1" lang="en-US" altLang="ja-JP" dirty="0"/>
            </a:br>
            <a:endParaRPr kumimoji="1" lang="ja-JP" altLang="en-US" dirty="0"/>
          </a:p>
        </p:txBody>
      </p:sp>
    </p:spTree>
    <p:extLst>
      <p:ext uri="{BB962C8B-B14F-4D97-AF65-F5344CB8AC3E}">
        <p14:creationId xmlns:p14="http://schemas.microsoft.com/office/powerpoint/2010/main" val="4267261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C26F09-DAAF-E6D4-BA49-75F1B3C2B61A}"/>
              </a:ext>
            </a:extLst>
          </p:cNvPr>
          <p:cNvSpPr>
            <a:spLocks noGrp="1"/>
          </p:cNvSpPr>
          <p:nvPr>
            <p:ph type="title"/>
          </p:nvPr>
        </p:nvSpPr>
        <p:spPr/>
        <p:txBody>
          <a:bodyPr/>
          <a:lstStyle/>
          <a:p>
            <a:r>
              <a:rPr kumimoji="1" lang="ja-JP" altLang="en-US" dirty="0"/>
              <a:t>結果</a:t>
            </a:r>
          </a:p>
        </p:txBody>
      </p:sp>
      <p:sp>
        <p:nvSpPr>
          <p:cNvPr id="4" name="コンテンツ プレースホルダー 3">
            <a:extLst>
              <a:ext uri="{FF2B5EF4-FFF2-40B4-BE49-F238E27FC236}">
                <a16:creationId xmlns:a16="http://schemas.microsoft.com/office/drawing/2014/main" id="{227D79BC-E05D-C93C-F15C-AEEBC0544496}"/>
              </a:ext>
            </a:extLst>
          </p:cNvPr>
          <p:cNvSpPr>
            <a:spLocks noGrp="1"/>
          </p:cNvSpPr>
          <p:nvPr>
            <p:ph sz="quarter" idx="13"/>
          </p:nvPr>
        </p:nvSpPr>
        <p:spPr>
          <a:xfrm>
            <a:off x="1096963" y="1160463"/>
            <a:ext cx="10654238" cy="502383"/>
          </a:xfrm>
        </p:spPr>
        <p:txBody>
          <a:bodyPr/>
          <a:lstStyle/>
          <a:p>
            <a:pPr marL="342900" indent="-342900">
              <a:buFont typeface="Wingdings" panose="05000000000000000000" pitchFamily="2" charset="2"/>
              <a:buChar char="Ø"/>
            </a:pPr>
            <a:r>
              <a:rPr kumimoji="1" lang="ja-JP" altLang="en-US" dirty="0"/>
              <a:t>分類結果（縦軸：使用区間、横軸：特徴量設計）</a:t>
            </a:r>
          </a:p>
        </p:txBody>
      </p:sp>
      <p:graphicFrame>
        <p:nvGraphicFramePr>
          <p:cNvPr id="5" name="コンテンツ プレースホルダー 16">
            <a:extLst>
              <a:ext uri="{FF2B5EF4-FFF2-40B4-BE49-F238E27FC236}">
                <a16:creationId xmlns:a16="http://schemas.microsoft.com/office/drawing/2014/main" id="{AB594B58-C150-8AB4-322C-F67B5EA2480B}"/>
              </a:ext>
            </a:extLst>
          </p:cNvPr>
          <p:cNvGraphicFramePr>
            <a:graphicFrameLocks/>
          </p:cNvGraphicFramePr>
          <p:nvPr>
            <p:extLst>
              <p:ext uri="{D42A27DB-BD31-4B8C-83A1-F6EECF244321}">
                <p14:modId xmlns:p14="http://schemas.microsoft.com/office/powerpoint/2010/main" val="1799034732"/>
              </p:ext>
            </p:extLst>
          </p:nvPr>
        </p:nvGraphicFramePr>
        <p:xfrm>
          <a:off x="1014891" y="1864234"/>
          <a:ext cx="10653714" cy="1854200"/>
        </p:xfrm>
        <a:graphic>
          <a:graphicData uri="http://schemas.openxmlformats.org/drawingml/2006/table">
            <a:tbl>
              <a:tblPr firstRow="1" bandRow="1">
                <a:tableStyleId>{21E4AEA4-8DFA-4A89-87EB-49C32662AFE0}</a:tableStyleId>
              </a:tblPr>
              <a:tblGrid>
                <a:gridCol w="1183746">
                  <a:extLst>
                    <a:ext uri="{9D8B030D-6E8A-4147-A177-3AD203B41FA5}">
                      <a16:colId xmlns:a16="http://schemas.microsoft.com/office/drawing/2014/main" val="3686559800"/>
                    </a:ext>
                  </a:extLst>
                </a:gridCol>
                <a:gridCol w="1183746">
                  <a:extLst>
                    <a:ext uri="{9D8B030D-6E8A-4147-A177-3AD203B41FA5}">
                      <a16:colId xmlns:a16="http://schemas.microsoft.com/office/drawing/2014/main" val="1091076645"/>
                    </a:ext>
                  </a:extLst>
                </a:gridCol>
                <a:gridCol w="1183746">
                  <a:extLst>
                    <a:ext uri="{9D8B030D-6E8A-4147-A177-3AD203B41FA5}">
                      <a16:colId xmlns:a16="http://schemas.microsoft.com/office/drawing/2014/main" val="1637090161"/>
                    </a:ext>
                  </a:extLst>
                </a:gridCol>
                <a:gridCol w="1183746">
                  <a:extLst>
                    <a:ext uri="{9D8B030D-6E8A-4147-A177-3AD203B41FA5}">
                      <a16:colId xmlns:a16="http://schemas.microsoft.com/office/drawing/2014/main" val="2243731710"/>
                    </a:ext>
                  </a:extLst>
                </a:gridCol>
                <a:gridCol w="1183746">
                  <a:extLst>
                    <a:ext uri="{9D8B030D-6E8A-4147-A177-3AD203B41FA5}">
                      <a16:colId xmlns:a16="http://schemas.microsoft.com/office/drawing/2014/main" val="1962526911"/>
                    </a:ext>
                  </a:extLst>
                </a:gridCol>
                <a:gridCol w="1183746">
                  <a:extLst>
                    <a:ext uri="{9D8B030D-6E8A-4147-A177-3AD203B41FA5}">
                      <a16:colId xmlns:a16="http://schemas.microsoft.com/office/drawing/2014/main" val="1513122704"/>
                    </a:ext>
                  </a:extLst>
                </a:gridCol>
                <a:gridCol w="1183746">
                  <a:extLst>
                    <a:ext uri="{9D8B030D-6E8A-4147-A177-3AD203B41FA5}">
                      <a16:colId xmlns:a16="http://schemas.microsoft.com/office/drawing/2014/main" val="4078009371"/>
                    </a:ext>
                  </a:extLst>
                </a:gridCol>
                <a:gridCol w="1183746">
                  <a:extLst>
                    <a:ext uri="{9D8B030D-6E8A-4147-A177-3AD203B41FA5}">
                      <a16:colId xmlns:a16="http://schemas.microsoft.com/office/drawing/2014/main" val="3683200300"/>
                    </a:ext>
                  </a:extLst>
                </a:gridCol>
                <a:gridCol w="1183746">
                  <a:extLst>
                    <a:ext uri="{9D8B030D-6E8A-4147-A177-3AD203B41FA5}">
                      <a16:colId xmlns:a16="http://schemas.microsoft.com/office/drawing/2014/main" val="3519691143"/>
                    </a:ext>
                  </a:extLst>
                </a:gridCol>
              </a:tblGrid>
              <a:tr h="370840">
                <a:tc rowSpan="2">
                  <a:txBody>
                    <a:bodyPr/>
                    <a:lstStyle/>
                    <a:p>
                      <a:endParaRPr kumimoji="1" lang="ja-JP" altLang="en-US" dirty="0"/>
                    </a:p>
                  </a:txBody>
                  <a:tcPr/>
                </a:tc>
                <a:tc gridSpan="2">
                  <a:txBody>
                    <a:bodyPr/>
                    <a:lstStyle/>
                    <a:p>
                      <a:pPr algn="ctr"/>
                      <a:r>
                        <a:rPr kumimoji="1" lang="ja-JP" altLang="en-US" dirty="0"/>
                        <a:t>平均値</a:t>
                      </a:r>
                    </a:p>
                  </a:txBody>
                  <a:tcPr/>
                </a:tc>
                <a:tc hMerge="1">
                  <a:txBody>
                    <a:bodyPr/>
                    <a:lstStyle/>
                    <a:p>
                      <a:endParaRPr kumimoji="1" lang="ja-JP" altLang="en-US" dirty="0"/>
                    </a:p>
                  </a:txBody>
                  <a:tcPr/>
                </a:tc>
                <a:tc gridSpan="2">
                  <a:txBody>
                    <a:bodyPr/>
                    <a:lstStyle/>
                    <a:p>
                      <a:pPr algn="ctr"/>
                      <a:r>
                        <a:rPr kumimoji="1" lang="ja-JP" altLang="en-US" dirty="0"/>
                        <a:t>最大値</a:t>
                      </a:r>
                    </a:p>
                  </a:txBody>
                  <a:tcPr/>
                </a:tc>
                <a:tc hMerge="1">
                  <a:txBody>
                    <a:bodyPr/>
                    <a:lstStyle/>
                    <a:p>
                      <a:endParaRPr kumimoji="1" lang="ja-JP" altLang="en-US" dirty="0"/>
                    </a:p>
                  </a:txBody>
                  <a:tcPr/>
                </a:tc>
                <a:tc gridSpan="2">
                  <a:txBody>
                    <a:bodyPr/>
                    <a:lstStyle/>
                    <a:p>
                      <a:pPr algn="ctr"/>
                      <a:r>
                        <a:rPr kumimoji="1" lang="ja-JP" altLang="en-US" dirty="0"/>
                        <a:t>標準偏差</a:t>
                      </a:r>
                    </a:p>
                  </a:txBody>
                  <a:tcPr/>
                </a:tc>
                <a:tc hMerge="1">
                  <a:txBody>
                    <a:bodyPr/>
                    <a:lstStyle/>
                    <a:p>
                      <a:endParaRPr kumimoji="1" lang="ja-JP" altLang="en-US" dirty="0"/>
                    </a:p>
                  </a:txBody>
                  <a:tcPr/>
                </a:tc>
                <a:tc gridSpan="2">
                  <a:txBody>
                    <a:bodyPr/>
                    <a:lstStyle/>
                    <a:p>
                      <a:pPr algn="ctr"/>
                      <a:r>
                        <a:rPr kumimoji="1" lang="ja-JP" altLang="en-US" dirty="0"/>
                        <a:t>中央値</a:t>
                      </a:r>
                    </a:p>
                  </a:txBody>
                  <a:tcPr/>
                </a:tc>
                <a:tc hMerge="1">
                  <a:txBody>
                    <a:bodyPr/>
                    <a:lstStyle/>
                    <a:p>
                      <a:pPr algn="ctr"/>
                      <a:endParaRPr kumimoji="1" lang="ja-JP" altLang="en-US" dirty="0"/>
                    </a:p>
                  </a:txBody>
                  <a:tcPr/>
                </a:tc>
                <a:extLst>
                  <a:ext uri="{0D108BD9-81ED-4DB2-BD59-A6C34878D82A}">
                    <a16:rowId xmlns:a16="http://schemas.microsoft.com/office/drawing/2014/main" val="1833500485"/>
                  </a:ext>
                </a:extLst>
              </a:tr>
              <a:tr h="370840">
                <a:tc vMerge="1">
                  <a:txBody>
                    <a:bodyPr/>
                    <a:lstStyle/>
                    <a:p>
                      <a:endParaRPr kumimoji="1" lang="ja-JP" altLang="en-US" dirty="0"/>
                    </a:p>
                  </a:txBody>
                  <a:tcPr/>
                </a:tc>
                <a:tc>
                  <a:txBody>
                    <a:bodyPr/>
                    <a:lstStyle/>
                    <a:p>
                      <a:pPr algn="ctr"/>
                      <a:r>
                        <a:rPr kumimoji="1" lang="ja-JP" altLang="en-US" dirty="0"/>
                        <a:t>感度</a:t>
                      </a:r>
                    </a:p>
                  </a:txBody>
                  <a:tcPr/>
                </a:tc>
                <a:tc>
                  <a:txBody>
                    <a:bodyPr/>
                    <a:lstStyle/>
                    <a:p>
                      <a:pPr algn="ctr"/>
                      <a:r>
                        <a:rPr kumimoji="1" lang="ja-JP" altLang="en-US" dirty="0"/>
                        <a:t>特異度</a:t>
                      </a:r>
                    </a:p>
                  </a:txBody>
                  <a:tcPr/>
                </a:tc>
                <a:tc>
                  <a:txBody>
                    <a:bodyPr/>
                    <a:lstStyle/>
                    <a:p>
                      <a:pPr algn="ctr"/>
                      <a:r>
                        <a:rPr kumimoji="1" lang="ja-JP" altLang="en-US" dirty="0"/>
                        <a:t>感度</a:t>
                      </a:r>
                    </a:p>
                  </a:txBody>
                  <a:tcPr/>
                </a:tc>
                <a:tc>
                  <a:txBody>
                    <a:bodyPr/>
                    <a:lstStyle/>
                    <a:p>
                      <a:pPr algn="ctr"/>
                      <a:r>
                        <a:rPr kumimoji="1" lang="ja-JP" altLang="en-US" dirty="0"/>
                        <a:t>特異度</a:t>
                      </a:r>
                    </a:p>
                  </a:txBody>
                  <a:tcPr/>
                </a:tc>
                <a:tc>
                  <a:txBody>
                    <a:bodyPr/>
                    <a:lstStyle/>
                    <a:p>
                      <a:pPr algn="ctr"/>
                      <a:r>
                        <a:rPr kumimoji="1" lang="ja-JP" altLang="en-US" dirty="0"/>
                        <a:t>感度</a:t>
                      </a:r>
                    </a:p>
                  </a:txBody>
                  <a:tcPr/>
                </a:tc>
                <a:tc>
                  <a:txBody>
                    <a:bodyPr/>
                    <a:lstStyle/>
                    <a:p>
                      <a:pPr algn="ctr"/>
                      <a:r>
                        <a:rPr kumimoji="1" lang="ja-JP" altLang="en-US" dirty="0"/>
                        <a:t>特異度</a:t>
                      </a:r>
                    </a:p>
                  </a:txBody>
                  <a:tcPr/>
                </a:tc>
                <a:tc>
                  <a:txBody>
                    <a:bodyPr/>
                    <a:lstStyle/>
                    <a:p>
                      <a:pPr algn="ctr"/>
                      <a:r>
                        <a:rPr kumimoji="1" lang="ja-JP" altLang="en-US" dirty="0"/>
                        <a:t>感度</a:t>
                      </a:r>
                    </a:p>
                  </a:txBody>
                  <a:tcPr/>
                </a:tc>
                <a:tc>
                  <a:txBody>
                    <a:bodyPr/>
                    <a:lstStyle/>
                    <a:p>
                      <a:pPr algn="ctr"/>
                      <a:r>
                        <a:rPr kumimoji="1" lang="ja-JP" altLang="en-US" dirty="0"/>
                        <a:t>特異度</a:t>
                      </a:r>
                    </a:p>
                  </a:txBody>
                  <a:tcPr/>
                </a:tc>
                <a:extLst>
                  <a:ext uri="{0D108BD9-81ED-4DB2-BD59-A6C34878D82A}">
                    <a16:rowId xmlns:a16="http://schemas.microsoft.com/office/drawing/2014/main" val="1059522432"/>
                  </a:ext>
                </a:extLst>
              </a:tr>
              <a:tr h="370840">
                <a:tc>
                  <a:txBody>
                    <a:bodyPr/>
                    <a:lstStyle/>
                    <a:p>
                      <a:r>
                        <a:rPr kumimoji="1" lang="ja-JP" altLang="en-US" dirty="0"/>
                        <a:t>質問</a:t>
                      </a:r>
                    </a:p>
                  </a:txBody>
                  <a:tcPr/>
                </a:tc>
                <a:tc>
                  <a:txBody>
                    <a:bodyPr/>
                    <a:lstStyle/>
                    <a:p>
                      <a:pPr algn="ctr"/>
                      <a:r>
                        <a:rPr kumimoji="1" lang="en-US" altLang="ja-JP" dirty="0"/>
                        <a:t>10.3</a:t>
                      </a:r>
                      <a:endParaRPr kumimoji="1" lang="ja-JP" altLang="en-US" dirty="0"/>
                    </a:p>
                  </a:txBody>
                  <a:tcPr/>
                </a:tc>
                <a:tc>
                  <a:txBody>
                    <a:bodyPr/>
                    <a:lstStyle/>
                    <a:p>
                      <a:pPr algn="ctr"/>
                      <a:r>
                        <a:rPr kumimoji="1" lang="en-US" altLang="ja-JP" dirty="0"/>
                        <a:t>58.1</a:t>
                      </a:r>
                      <a:endParaRPr kumimoji="1" lang="ja-JP" altLang="en-US" dirty="0"/>
                    </a:p>
                  </a:txBody>
                  <a:tcPr/>
                </a:tc>
                <a:tc>
                  <a:txBody>
                    <a:bodyPr/>
                    <a:lstStyle/>
                    <a:p>
                      <a:pPr algn="ctr"/>
                      <a:r>
                        <a:rPr kumimoji="1" lang="en-US" altLang="ja-JP" dirty="0"/>
                        <a:t>42.4</a:t>
                      </a:r>
                      <a:endParaRPr kumimoji="1" lang="ja-JP" altLang="en-US" dirty="0"/>
                    </a:p>
                  </a:txBody>
                  <a:tcPr/>
                </a:tc>
                <a:tc>
                  <a:txBody>
                    <a:bodyPr/>
                    <a:lstStyle/>
                    <a:p>
                      <a:pPr algn="ctr"/>
                      <a:r>
                        <a:rPr kumimoji="1" lang="en-US" altLang="ja-JP" dirty="0"/>
                        <a:t>48.4</a:t>
                      </a:r>
                      <a:endParaRPr kumimoji="1" lang="ja-JP" altLang="en-US" dirty="0"/>
                    </a:p>
                  </a:txBody>
                  <a:tcPr/>
                </a:tc>
                <a:tc>
                  <a:txBody>
                    <a:bodyPr/>
                    <a:lstStyle/>
                    <a:p>
                      <a:pPr algn="ctr"/>
                      <a:r>
                        <a:rPr kumimoji="1" lang="en-US" altLang="ja-JP" dirty="0"/>
                        <a:t>27.6</a:t>
                      </a:r>
                      <a:endParaRPr kumimoji="1" lang="ja-JP" altLang="en-US" dirty="0"/>
                    </a:p>
                  </a:txBody>
                  <a:tcPr/>
                </a:tc>
                <a:tc>
                  <a:txBody>
                    <a:bodyPr/>
                    <a:lstStyle/>
                    <a:p>
                      <a:pPr algn="ctr"/>
                      <a:r>
                        <a:rPr kumimoji="1" lang="en-US" altLang="ja-JP" dirty="0"/>
                        <a:t>54.8</a:t>
                      </a:r>
                      <a:endParaRPr kumimoji="1" lang="ja-JP" altLang="en-US" dirty="0"/>
                    </a:p>
                  </a:txBody>
                  <a:tcPr/>
                </a:tc>
                <a:tc>
                  <a:txBody>
                    <a:bodyPr/>
                    <a:lstStyle/>
                    <a:p>
                      <a:pPr algn="ctr"/>
                      <a:r>
                        <a:rPr kumimoji="1" lang="en-US" altLang="ja-JP" dirty="0"/>
                        <a:t>17.2</a:t>
                      </a:r>
                      <a:endParaRPr kumimoji="1" lang="ja-JP" altLang="en-US" dirty="0"/>
                    </a:p>
                  </a:txBody>
                  <a:tcPr/>
                </a:tc>
                <a:tc>
                  <a:txBody>
                    <a:bodyPr/>
                    <a:lstStyle/>
                    <a:p>
                      <a:pPr algn="ctr"/>
                      <a:r>
                        <a:rPr kumimoji="1" lang="en-US" altLang="ja-JP" dirty="0"/>
                        <a:t>54.8</a:t>
                      </a:r>
                      <a:endParaRPr kumimoji="1" lang="ja-JP" altLang="en-US" dirty="0"/>
                    </a:p>
                  </a:txBody>
                  <a:tcPr/>
                </a:tc>
                <a:extLst>
                  <a:ext uri="{0D108BD9-81ED-4DB2-BD59-A6C34878D82A}">
                    <a16:rowId xmlns:a16="http://schemas.microsoft.com/office/drawing/2014/main" val="1650068553"/>
                  </a:ext>
                </a:extLst>
              </a:tr>
              <a:tr h="370840">
                <a:tc>
                  <a:txBody>
                    <a:bodyPr/>
                    <a:lstStyle/>
                    <a:p>
                      <a:r>
                        <a:rPr kumimoji="1" lang="ja-JP" altLang="en-US" dirty="0"/>
                        <a:t>応答</a:t>
                      </a:r>
                    </a:p>
                  </a:txBody>
                  <a:tcPr/>
                </a:tc>
                <a:tc>
                  <a:txBody>
                    <a:bodyPr/>
                    <a:lstStyle/>
                    <a:p>
                      <a:pPr algn="ctr"/>
                      <a:r>
                        <a:rPr kumimoji="1" lang="en-US" altLang="ja-JP" dirty="0"/>
                        <a:t>24.1</a:t>
                      </a:r>
                      <a:endParaRPr kumimoji="1" lang="ja-JP" altLang="en-US" dirty="0"/>
                    </a:p>
                  </a:txBody>
                  <a:tcPr/>
                </a:tc>
                <a:tc>
                  <a:txBody>
                    <a:bodyPr/>
                    <a:lstStyle/>
                    <a:p>
                      <a:pPr algn="ctr"/>
                      <a:r>
                        <a:rPr kumimoji="1" lang="en-US" altLang="ja-JP" dirty="0"/>
                        <a:t>48.4</a:t>
                      </a:r>
                      <a:endParaRPr kumimoji="1" lang="ja-JP" altLang="en-US" dirty="0"/>
                    </a:p>
                  </a:txBody>
                  <a:tcPr/>
                </a:tc>
                <a:tc>
                  <a:txBody>
                    <a:bodyPr/>
                    <a:lstStyle/>
                    <a:p>
                      <a:pPr algn="ctr"/>
                      <a:r>
                        <a:rPr kumimoji="1" lang="en-US" altLang="ja-JP" b="0" dirty="0"/>
                        <a:t>31.0</a:t>
                      </a:r>
                      <a:endParaRPr kumimoji="1" lang="ja-JP" altLang="en-US" b="0" dirty="0"/>
                    </a:p>
                  </a:txBody>
                  <a:tcPr/>
                </a:tc>
                <a:tc>
                  <a:txBody>
                    <a:bodyPr/>
                    <a:lstStyle/>
                    <a:p>
                      <a:pPr algn="ctr"/>
                      <a:r>
                        <a:rPr kumimoji="1" lang="en-US" altLang="ja-JP" b="0" dirty="0"/>
                        <a:t>58.0</a:t>
                      </a:r>
                      <a:endParaRPr kumimoji="1" lang="ja-JP" altLang="en-US" b="0" dirty="0"/>
                    </a:p>
                  </a:txBody>
                  <a:tcPr/>
                </a:tc>
                <a:tc>
                  <a:txBody>
                    <a:bodyPr/>
                    <a:lstStyle/>
                    <a:p>
                      <a:pPr algn="ctr"/>
                      <a:r>
                        <a:rPr kumimoji="1" lang="en-US" altLang="ja-JP" dirty="0"/>
                        <a:t>41.4</a:t>
                      </a:r>
                      <a:endParaRPr kumimoji="1" lang="ja-JP" altLang="en-US" dirty="0"/>
                    </a:p>
                  </a:txBody>
                  <a:tcPr/>
                </a:tc>
                <a:tc>
                  <a:txBody>
                    <a:bodyPr/>
                    <a:lstStyle/>
                    <a:p>
                      <a:pPr algn="ctr"/>
                      <a:r>
                        <a:rPr kumimoji="1" lang="en-US" altLang="ja-JP" dirty="0"/>
                        <a:t>67.7</a:t>
                      </a:r>
                      <a:endParaRPr kumimoji="1" lang="ja-JP" altLang="en-US" dirty="0"/>
                    </a:p>
                  </a:txBody>
                  <a:tcPr/>
                </a:tc>
                <a:tc>
                  <a:txBody>
                    <a:bodyPr/>
                    <a:lstStyle/>
                    <a:p>
                      <a:pPr algn="ctr"/>
                      <a:r>
                        <a:rPr kumimoji="1" lang="en-US" altLang="ja-JP" dirty="0"/>
                        <a:t>27.6</a:t>
                      </a:r>
                      <a:endParaRPr kumimoji="1" lang="ja-JP" altLang="en-US" dirty="0"/>
                    </a:p>
                  </a:txBody>
                  <a:tcPr/>
                </a:tc>
                <a:tc>
                  <a:txBody>
                    <a:bodyPr/>
                    <a:lstStyle/>
                    <a:p>
                      <a:pPr algn="ctr"/>
                      <a:r>
                        <a:rPr kumimoji="1" lang="en-US" altLang="ja-JP" dirty="0"/>
                        <a:t>48.4</a:t>
                      </a:r>
                      <a:endParaRPr kumimoji="1" lang="ja-JP" altLang="en-US" dirty="0"/>
                    </a:p>
                  </a:txBody>
                  <a:tcPr/>
                </a:tc>
                <a:extLst>
                  <a:ext uri="{0D108BD9-81ED-4DB2-BD59-A6C34878D82A}">
                    <a16:rowId xmlns:a16="http://schemas.microsoft.com/office/drawing/2014/main" val="3464377031"/>
                  </a:ext>
                </a:extLst>
              </a:tr>
              <a:tr h="370840">
                <a:tc>
                  <a:txBody>
                    <a:bodyPr/>
                    <a:lstStyle/>
                    <a:p>
                      <a:r>
                        <a:rPr kumimoji="1" lang="ja-JP" altLang="en-US" dirty="0"/>
                        <a:t>質問応答</a:t>
                      </a:r>
                    </a:p>
                  </a:txBody>
                  <a:tcPr/>
                </a:tc>
                <a:tc>
                  <a:txBody>
                    <a:bodyPr/>
                    <a:lstStyle/>
                    <a:p>
                      <a:pPr algn="ctr"/>
                      <a:r>
                        <a:rPr kumimoji="1" lang="en-US" altLang="ja-JP" dirty="0"/>
                        <a:t>20.7</a:t>
                      </a:r>
                      <a:endParaRPr kumimoji="1" lang="ja-JP" altLang="en-US" dirty="0"/>
                    </a:p>
                  </a:txBody>
                  <a:tcPr/>
                </a:tc>
                <a:tc>
                  <a:txBody>
                    <a:bodyPr/>
                    <a:lstStyle/>
                    <a:p>
                      <a:pPr algn="ctr"/>
                      <a:r>
                        <a:rPr kumimoji="1" lang="en-US" altLang="ja-JP" dirty="0"/>
                        <a:t>45.2</a:t>
                      </a:r>
                      <a:endParaRPr kumimoji="1" lang="ja-JP" altLang="en-US" dirty="0"/>
                    </a:p>
                  </a:txBody>
                  <a:tcPr/>
                </a:tc>
                <a:tc>
                  <a:txBody>
                    <a:bodyPr/>
                    <a:lstStyle/>
                    <a:p>
                      <a:pPr algn="ctr"/>
                      <a:r>
                        <a:rPr kumimoji="1" lang="en-US" altLang="ja-JP" dirty="0"/>
                        <a:t>27.6</a:t>
                      </a:r>
                      <a:endParaRPr kumimoji="1" lang="ja-JP" altLang="en-US" dirty="0"/>
                    </a:p>
                  </a:txBody>
                  <a:tcPr/>
                </a:tc>
                <a:tc>
                  <a:txBody>
                    <a:bodyPr/>
                    <a:lstStyle/>
                    <a:p>
                      <a:pPr algn="ctr"/>
                      <a:r>
                        <a:rPr kumimoji="1" lang="en-US" altLang="ja-JP" dirty="0"/>
                        <a:t>51.6</a:t>
                      </a:r>
                      <a:endParaRPr kumimoji="1" lang="ja-JP" altLang="en-US" dirty="0"/>
                    </a:p>
                  </a:txBody>
                  <a:tcPr/>
                </a:tc>
                <a:tc>
                  <a:txBody>
                    <a:bodyPr/>
                    <a:lstStyle/>
                    <a:p>
                      <a:pPr algn="ctr"/>
                      <a:r>
                        <a:rPr kumimoji="1" lang="en-US" altLang="ja-JP" dirty="0"/>
                        <a:t>24.1</a:t>
                      </a:r>
                      <a:endParaRPr kumimoji="1" lang="ja-JP" altLang="en-US" dirty="0"/>
                    </a:p>
                  </a:txBody>
                  <a:tcPr/>
                </a:tc>
                <a:tc>
                  <a:txBody>
                    <a:bodyPr/>
                    <a:lstStyle/>
                    <a:p>
                      <a:pPr algn="ctr"/>
                      <a:r>
                        <a:rPr kumimoji="1" lang="en-US" altLang="ja-JP" dirty="0"/>
                        <a:t>54.8</a:t>
                      </a:r>
                      <a:endParaRPr kumimoji="1" lang="ja-JP" altLang="en-US" dirty="0"/>
                    </a:p>
                  </a:txBody>
                  <a:tcPr/>
                </a:tc>
                <a:tc>
                  <a:txBody>
                    <a:bodyPr/>
                    <a:lstStyle/>
                    <a:p>
                      <a:pPr algn="ctr"/>
                      <a:r>
                        <a:rPr kumimoji="1" lang="en-US" altLang="ja-JP" dirty="0"/>
                        <a:t>24.1</a:t>
                      </a:r>
                      <a:endParaRPr kumimoji="1" lang="ja-JP" altLang="en-US" dirty="0"/>
                    </a:p>
                  </a:txBody>
                  <a:tcPr/>
                </a:tc>
                <a:tc>
                  <a:txBody>
                    <a:bodyPr/>
                    <a:lstStyle/>
                    <a:p>
                      <a:pPr algn="ctr"/>
                      <a:r>
                        <a:rPr kumimoji="1" lang="en-US" altLang="ja-JP" dirty="0"/>
                        <a:t>58.0</a:t>
                      </a:r>
                      <a:endParaRPr kumimoji="1" lang="ja-JP" altLang="en-US" dirty="0"/>
                    </a:p>
                  </a:txBody>
                  <a:tcPr/>
                </a:tc>
                <a:extLst>
                  <a:ext uri="{0D108BD9-81ED-4DB2-BD59-A6C34878D82A}">
                    <a16:rowId xmlns:a16="http://schemas.microsoft.com/office/drawing/2014/main" val="2404300819"/>
                  </a:ext>
                </a:extLst>
              </a:tr>
            </a:tbl>
          </a:graphicData>
        </a:graphic>
      </p:graphicFrame>
      <p:sp>
        <p:nvSpPr>
          <p:cNvPr id="6" name="コンテンツ プレースホルダー 3">
            <a:extLst>
              <a:ext uri="{FF2B5EF4-FFF2-40B4-BE49-F238E27FC236}">
                <a16:creationId xmlns:a16="http://schemas.microsoft.com/office/drawing/2014/main" id="{8895D8AC-0658-44EC-64CC-C80BCB4957B2}"/>
              </a:ext>
            </a:extLst>
          </p:cNvPr>
          <p:cNvSpPr txBox="1">
            <a:spLocks/>
          </p:cNvSpPr>
          <p:nvPr/>
        </p:nvSpPr>
        <p:spPr>
          <a:xfrm>
            <a:off x="1096962" y="3919822"/>
            <a:ext cx="10769455" cy="2408242"/>
          </a:xfrm>
          <a:prstGeom prst="rect">
            <a:avLst/>
          </a:prstGeom>
        </p:spPr>
        <p:txBody>
          <a:bodyPr vert="horz" wrap="square" lIns="0" tIns="0" rIns="0" bIns="0" rtlCol="0">
            <a:noAutofit/>
          </a:bodyPr>
          <a:lstStyle>
            <a:lvl1pPr marL="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1pPr>
            <a:lvl2pPr marL="177800"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2pPr>
            <a:lvl3pPr marL="5349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3pPr>
            <a:lvl4pPr marL="803275"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4pPr>
            <a:lvl5pPr marL="1081088" indent="0" algn="l" defTabSz="914400" rtl="0" eaLnBrk="1" latinLnBrk="0" hangingPunct="1">
              <a:lnSpc>
                <a:spcPct val="120000"/>
              </a:lnSpc>
              <a:spcBef>
                <a:spcPts val="0"/>
              </a:spcBef>
              <a:spcAft>
                <a:spcPts val="300"/>
              </a:spcAft>
              <a:buFontTx/>
              <a:buNone/>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63550" lvl="1" indent="-285750" fontAlgn="t">
              <a:buFont typeface="Arial" panose="020B0604020202020204" pitchFamily="34" charset="0"/>
              <a:buChar char="•"/>
            </a:pPr>
            <a:r>
              <a:rPr lang="ja-JP" altLang="en-US" sz="1800" dirty="0"/>
              <a:t>これまでの表情を使用した精度と比べて全体的に精度は下降傾向にある</a:t>
            </a:r>
            <a:endParaRPr lang="en-US" altLang="ja-JP" sz="1800" dirty="0"/>
          </a:p>
          <a:p>
            <a:pPr marL="463550" lvl="1" indent="-285750" fontAlgn="t">
              <a:buFont typeface="Arial" panose="020B0604020202020204" pitchFamily="34" charset="0"/>
              <a:buChar char="•"/>
            </a:pPr>
            <a:r>
              <a:rPr lang="ja-JP" altLang="en-US" sz="1800" dirty="0"/>
              <a:t>特に感度は高くても</a:t>
            </a:r>
            <a:r>
              <a:rPr lang="en-US" altLang="ja-JP" sz="1800" dirty="0"/>
              <a:t>40</a:t>
            </a:r>
            <a:r>
              <a:rPr lang="ja-JP" altLang="en-US" sz="1800" dirty="0"/>
              <a:t>％程度と、今まで</a:t>
            </a:r>
            <a:r>
              <a:rPr lang="en-US" altLang="ja-JP" sz="1800" dirty="0"/>
              <a:t>50</a:t>
            </a:r>
            <a:r>
              <a:rPr lang="ja-JP" altLang="en-US" sz="1800" dirty="0"/>
              <a:t>～</a:t>
            </a:r>
            <a:r>
              <a:rPr lang="en-US" altLang="ja-JP" sz="1800" dirty="0"/>
              <a:t>6</a:t>
            </a:r>
            <a:r>
              <a:rPr lang="ja-JP" altLang="en-US" sz="1800" dirty="0"/>
              <a:t>０％程度あったものと比べても低い</a:t>
            </a:r>
            <a:endParaRPr lang="en-US" altLang="ja-JP" sz="1800" dirty="0"/>
          </a:p>
          <a:p>
            <a:pPr marL="463550" lvl="1" indent="-285750" fontAlgn="t">
              <a:buFont typeface="Arial" panose="020B0604020202020204" pitchFamily="34" charset="0"/>
              <a:buChar char="•"/>
            </a:pPr>
            <a:r>
              <a:rPr lang="ja-JP" altLang="en-US" sz="1800" dirty="0"/>
              <a:t>先頭</a:t>
            </a:r>
            <a:r>
              <a:rPr lang="en-US" altLang="ja-JP" sz="1800" dirty="0"/>
              <a:t>30</a:t>
            </a:r>
            <a:r>
              <a:rPr lang="ja-JP" altLang="en-US" sz="1800" dirty="0"/>
              <a:t>フレームという条件を設けていたが、今回はそれを設けていない</a:t>
            </a:r>
            <a:br>
              <a:rPr lang="en-US" altLang="ja-JP" sz="1800" dirty="0"/>
            </a:br>
            <a:br>
              <a:rPr lang="en-US" altLang="ja-JP" sz="1800" dirty="0"/>
            </a:br>
            <a:br>
              <a:rPr lang="en-US" altLang="ja-JP" sz="2000" dirty="0"/>
            </a:br>
            <a:endParaRPr lang="ja-JP" altLang="en-US" sz="2000" dirty="0"/>
          </a:p>
        </p:txBody>
      </p:sp>
    </p:spTree>
    <p:extLst>
      <p:ext uri="{BB962C8B-B14F-4D97-AF65-F5344CB8AC3E}">
        <p14:creationId xmlns:p14="http://schemas.microsoft.com/office/powerpoint/2010/main" val="101252574"/>
      </p:ext>
    </p:extLst>
  </p:cSld>
  <p:clrMapOvr>
    <a:masterClrMapping/>
  </p:clrMapOvr>
</p:sld>
</file>

<file path=ppt/theme/theme1.xml><?xml version="1.0" encoding="utf-8"?>
<a:theme xmlns:a="http://schemas.openxmlformats.org/drawingml/2006/main" name="1_日本語">
  <a:themeElements>
    <a:clrScheme name="ユーザー定義 5">
      <a:dk1>
        <a:srgbClr val="3C3C3C"/>
      </a:dk1>
      <a:lt1>
        <a:sysClr val="window" lastClr="FFFFFF"/>
      </a:lt1>
      <a:dk2>
        <a:srgbClr val="2C4160"/>
      </a:dk2>
      <a:lt2>
        <a:srgbClr val="C8D2CC"/>
      </a:lt2>
      <a:accent1>
        <a:srgbClr val="2C4160"/>
      </a:accent1>
      <a:accent2>
        <a:srgbClr val="009944"/>
      </a:accent2>
      <a:accent3>
        <a:srgbClr val="2C4160"/>
      </a:accent3>
      <a:accent4>
        <a:srgbClr val="7A0C36"/>
      </a:accent4>
      <a:accent5>
        <a:srgbClr val="BECD75"/>
      </a:accent5>
      <a:accent6>
        <a:srgbClr val="DFBBBA"/>
      </a:accent6>
      <a:hlink>
        <a:srgbClr val="EA3178"/>
      </a:hlink>
      <a:folHlink>
        <a:srgbClr val="A5A5A5"/>
      </a:folHlink>
    </a:clrScheme>
    <a:fontScheme name="はばたく提案書">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US_template_16-9.pptx" id="{3C6433BE-7A86-4311-9590-C4DBED1049B9}" vid="{B642602C-80F6-4BFC-868B-684A301F7C1A}"/>
    </a:ext>
  </a:extLst>
</a:theme>
</file>

<file path=ppt/theme/theme2.xml><?xml version="1.0" encoding="utf-8"?>
<a:theme xmlns:a="http://schemas.openxmlformats.org/drawingml/2006/main" name="2_English">
  <a:themeElements>
    <a:clrScheme name="ユーザー定義 5">
      <a:dk1>
        <a:srgbClr val="3C3C3C"/>
      </a:dk1>
      <a:lt1>
        <a:sysClr val="window" lastClr="FFFFFF"/>
      </a:lt1>
      <a:dk2>
        <a:srgbClr val="2C4160"/>
      </a:dk2>
      <a:lt2>
        <a:srgbClr val="C8D2CC"/>
      </a:lt2>
      <a:accent1>
        <a:srgbClr val="2C4160"/>
      </a:accent1>
      <a:accent2>
        <a:srgbClr val="009944"/>
      </a:accent2>
      <a:accent3>
        <a:srgbClr val="2C4160"/>
      </a:accent3>
      <a:accent4>
        <a:srgbClr val="7A0C36"/>
      </a:accent4>
      <a:accent5>
        <a:srgbClr val="BECD75"/>
      </a:accent5>
      <a:accent6>
        <a:srgbClr val="DFBBBA"/>
      </a:accent6>
      <a:hlink>
        <a:srgbClr val="EA3178"/>
      </a:hlink>
      <a:folHlink>
        <a:srgbClr val="A5A5A5"/>
      </a:folHlink>
    </a:clrScheme>
    <a:fontScheme name="はばたく提案書">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US_template_16-9.pptx" id="{3C6433BE-7A86-4311-9590-C4DBED1049B9}" vid="{B642602C-80F6-4BFC-868B-684A301F7C1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6195</TotalTime>
  <Words>1728</Words>
  <Application>Microsoft Office PowerPoint</Application>
  <PresentationFormat>ワイド画面</PresentationFormat>
  <Paragraphs>250</Paragraphs>
  <Slides>14</Slides>
  <Notes>4</Notes>
  <HiddenSlides>0</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14</vt:i4>
      </vt:variant>
    </vt:vector>
  </HeadingPairs>
  <TitlesOfParts>
    <vt:vector size="24" baseType="lpstr">
      <vt:lpstr>BIZ UDPゴシック</vt:lpstr>
      <vt:lpstr>游ゴシック</vt:lpstr>
      <vt:lpstr>Arial</vt:lpstr>
      <vt:lpstr>Arial Black</vt:lpstr>
      <vt:lpstr>Bahnschrift</vt:lpstr>
      <vt:lpstr>Calibri</vt:lpstr>
      <vt:lpstr>Lato Light</vt:lpstr>
      <vt:lpstr>Wingdings</vt:lpstr>
      <vt:lpstr>1_日本語</vt:lpstr>
      <vt:lpstr>2_English</vt:lpstr>
      <vt:lpstr>せん妄研究進捗</vt:lpstr>
      <vt:lpstr>特徴抽出、特徴量設計（表情版）</vt:lpstr>
      <vt:lpstr>機械学習の学習方法（表情版）</vt:lpstr>
      <vt:lpstr>結果①（表情のみを特徴量）</vt:lpstr>
      <vt:lpstr>結果②（表情のみを特徴量、患者数増加）</vt:lpstr>
      <vt:lpstr>結果②（表情のみを特徴量）と課題</vt:lpstr>
      <vt:lpstr>特徴抽出(音声版)</vt:lpstr>
      <vt:lpstr>特徴抽出後の音声特徴、特徴量設計</vt:lpstr>
      <vt:lpstr>機械学習の学習手法</vt:lpstr>
      <vt:lpstr>結果③（音声のみを特徴量）</vt:lpstr>
      <vt:lpstr>結果④(音声と表情の両方を特徴量)</vt:lpstr>
      <vt:lpstr>新データセットの作成（表情版）</vt:lpstr>
      <vt:lpstr>新データセットを使用したモデルの学習方法</vt:lpstr>
      <vt:lpstr>結果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福井　崚太</dc:creator>
  <cp:lastModifiedBy>仁保　貴耀</cp:lastModifiedBy>
  <cp:revision>29</cp:revision>
  <dcterms:created xsi:type="dcterms:W3CDTF">2025-04-20T09:52:05Z</dcterms:created>
  <dcterms:modified xsi:type="dcterms:W3CDTF">2026-01-22T03:05:05Z</dcterms:modified>
</cp:coreProperties>
</file>